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1.jpeg" ContentType="image/jpeg"/>
  <Override PartName="/ppt/notesSlides/notesSlide2.xml" ContentType="application/vnd.openxmlformats-officedocument.presentationml.notesSlide+xml"/>
  <Override PartName="/ppt/media/image2.jpeg" ContentType="image/jpeg"/>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media/image8.jpeg" ContentType="image/jpeg"/>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media/image9.jpeg" ContentType="image/jpeg"/>
  <Override PartName="/ppt/media/image10.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181F"/>
        </a:solidFill>
        <a:effectLst/>
        <a:uFillTx/>
        <a:latin typeface="+mn-lt"/>
        <a:ea typeface="+mn-ea"/>
        <a:cs typeface="+mn-cs"/>
        <a:sym typeface="IBM Plex Sans"/>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181F"/>
        </a:solidFill>
        <a:effectLst/>
        <a:uFillTx/>
        <a:latin typeface="+mn-lt"/>
        <a:ea typeface="+mn-ea"/>
        <a:cs typeface="+mn-cs"/>
        <a:sym typeface="IBM Plex Sans"/>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181F"/>
        </a:solidFill>
        <a:effectLst/>
        <a:uFillTx/>
        <a:latin typeface="+mn-lt"/>
        <a:ea typeface="+mn-ea"/>
        <a:cs typeface="+mn-cs"/>
        <a:sym typeface="IBM Plex Sans"/>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181F"/>
        </a:solidFill>
        <a:effectLst/>
        <a:uFillTx/>
        <a:latin typeface="+mn-lt"/>
        <a:ea typeface="+mn-ea"/>
        <a:cs typeface="+mn-cs"/>
        <a:sym typeface="IBM Plex Sans"/>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181F"/>
        </a:solidFill>
        <a:effectLst/>
        <a:uFillTx/>
        <a:latin typeface="+mn-lt"/>
        <a:ea typeface="+mn-ea"/>
        <a:cs typeface="+mn-cs"/>
        <a:sym typeface="IBM Plex Sans"/>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181F"/>
        </a:solidFill>
        <a:effectLst/>
        <a:uFillTx/>
        <a:latin typeface="+mn-lt"/>
        <a:ea typeface="+mn-ea"/>
        <a:cs typeface="+mn-cs"/>
        <a:sym typeface="IBM Plex Sans"/>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181F"/>
        </a:solidFill>
        <a:effectLst/>
        <a:uFillTx/>
        <a:latin typeface="+mn-lt"/>
        <a:ea typeface="+mn-ea"/>
        <a:cs typeface="+mn-cs"/>
        <a:sym typeface="IBM Plex Sans"/>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181F"/>
        </a:solidFill>
        <a:effectLst/>
        <a:uFillTx/>
        <a:latin typeface="+mn-lt"/>
        <a:ea typeface="+mn-ea"/>
        <a:cs typeface="+mn-cs"/>
        <a:sym typeface="IBM Plex Sans"/>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181F"/>
        </a:solidFill>
        <a:effectLst/>
        <a:uFillTx/>
        <a:latin typeface="+mn-lt"/>
        <a:ea typeface="+mn-ea"/>
        <a:cs typeface="+mn-cs"/>
        <a:sym typeface="IBM Plex San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14181F"/>
        </a:fontRef>
        <a:srgbClr val="14181F"/>
      </a:tcTxStyle>
      <a:tcStyle>
        <a:tcBdr>
          <a:left>
            <a:ln w="12700" cap="flat">
              <a:solidFill>
                <a:srgbClr val="ECE8DD"/>
              </a:solidFill>
              <a:prstDash val="solid"/>
              <a:round/>
            </a:ln>
          </a:left>
          <a:right>
            <a:ln w="12700" cap="flat">
              <a:solidFill>
                <a:srgbClr val="ECE8DD"/>
              </a:solidFill>
              <a:prstDash val="solid"/>
              <a:round/>
            </a:ln>
          </a:right>
          <a:top>
            <a:ln w="12700" cap="flat">
              <a:solidFill>
                <a:srgbClr val="ECE8DD"/>
              </a:solidFill>
              <a:prstDash val="solid"/>
              <a:round/>
            </a:ln>
          </a:top>
          <a:bottom>
            <a:ln w="12700" cap="flat">
              <a:solidFill>
                <a:srgbClr val="ECE8DD"/>
              </a:solidFill>
              <a:prstDash val="solid"/>
              <a:round/>
            </a:ln>
          </a:bottom>
          <a:insideH>
            <a:ln w="12700" cap="flat">
              <a:solidFill>
                <a:srgbClr val="ECE8DD"/>
              </a:solidFill>
              <a:prstDash val="solid"/>
              <a:round/>
            </a:ln>
          </a:insideH>
          <a:insideV>
            <a:ln w="12700" cap="flat">
              <a:solidFill>
                <a:srgbClr val="ECE8DD"/>
              </a:solidFill>
              <a:prstDash val="solid"/>
              <a:round/>
            </a:ln>
          </a:insideV>
        </a:tcBdr>
        <a:fill>
          <a:solidFill>
            <a:srgbClr val="F6E3CE"/>
          </a:solidFill>
        </a:fill>
      </a:tcStyle>
    </a:wholeTbl>
    <a:band2H>
      <a:tcTxStyle b="def" i="def"/>
      <a:tcStyle>
        <a:tcBdr/>
        <a:fill>
          <a:solidFill>
            <a:srgbClr val="FBF2E8"/>
          </a:solidFill>
        </a:fill>
      </a:tcStyle>
    </a:band2H>
    <a:firstCol>
      <a:tcTxStyle b="on" i="off">
        <a:fontRef idx="minor">
          <a:srgbClr val="ECE8DD"/>
        </a:fontRef>
        <a:srgbClr val="ECE8DD"/>
      </a:tcTxStyle>
      <a:tcStyle>
        <a:tcBdr>
          <a:left>
            <a:ln w="12700" cap="flat">
              <a:solidFill>
                <a:srgbClr val="ECE8DD"/>
              </a:solidFill>
              <a:prstDash val="solid"/>
              <a:round/>
            </a:ln>
          </a:left>
          <a:right>
            <a:ln w="12700" cap="flat">
              <a:solidFill>
                <a:srgbClr val="ECE8DD"/>
              </a:solidFill>
              <a:prstDash val="solid"/>
              <a:round/>
            </a:ln>
          </a:right>
          <a:top>
            <a:ln w="12700" cap="flat">
              <a:solidFill>
                <a:srgbClr val="ECE8DD"/>
              </a:solidFill>
              <a:prstDash val="solid"/>
              <a:round/>
            </a:ln>
          </a:top>
          <a:bottom>
            <a:ln w="12700" cap="flat">
              <a:solidFill>
                <a:srgbClr val="ECE8DD"/>
              </a:solidFill>
              <a:prstDash val="solid"/>
              <a:round/>
            </a:ln>
          </a:bottom>
          <a:insideH>
            <a:ln w="12700" cap="flat">
              <a:solidFill>
                <a:srgbClr val="ECE8DD"/>
              </a:solidFill>
              <a:prstDash val="solid"/>
              <a:round/>
            </a:ln>
          </a:insideH>
          <a:insideV>
            <a:ln w="12700" cap="flat">
              <a:solidFill>
                <a:srgbClr val="ECE8DD"/>
              </a:solidFill>
              <a:prstDash val="solid"/>
              <a:round/>
            </a:ln>
          </a:insideV>
        </a:tcBdr>
        <a:fill>
          <a:solidFill>
            <a:schemeClr val="accent1"/>
          </a:solidFill>
        </a:fill>
      </a:tcStyle>
    </a:firstCol>
    <a:lastRow>
      <a:tcTxStyle b="on" i="off">
        <a:fontRef idx="minor">
          <a:srgbClr val="ECE8DD"/>
        </a:fontRef>
        <a:srgbClr val="ECE8DD"/>
      </a:tcTxStyle>
      <a:tcStyle>
        <a:tcBdr>
          <a:left>
            <a:ln w="12700" cap="flat">
              <a:solidFill>
                <a:srgbClr val="ECE8DD"/>
              </a:solidFill>
              <a:prstDash val="solid"/>
              <a:round/>
            </a:ln>
          </a:left>
          <a:right>
            <a:ln w="12700" cap="flat">
              <a:solidFill>
                <a:srgbClr val="ECE8DD"/>
              </a:solidFill>
              <a:prstDash val="solid"/>
              <a:round/>
            </a:ln>
          </a:right>
          <a:top>
            <a:ln w="38100" cap="flat">
              <a:solidFill>
                <a:srgbClr val="ECE8DD"/>
              </a:solidFill>
              <a:prstDash val="solid"/>
              <a:round/>
            </a:ln>
          </a:top>
          <a:bottom>
            <a:ln w="12700" cap="flat">
              <a:solidFill>
                <a:srgbClr val="ECE8DD"/>
              </a:solidFill>
              <a:prstDash val="solid"/>
              <a:round/>
            </a:ln>
          </a:bottom>
          <a:insideH>
            <a:ln w="12700" cap="flat">
              <a:solidFill>
                <a:srgbClr val="ECE8DD"/>
              </a:solidFill>
              <a:prstDash val="solid"/>
              <a:round/>
            </a:ln>
          </a:insideH>
          <a:insideV>
            <a:ln w="12700" cap="flat">
              <a:solidFill>
                <a:srgbClr val="ECE8DD"/>
              </a:solidFill>
              <a:prstDash val="solid"/>
              <a:round/>
            </a:ln>
          </a:insideV>
        </a:tcBdr>
        <a:fill>
          <a:solidFill>
            <a:schemeClr val="accent1"/>
          </a:solidFill>
        </a:fill>
      </a:tcStyle>
    </a:lastRow>
    <a:firstRow>
      <a:tcTxStyle b="on" i="off">
        <a:fontRef idx="minor">
          <a:srgbClr val="ECE8DD"/>
        </a:fontRef>
        <a:srgbClr val="ECE8DD"/>
      </a:tcTxStyle>
      <a:tcStyle>
        <a:tcBdr>
          <a:left>
            <a:ln w="12700" cap="flat">
              <a:solidFill>
                <a:srgbClr val="ECE8DD"/>
              </a:solidFill>
              <a:prstDash val="solid"/>
              <a:round/>
            </a:ln>
          </a:left>
          <a:right>
            <a:ln w="12700" cap="flat">
              <a:solidFill>
                <a:srgbClr val="ECE8DD"/>
              </a:solidFill>
              <a:prstDash val="solid"/>
              <a:round/>
            </a:ln>
          </a:right>
          <a:top>
            <a:ln w="12700" cap="flat">
              <a:solidFill>
                <a:srgbClr val="ECE8DD"/>
              </a:solidFill>
              <a:prstDash val="solid"/>
              <a:round/>
            </a:ln>
          </a:top>
          <a:bottom>
            <a:ln w="38100" cap="flat">
              <a:solidFill>
                <a:srgbClr val="ECE8DD"/>
              </a:solidFill>
              <a:prstDash val="solid"/>
              <a:round/>
            </a:ln>
          </a:bottom>
          <a:insideH>
            <a:ln w="12700" cap="flat">
              <a:solidFill>
                <a:srgbClr val="ECE8DD"/>
              </a:solidFill>
              <a:prstDash val="solid"/>
              <a:round/>
            </a:ln>
          </a:insideH>
          <a:insideV>
            <a:ln w="12700" cap="flat">
              <a:solidFill>
                <a:srgbClr val="ECE8DD"/>
              </a:solidFill>
              <a:prstDash val="solid"/>
              <a:round/>
            </a:ln>
          </a:insideV>
        </a:tcBdr>
        <a:fill>
          <a:solidFill>
            <a:schemeClr val="accent1"/>
          </a:solidFill>
        </a:fill>
      </a:tcStyle>
    </a:firstRow>
  </a:tblStyle>
  <a:tblStyle styleId="{C7B018BB-80A7-4F77-B60F-C8B233D01FF8}" styleName="">
    <a:tblBg/>
    <a:wholeTbl>
      <a:tcTxStyle b="off" i="off">
        <a:fontRef idx="minor">
          <a:srgbClr val="14181F"/>
        </a:fontRef>
        <a:srgbClr val="14181F"/>
      </a:tcTxStyle>
      <a:tcStyle>
        <a:tcBdr>
          <a:left>
            <a:ln w="12700" cap="flat">
              <a:solidFill>
                <a:srgbClr val="ECE8DD"/>
              </a:solidFill>
              <a:prstDash val="solid"/>
              <a:round/>
            </a:ln>
          </a:left>
          <a:right>
            <a:ln w="12700" cap="flat">
              <a:solidFill>
                <a:srgbClr val="ECE8DD"/>
              </a:solidFill>
              <a:prstDash val="solid"/>
              <a:round/>
            </a:ln>
          </a:right>
          <a:top>
            <a:ln w="12700" cap="flat">
              <a:solidFill>
                <a:srgbClr val="ECE8DD"/>
              </a:solidFill>
              <a:prstDash val="solid"/>
              <a:round/>
            </a:ln>
          </a:top>
          <a:bottom>
            <a:ln w="12700" cap="flat">
              <a:solidFill>
                <a:srgbClr val="ECE8DD"/>
              </a:solidFill>
              <a:prstDash val="solid"/>
              <a:round/>
            </a:ln>
          </a:bottom>
          <a:insideH>
            <a:ln w="12700" cap="flat">
              <a:solidFill>
                <a:srgbClr val="ECE8DD"/>
              </a:solidFill>
              <a:prstDash val="solid"/>
              <a:round/>
            </a:ln>
          </a:insideH>
          <a:insideV>
            <a:ln w="12700" cap="flat">
              <a:solidFill>
                <a:srgbClr val="ECE8DD"/>
              </a:solidFill>
              <a:prstDash val="solid"/>
              <a:round/>
            </a:ln>
          </a:insideV>
        </a:tcBdr>
        <a:fill>
          <a:solidFill>
            <a:srgbClr val="DBDDE2"/>
          </a:solidFill>
        </a:fill>
      </a:tcStyle>
    </a:wholeTbl>
    <a:band2H>
      <a:tcTxStyle b="def" i="def"/>
      <a:tcStyle>
        <a:tcBdr/>
        <a:fill>
          <a:solidFill>
            <a:srgbClr val="EEEFF1"/>
          </a:solidFill>
        </a:fill>
      </a:tcStyle>
    </a:band2H>
    <a:firstCol>
      <a:tcTxStyle b="on" i="off">
        <a:fontRef idx="minor">
          <a:srgbClr val="ECE8DD"/>
        </a:fontRef>
        <a:srgbClr val="ECE8DD"/>
      </a:tcTxStyle>
      <a:tcStyle>
        <a:tcBdr>
          <a:left>
            <a:ln w="12700" cap="flat">
              <a:solidFill>
                <a:srgbClr val="ECE8DD"/>
              </a:solidFill>
              <a:prstDash val="solid"/>
              <a:round/>
            </a:ln>
          </a:left>
          <a:right>
            <a:ln w="12700" cap="flat">
              <a:solidFill>
                <a:srgbClr val="ECE8DD"/>
              </a:solidFill>
              <a:prstDash val="solid"/>
              <a:round/>
            </a:ln>
          </a:right>
          <a:top>
            <a:ln w="12700" cap="flat">
              <a:solidFill>
                <a:srgbClr val="ECE8DD"/>
              </a:solidFill>
              <a:prstDash val="solid"/>
              <a:round/>
            </a:ln>
          </a:top>
          <a:bottom>
            <a:ln w="12700" cap="flat">
              <a:solidFill>
                <a:srgbClr val="ECE8DD"/>
              </a:solidFill>
              <a:prstDash val="solid"/>
              <a:round/>
            </a:ln>
          </a:bottom>
          <a:insideH>
            <a:ln w="12700" cap="flat">
              <a:solidFill>
                <a:srgbClr val="ECE8DD"/>
              </a:solidFill>
              <a:prstDash val="solid"/>
              <a:round/>
            </a:ln>
          </a:insideH>
          <a:insideV>
            <a:ln w="12700" cap="flat">
              <a:solidFill>
                <a:srgbClr val="ECE8DD"/>
              </a:solidFill>
              <a:prstDash val="solid"/>
              <a:round/>
            </a:ln>
          </a:insideV>
        </a:tcBdr>
        <a:fill>
          <a:solidFill>
            <a:schemeClr val="accent3"/>
          </a:solidFill>
        </a:fill>
      </a:tcStyle>
    </a:firstCol>
    <a:lastRow>
      <a:tcTxStyle b="on" i="off">
        <a:fontRef idx="minor">
          <a:srgbClr val="ECE8DD"/>
        </a:fontRef>
        <a:srgbClr val="ECE8DD"/>
      </a:tcTxStyle>
      <a:tcStyle>
        <a:tcBdr>
          <a:left>
            <a:ln w="12700" cap="flat">
              <a:solidFill>
                <a:srgbClr val="ECE8DD"/>
              </a:solidFill>
              <a:prstDash val="solid"/>
              <a:round/>
            </a:ln>
          </a:left>
          <a:right>
            <a:ln w="12700" cap="flat">
              <a:solidFill>
                <a:srgbClr val="ECE8DD"/>
              </a:solidFill>
              <a:prstDash val="solid"/>
              <a:round/>
            </a:ln>
          </a:right>
          <a:top>
            <a:ln w="38100" cap="flat">
              <a:solidFill>
                <a:srgbClr val="ECE8DD"/>
              </a:solidFill>
              <a:prstDash val="solid"/>
              <a:round/>
            </a:ln>
          </a:top>
          <a:bottom>
            <a:ln w="12700" cap="flat">
              <a:solidFill>
                <a:srgbClr val="ECE8DD"/>
              </a:solidFill>
              <a:prstDash val="solid"/>
              <a:round/>
            </a:ln>
          </a:bottom>
          <a:insideH>
            <a:ln w="12700" cap="flat">
              <a:solidFill>
                <a:srgbClr val="ECE8DD"/>
              </a:solidFill>
              <a:prstDash val="solid"/>
              <a:round/>
            </a:ln>
          </a:insideH>
          <a:insideV>
            <a:ln w="12700" cap="flat">
              <a:solidFill>
                <a:srgbClr val="ECE8DD"/>
              </a:solidFill>
              <a:prstDash val="solid"/>
              <a:round/>
            </a:ln>
          </a:insideV>
        </a:tcBdr>
        <a:fill>
          <a:solidFill>
            <a:schemeClr val="accent3"/>
          </a:solidFill>
        </a:fill>
      </a:tcStyle>
    </a:lastRow>
    <a:firstRow>
      <a:tcTxStyle b="on" i="off">
        <a:fontRef idx="minor">
          <a:srgbClr val="ECE8DD"/>
        </a:fontRef>
        <a:srgbClr val="ECE8DD"/>
      </a:tcTxStyle>
      <a:tcStyle>
        <a:tcBdr>
          <a:left>
            <a:ln w="12700" cap="flat">
              <a:solidFill>
                <a:srgbClr val="ECE8DD"/>
              </a:solidFill>
              <a:prstDash val="solid"/>
              <a:round/>
            </a:ln>
          </a:left>
          <a:right>
            <a:ln w="12700" cap="flat">
              <a:solidFill>
                <a:srgbClr val="ECE8DD"/>
              </a:solidFill>
              <a:prstDash val="solid"/>
              <a:round/>
            </a:ln>
          </a:right>
          <a:top>
            <a:ln w="12700" cap="flat">
              <a:solidFill>
                <a:srgbClr val="ECE8DD"/>
              </a:solidFill>
              <a:prstDash val="solid"/>
              <a:round/>
            </a:ln>
          </a:top>
          <a:bottom>
            <a:ln w="38100" cap="flat">
              <a:solidFill>
                <a:srgbClr val="ECE8DD"/>
              </a:solidFill>
              <a:prstDash val="solid"/>
              <a:round/>
            </a:ln>
          </a:bottom>
          <a:insideH>
            <a:ln w="12700" cap="flat">
              <a:solidFill>
                <a:srgbClr val="ECE8DD"/>
              </a:solidFill>
              <a:prstDash val="solid"/>
              <a:round/>
            </a:ln>
          </a:insideH>
          <a:insideV>
            <a:ln w="12700" cap="flat">
              <a:solidFill>
                <a:srgbClr val="ECE8DD"/>
              </a:solidFill>
              <a:prstDash val="solid"/>
              <a:round/>
            </a:ln>
          </a:insideV>
        </a:tcBdr>
        <a:fill>
          <a:solidFill>
            <a:schemeClr val="accent3"/>
          </a:solidFill>
        </a:fill>
      </a:tcStyle>
    </a:firstRow>
  </a:tblStyle>
  <a:tblStyle styleId="{EEE7283C-3CF3-47DC-8721-378D4A62B228}" styleName="">
    <a:tblBg/>
    <a:wholeTbl>
      <a:tcTxStyle b="off" i="off">
        <a:fontRef idx="minor">
          <a:srgbClr val="14181F"/>
        </a:fontRef>
        <a:srgbClr val="14181F"/>
      </a:tcTxStyle>
      <a:tcStyle>
        <a:tcBdr>
          <a:left>
            <a:ln w="12700" cap="flat">
              <a:solidFill>
                <a:srgbClr val="ECE8DD"/>
              </a:solidFill>
              <a:prstDash val="solid"/>
              <a:round/>
            </a:ln>
          </a:left>
          <a:right>
            <a:ln w="12700" cap="flat">
              <a:solidFill>
                <a:srgbClr val="ECE8DD"/>
              </a:solidFill>
              <a:prstDash val="solid"/>
              <a:round/>
            </a:ln>
          </a:right>
          <a:top>
            <a:ln w="12700" cap="flat">
              <a:solidFill>
                <a:srgbClr val="ECE8DD"/>
              </a:solidFill>
              <a:prstDash val="solid"/>
              <a:round/>
            </a:ln>
          </a:top>
          <a:bottom>
            <a:ln w="12700" cap="flat">
              <a:solidFill>
                <a:srgbClr val="ECE8DD"/>
              </a:solidFill>
              <a:prstDash val="solid"/>
              <a:round/>
            </a:ln>
          </a:bottom>
          <a:insideH>
            <a:ln w="12700" cap="flat">
              <a:solidFill>
                <a:srgbClr val="ECE8DD"/>
              </a:solidFill>
              <a:prstDash val="solid"/>
              <a:round/>
            </a:ln>
          </a:insideH>
          <a:insideV>
            <a:ln w="12700" cap="flat">
              <a:solidFill>
                <a:srgbClr val="ECE8DD"/>
              </a:solidFill>
              <a:prstDash val="solid"/>
              <a:round/>
            </a:ln>
          </a:insideV>
        </a:tcBdr>
        <a:fill>
          <a:solidFill>
            <a:srgbClr val="DDDFE0"/>
          </a:solidFill>
        </a:fill>
      </a:tcStyle>
    </a:wholeTbl>
    <a:band2H>
      <a:tcTxStyle b="def" i="def"/>
      <a:tcStyle>
        <a:tcBdr/>
        <a:fill>
          <a:solidFill>
            <a:srgbClr val="EFF0F0"/>
          </a:solidFill>
        </a:fill>
      </a:tcStyle>
    </a:band2H>
    <a:firstCol>
      <a:tcTxStyle b="on" i="off">
        <a:fontRef idx="minor">
          <a:srgbClr val="ECE8DD"/>
        </a:fontRef>
        <a:srgbClr val="ECE8DD"/>
      </a:tcTxStyle>
      <a:tcStyle>
        <a:tcBdr>
          <a:left>
            <a:ln w="12700" cap="flat">
              <a:solidFill>
                <a:srgbClr val="ECE8DD"/>
              </a:solidFill>
              <a:prstDash val="solid"/>
              <a:round/>
            </a:ln>
          </a:left>
          <a:right>
            <a:ln w="12700" cap="flat">
              <a:solidFill>
                <a:srgbClr val="ECE8DD"/>
              </a:solidFill>
              <a:prstDash val="solid"/>
              <a:round/>
            </a:ln>
          </a:right>
          <a:top>
            <a:ln w="12700" cap="flat">
              <a:solidFill>
                <a:srgbClr val="ECE8DD"/>
              </a:solidFill>
              <a:prstDash val="solid"/>
              <a:round/>
            </a:ln>
          </a:top>
          <a:bottom>
            <a:ln w="12700" cap="flat">
              <a:solidFill>
                <a:srgbClr val="ECE8DD"/>
              </a:solidFill>
              <a:prstDash val="solid"/>
              <a:round/>
            </a:ln>
          </a:bottom>
          <a:insideH>
            <a:ln w="12700" cap="flat">
              <a:solidFill>
                <a:srgbClr val="ECE8DD"/>
              </a:solidFill>
              <a:prstDash val="solid"/>
              <a:round/>
            </a:ln>
          </a:insideH>
          <a:insideV>
            <a:ln w="12700" cap="flat">
              <a:solidFill>
                <a:srgbClr val="ECE8DD"/>
              </a:solidFill>
              <a:prstDash val="solid"/>
              <a:round/>
            </a:ln>
          </a:insideV>
        </a:tcBdr>
        <a:fill>
          <a:solidFill>
            <a:schemeClr val="accent6"/>
          </a:solidFill>
        </a:fill>
      </a:tcStyle>
    </a:firstCol>
    <a:lastRow>
      <a:tcTxStyle b="on" i="off">
        <a:fontRef idx="minor">
          <a:srgbClr val="ECE8DD"/>
        </a:fontRef>
        <a:srgbClr val="ECE8DD"/>
      </a:tcTxStyle>
      <a:tcStyle>
        <a:tcBdr>
          <a:left>
            <a:ln w="12700" cap="flat">
              <a:solidFill>
                <a:srgbClr val="ECE8DD"/>
              </a:solidFill>
              <a:prstDash val="solid"/>
              <a:round/>
            </a:ln>
          </a:left>
          <a:right>
            <a:ln w="12700" cap="flat">
              <a:solidFill>
                <a:srgbClr val="ECE8DD"/>
              </a:solidFill>
              <a:prstDash val="solid"/>
              <a:round/>
            </a:ln>
          </a:right>
          <a:top>
            <a:ln w="38100" cap="flat">
              <a:solidFill>
                <a:srgbClr val="ECE8DD"/>
              </a:solidFill>
              <a:prstDash val="solid"/>
              <a:round/>
            </a:ln>
          </a:top>
          <a:bottom>
            <a:ln w="12700" cap="flat">
              <a:solidFill>
                <a:srgbClr val="ECE8DD"/>
              </a:solidFill>
              <a:prstDash val="solid"/>
              <a:round/>
            </a:ln>
          </a:bottom>
          <a:insideH>
            <a:ln w="12700" cap="flat">
              <a:solidFill>
                <a:srgbClr val="ECE8DD"/>
              </a:solidFill>
              <a:prstDash val="solid"/>
              <a:round/>
            </a:ln>
          </a:insideH>
          <a:insideV>
            <a:ln w="12700" cap="flat">
              <a:solidFill>
                <a:srgbClr val="ECE8DD"/>
              </a:solidFill>
              <a:prstDash val="solid"/>
              <a:round/>
            </a:ln>
          </a:insideV>
        </a:tcBdr>
        <a:fill>
          <a:solidFill>
            <a:schemeClr val="accent6"/>
          </a:solidFill>
        </a:fill>
      </a:tcStyle>
    </a:lastRow>
    <a:firstRow>
      <a:tcTxStyle b="on" i="off">
        <a:fontRef idx="minor">
          <a:srgbClr val="ECE8DD"/>
        </a:fontRef>
        <a:srgbClr val="ECE8DD"/>
      </a:tcTxStyle>
      <a:tcStyle>
        <a:tcBdr>
          <a:left>
            <a:ln w="12700" cap="flat">
              <a:solidFill>
                <a:srgbClr val="ECE8DD"/>
              </a:solidFill>
              <a:prstDash val="solid"/>
              <a:round/>
            </a:ln>
          </a:left>
          <a:right>
            <a:ln w="12700" cap="flat">
              <a:solidFill>
                <a:srgbClr val="ECE8DD"/>
              </a:solidFill>
              <a:prstDash val="solid"/>
              <a:round/>
            </a:ln>
          </a:right>
          <a:top>
            <a:ln w="12700" cap="flat">
              <a:solidFill>
                <a:srgbClr val="ECE8DD"/>
              </a:solidFill>
              <a:prstDash val="solid"/>
              <a:round/>
            </a:ln>
          </a:top>
          <a:bottom>
            <a:ln w="38100" cap="flat">
              <a:solidFill>
                <a:srgbClr val="ECE8DD"/>
              </a:solidFill>
              <a:prstDash val="solid"/>
              <a:round/>
            </a:ln>
          </a:bottom>
          <a:insideH>
            <a:ln w="12700" cap="flat">
              <a:solidFill>
                <a:srgbClr val="ECE8DD"/>
              </a:solidFill>
              <a:prstDash val="solid"/>
              <a:round/>
            </a:ln>
          </a:insideH>
          <a:insideV>
            <a:ln w="12700" cap="flat">
              <a:solidFill>
                <a:srgbClr val="ECE8DD"/>
              </a:solidFill>
              <a:prstDash val="solid"/>
              <a:round/>
            </a:ln>
          </a:insideV>
        </a:tcBdr>
        <a:fill>
          <a:solidFill>
            <a:schemeClr val="accent6"/>
          </a:solidFill>
        </a:fill>
      </a:tcStyle>
    </a:firstRow>
  </a:tblStyle>
  <a:tblStyle styleId="{CF821DB8-F4EB-4A41-A1BA-3FCAFE7338EE}" styleName="">
    <a:tblBg/>
    <a:wholeTbl>
      <a:tcTxStyle b="off" i="off">
        <a:fontRef idx="minor">
          <a:srgbClr val="14181F"/>
        </a:fontRef>
        <a:srgbClr val="14181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b="def" i="def"/>
      <a:tcStyle>
        <a:tcBdr/>
        <a:fill>
          <a:solidFill>
            <a:srgbClr val="ECE8DD"/>
          </a:solidFill>
        </a:fill>
      </a:tcStyle>
    </a:band2H>
    <a:firstCol>
      <a:tcTxStyle b="on" i="off">
        <a:fontRef idx="minor">
          <a:srgbClr val="ECE8DD"/>
        </a:fontRef>
        <a:srgbClr val="ECE8DD"/>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14181F"/>
        </a:fontRef>
        <a:srgbClr val="14181F"/>
      </a:tcTxStyle>
      <a:tcStyle>
        <a:tcBdr>
          <a:left>
            <a:ln w="12700" cap="flat">
              <a:noFill/>
              <a:miter lim="400000"/>
            </a:ln>
          </a:left>
          <a:right>
            <a:ln w="12700" cap="flat">
              <a:noFill/>
              <a:miter lim="400000"/>
            </a:ln>
          </a:right>
          <a:top>
            <a:ln w="50800" cap="flat">
              <a:solidFill>
                <a:srgbClr val="14181F"/>
              </a:solidFill>
              <a:prstDash val="solid"/>
              <a:round/>
            </a:ln>
          </a:top>
          <a:bottom>
            <a:ln w="25400" cap="flat">
              <a:solidFill>
                <a:srgbClr val="14181F"/>
              </a:solidFill>
              <a:prstDash val="solid"/>
              <a:round/>
            </a:ln>
          </a:bottom>
          <a:insideH>
            <a:ln w="12700" cap="flat">
              <a:noFill/>
              <a:miter lim="400000"/>
            </a:ln>
          </a:insideH>
          <a:insideV>
            <a:ln w="12700" cap="flat">
              <a:noFill/>
              <a:miter lim="400000"/>
            </a:ln>
          </a:insideV>
        </a:tcBdr>
        <a:fill>
          <a:solidFill>
            <a:srgbClr val="ECE8DD"/>
          </a:solidFill>
        </a:fill>
      </a:tcStyle>
    </a:lastRow>
    <a:firstRow>
      <a:tcTxStyle b="on" i="off">
        <a:fontRef idx="minor">
          <a:srgbClr val="ECE8DD"/>
        </a:fontRef>
        <a:srgbClr val="ECE8DD"/>
      </a:tcTxStyle>
      <a:tcStyle>
        <a:tcBdr>
          <a:left>
            <a:ln w="12700" cap="flat">
              <a:noFill/>
              <a:miter lim="400000"/>
            </a:ln>
          </a:left>
          <a:right>
            <a:ln w="12700" cap="flat">
              <a:noFill/>
              <a:miter lim="400000"/>
            </a:ln>
          </a:right>
          <a:top>
            <a:ln w="25400" cap="flat">
              <a:solidFill>
                <a:srgbClr val="14181F"/>
              </a:solidFill>
              <a:prstDash val="solid"/>
              <a:round/>
            </a:ln>
          </a:top>
          <a:bottom>
            <a:ln w="25400" cap="flat">
              <a:solidFill>
                <a:srgbClr val="14181F"/>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14181F"/>
        </a:fontRef>
        <a:srgbClr val="14181F"/>
      </a:tcTxStyle>
      <a:tcStyle>
        <a:tcBdr>
          <a:left>
            <a:ln w="12700" cap="flat">
              <a:solidFill>
                <a:srgbClr val="ECE8DD"/>
              </a:solidFill>
              <a:prstDash val="solid"/>
              <a:round/>
            </a:ln>
          </a:left>
          <a:right>
            <a:ln w="12700" cap="flat">
              <a:solidFill>
                <a:srgbClr val="ECE8DD"/>
              </a:solidFill>
              <a:prstDash val="solid"/>
              <a:round/>
            </a:ln>
          </a:right>
          <a:top>
            <a:ln w="12700" cap="flat">
              <a:solidFill>
                <a:srgbClr val="ECE8DD"/>
              </a:solidFill>
              <a:prstDash val="solid"/>
              <a:round/>
            </a:ln>
          </a:top>
          <a:bottom>
            <a:ln w="12700" cap="flat">
              <a:solidFill>
                <a:srgbClr val="ECE8DD"/>
              </a:solidFill>
              <a:prstDash val="solid"/>
              <a:round/>
            </a:ln>
          </a:bottom>
          <a:insideH>
            <a:ln w="12700" cap="flat">
              <a:solidFill>
                <a:srgbClr val="ECE8DD"/>
              </a:solidFill>
              <a:prstDash val="solid"/>
              <a:round/>
            </a:ln>
          </a:insideH>
          <a:insideV>
            <a:ln w="12700" cap="flat">
              <a:solidFill>
                <a:srgbClr val="ECE8DD"/>
              </a:solidFill>
              <a:prstDash val="solid"/>
              <a:round/>
            </a:ln>
          </a:insideV>
        </a:tcBdr>
        <a:fill>
          <a:solidFill>
            <a:srgbClr val="CACBCB"/>
          </a:solidFill>
        </a:fill>
      </a:tcStyle>
    </a:wholeTbl>
    <a:band2H>
      <a:tcTxStyle b="def" i="def"/>
      <a:tcStyle>
        <a:tcBdr/>
        <a:fill>
          <a:solidFill>
            <a:srgbClr val="E7E7E7"/>
          </a:solidFill>
        </a:fill>
      </a:tcStyle>
    </a:band2H>
    <a:firstCol>
      <a:tcTxStyle b="on" i="off">
        <a:fontRef idx="minor">
          <a:srgbClr val="ECE8DD"/>
        </a:fontRef>
        <a:srgbClr val="ECE8DD"/>
      </a:tcTxStyle>
      <a:tcStyle>
        <a:tcBdr>
          <a:left>
            <a:ln w="12700" cap="flat">
              <a:solidFill>
                <a:srgbClr val="ECE8DD"/>
              </a:solidFill>
              <a:prstDash val="solid"/>
              <a:round/>
            </a:ln>
          </a:left>
          <a:right>
            <a:ln w="12700" cap="flat">
              <a:solidFill>
                <a:srgbClr val="ECE8DD"/>
              </a:solidFill>
              <a:prstDash val="solid"/>
              <a:round/>
            </a:ln>
          </a:right>
          <a:top>
            <a:ln w="12700" cap="flat">
              <a:solidFill>
                <a:srgbClr val="ECE8DD"/>
              </a:solidFill>
              <a:prstDash val="solid"/>
              <a:round/>
            </a:ln>
          </a:top>
          <a:bottom>
            <a:ln w="12700" cap="flat">
              <a:solidFill>
                <a:srgbClr val="ECE8DD"/>
              </a:solidFill>
              <a:prstDash val="solid"/>
              <a:round/>
            </a:ln>
          </a:bottom>
          <a:insideH>
            <a:ln w="12700" cap="flat">
              <a:solidFill>
                <a:srgbClr val="ECE8DD"/>
              </a:solidFill>
              <a:prstDash val="solid"/>
              <a:round/>
            </a:ln>
          </a:insideH>
          <a:insideV>
            <a:ln w="12700" cap="flat">
              <a:solidFill>
                <a:srgbClr val="ECE8DD"/>
              </a:solidFill>
              <a:prstDash val="solid"/>
              <a:round/>
            </a:ln>
          </a:insideV>
        </a:tcBdr>
        <a:fill>
          <a:solidFill>
            <a:srgbClr val="14181F"/>
          </a:solidFill>
        </a:fill>
      </a:tcStyle>
    </a:firstCol>
    <a:lastRow>
      <a:tcTxStyle b="on" i="off">
        <a:fontRef idx="minor">
          <a:srgbClr val="ECE8DD"/>
        </a:fontRef>
        <a:srgbClr val="ECE8DD"/>
      </a:tcTxStyle>
      <a:tcStyle>
        <a:tcBdr>
          <a:left>
            <a:ln w="12700" cap="flat">
              <a:solidFill>
                <a:srgbClr val="ECE8DD"/>
              </a:solidFill>
              <a:prstDash val="solid"/>
              <a:round/>
            </a:ln>
          </a:left>
          <a:right>
            <a:ln w="12700" cap="flat">
              <a:solidFill>
                <a:srgbClr val="ECE8DD"/>
              </a:solidFill>
              <a:prstDash val="solid"/>
              <a:round/>
            </a:ln>
          </a:right>
          <a:top>
            <a:ln w="38100" cap="flat">
              <a:solidFill>
                <a:srgbClr val="ECE8DD"/>
              </a:solidFill>
              <a:prstDash val="solid"/>
              <a:round/>
            </a:ln>
          </a:top>
          <a:bottom>
            <a:ln w="12700" cap="flat">
              <a:solidFill>
                <a:srgbClr val="ECE8DD"/>
              </a:solidFill>
              <a:prstDash val="solid"/>
              <a:round/>
            </a:ln>
          </a:bottom>
          <a:insideH>
            <a:ln w="12700" cap="flat">
              <a:solidFill>
                <a:srgbClr val="ECE8DD"/>
              </a:solidFill>
              <a:prstDash val="solid"/>
              <a:round/>
            </a:ln>
          </a:insideH>
          <a:insideV>
            <a:ln w="12700" cap="flat">
              <a:solidFill>
                <a:srgbClr val="ECE8DD"/>
              </a:solidFill>
              <a:prstDash val="solid"/>
              <a:round/>
            </a:ln>
          </a:insideV>
        </a:tcBdr>
        <a:fill>
          <a:solidFill>
            <a:srgbClr val="14181F"/>
          </a:solidFill>
        </a:fill>
      </a:tcStyle>
    </a:lastRow>
    <a:firstRow>
      <a:tcTxStyle b="on" i="off">
        <a:fontRef idx="minor">
          <a:srgbClr val="ECE8DD"/>
        </a:fontRef>
        <a:srgbClr val="ECE8DD"/>
      </a:tcTxStyle>
      <a:tcStyle>
        <a:tcBdr>
          <a:left>
            <a:ln w="12700" cap="flat">
              <a:solidFill>
                <a:srgbClr val="ECE8DD"/>
              </a:solidFill>
              <a:prstDash val="solid"/>
              <a:round/>
            </a:ln>
          </a:left>
          <a:right>
            <a:ln w="12700" cap="flat">
              <a:solidFill>
                <a:srgbClr val="ECE8DD"/>
              </a:solidFill>
              <a:prstDash val="solid"/>
              <a:round/>
            </a:ln>
          </a:right>
          <a:top>
            <a:ln w="12700" cap="flat">
              <a:solidFill>
                <a:srgbClr val="ECE8DD"/>
              </a:solidFill>
              <a:prstDash val="solid"/>
              <a:round/>
            </a:ln>
          </a:top>
          <a:bottom>
            <a:ln w="38100" cap="flat">
              <a:solidFill>
                <a:srgbClr val="ECE8DD"/>
              </a:solidFill>
              <a:prstDash val="solid"/>
              <a:round/>
            </a:ln>
          </a:bottom>
          <a:insideH>
            <a:ln w="12700" cap="flat">
              <a:solidFill>
                <a:srgbClr val="ECE8DD"/>
              </a:solidFill>
              <a:prstDash val="solid"/>
              <a:round/>
            </a:ln>
          </a:insideH>
          <a:insideV>
            <a:ln w="12700" cap="flat">
              <a:solidFill>
                <a:srgbClr val="ECE8DD"/>
              </a:solidFill>
              <a:prstDash val="solid"/>
              <a:round/>
            </a:ln>
          </a:insideV>
        </a:tcBdr>
        <a:fill>
          <a:solidFill>
            <a:srgbClr val="14181F"/>
          </a:solidFill>
        </a:fill>
      </a:tcStyle>
    </a:firstRow>
  </a:tblStyle>
  <a:tblStyle styleId="{2708684C-4D16-4618-839F-0558EEFCDFE6}" styleName="">
    <a:tblBg/>
    <a:wholeTbl>
      <a:tcTxStyle b="off" i="off">
        <a:fontRef idx="minor">
          <a:srgbClr val="ECE8DD"/>
        </a:fontRef>
        <a:srgbClr val="ECE8DD"/>
      </a:tcTxStyle>
      <a:tcStyle>
        <a:tcBdr>
          <a:left>
            <a:ln w="12700" cap="flat">
              <a:solidFill>
                <a:srgbClr val="ECE8DD"/>
              </a:solidFill>
              <a:prstDash val="solid"/>
              <a:round/>
            </a:ln>
          </a:left>
          <a:right>
            <a:ln w="12700" cap="flat">
              <a:solidFill>
                <a:srgbClr val="ECE8DD"/>
              </a:solidFill>
              <a:prstDash val="solid"/>
              <a:round/>
            </a:ln>
          </a:right>
          <a:top>
            <a:ln w="12700" cap="flat">
              <a:solidFill>
                <a:srgbClr val="ECE8DD"/>
              </a:solidFill>
              <a:prstDash val="solid"/>
              <a:round/>
            </a:ln>
          </a:top>
          <a:bottom>
            <a:ln w="12700" cap="flat">
              <a:solidFill>
                <a:srgbClr val="ECE8DD"/>
              </a:solidFill>
              <a:prstDash val="solid"/>
              <a:round/>
            </a:ln>
          </a:bottom>
          <a:insideH>
            <a:ln w="12700" cap="flat">
              <a:solidFill>
                <a:srgbClr val="ECE8DD"/>
              </a:solidFill>
              <a:prstDash val="solid"/>
              <a:round/>
            </a:ln>
          </a:insideH>
          <a:insideV>
            <a:ln w="12700" cap="flat">
              <a:solidFill>
                <a:srgbClr val="ECE8DD"/>
              </a:solidFill>
              <a:prstDash val="solid"/>
              <a:round/>
            </a:ln>
          </a:insideV>
        </a:tcBdr>
        <a:fill>
          <a:solidFill>
            <a:srgbClr val="ECE8DD">
              <a:alpha val="20000"/>
            </a:srgbClr>
          </a:solidFill>
        </a:fill>
      </a:tcStyle>
    </a:wholeTbl>
    <a:band2H>
      <a:tcTxStyle b="def" i="def"/>
      <a:tcStyle>
        <a:tcBdr/>
        <a:fill>
          <a:solidFill>
            <a:srgbClr val="FFFFFF"/>
          </a:solidFill>
        </a:fill>
      </a:tcStyle>
    </a:band2H>
    <a:firstCol>
      <a:tcTxStyle b="on" i="off">
        <a:fontRef idx="minor">
          <a:srgbClr val="ECE8DD"/>
        </a:fontRef>
        <a:srgbClr val="ECE8DD"/>
      </a:tcTxStyle>
      <a:tcStyle>
        <a:tcBdr>
          <a:left>
            <a:ln w="12700" cap="flat">
              <a:solidFill>
                <a:srgbClr val="ECE8DD"/>
              </a:solidFill>
              <a:prstDash val="solid"/>
              <a:round/>
            </a:ln>
          </a:left>
          <a:right>
            <a:ln w="12700" cap="flat">
              <a:solidFill>
                <a:srgbClr val="ECE8DD"/>
              </a:solidFill>
              <a:prstDash val="solid"/>
              <a:round/>
            </a:ln>
          </a:right>
          <a:top>
            <a:ln w="12700" cap="flat">
              <a:solidFill>
                <a:srgbClr val="ECE8DD"/>
              </a:solidFill>
              <a:prstDash val="solid"/>
              <a:round/>
            </a:ln>
          </a:top>
          <a:bottom>
            <a:ln w="12700" cap="flat">
              <a:solidFill>
                <a:srgbClr val="ECE8DD"/>
              </a:solidFill>
              <a:prstDash val="solid"/>
              <a:round/>
            </a:ln>
          </a:bottom>
          <a:insideH>
            <a:ln w="12700" cap="flat">
              <a:solidFill>
                <a:srgbClr val="ECE8DD"/>
              </a:solidFill>
              <a:prstDash val="solid"/>
              <a:round/>
            </a:ln>
          </a:insideH>
          <a:insideV>
            <a:ln w="12700" cap="flat">
              <a:solidFill>
                <a:srgbClr val="ECE8DD"/>
              </a:solidFill>
              <a:prstDash val="solid"/>
              <a:round/>
            </a:ln>
          </a:insideV>
        </a:tcBdr>
        <a:fill>
          <a:solidFill>
            <a:srgbClr val="ECE8DD">
              <a:alpha val="20000"/>
            </a:srgbClr>
          </a:solidFill>
        </a:fill>
      </a:tcStyle>
    </a:firstCol>
    <a:lastRow>
      <a:tcTxStyle b="on" i="off">
        <a:fontRef idx="minor">
          <a:srgbClr val="ECE8DD"/>
        </a:fontRef>
        <a:srgbClr val="ECE8DD"/>
      </a:tcTxStyle>
      <a:tcStyle>
        <a:tcBdr>
          <a:left>
            <a:ln w="12700" cap="flat">
              <a:solidFill>
                <a:srgbClr val="ECE8DD"/>
              </a:solidFill>
              <a:prstDash val="solid"/>
              <a:round/>
            </a:ln>
          </a:left>
          <a:right>
            <a:ln w="12700" cap="flat">
              <a:solidFill>
                <a:srgbClr val="ECE8DD"/>
              </a:solidFill>
              <a:prstDash val="solid"/>
              <a:round/>
            </a:ln>
          </a:right>
          <a:top>
            <a:ln w="50800" cap="flat">
              <a:solidFill>
                <a:srgbClr val="ECE8DD"/>
              </a:solidFill>
              <a:prstDash val="solid"/>
              <a:round/>
            </a:ln>
          </a:top>
          <a:bottom>
            <a:ln w="12700" cap="flat">
              <a:solidFill>
                <a:srgbClr val="ECE8DD"/>
              </a:solidFill>
              <a:prstDash val="solid"/>
              <a:round/>
            </a:ln>
          </a:bottom>
          <a:insideH>
            <a:ln w="12700" cap="flat">
              <a:solidFill>
                <a:srgbClr val="ECE8DD"/>
              </a:solidFill>
              <a:prstDash val="solid"/>
              <a:round/>
            </a:ln>
          </a:insideH>
          <a:insideV>
            <a:ln w="12700" cap="flat">
              <a:solidFill>
                <a:srgbClr val="ECE8DD"/>
              </a:solidFill>
              <a:prstDash val="solid"/>
              <a:round/>
            </a:ln>
          </a:insideV>
        </a:tcBdr>
        <a:fill>
          <a:noFill/>
        </a:fill>
      </a:tcStyle>
    </a:lastRow>
    <a:firstRow>
      <a:tcTxStyle b="on" i="off">
        <a:fontRef idx="minor">
          <a:srgbClr val="ECE8DD"/>
        </a:fontRef>
        <a:srgbClr val="ECE8DD"/>
      </a:tcTxStyle>
      <a:tcStyle>
        <a:tcBdr>
          <a:left>
            <a:ln w="12700" cap="flat">
              <a:solidFill>
                <a:srgbClr val="ECE8DD"/>
              </a:solidFill>
              <a:prstDash val="solid"/>
              <a:round/>
            </a:ln>
          </a:left>
          <a:right>
            <a:ln w="12700" cap="flat">
              <a:solidFill>
                <a:srgbClr val="ECE8DD"/>
              </a:solidFill>
              <a:prstDash val="solid"/>
              <a:round/>
            </a:ln>
          </a:right>
          <a:top>
            <a:ln w="12700" cap="flat">
              <a:solidFill>
                <a:srgbClr val="ECE8DD"/>
              </a:solidFill>
              <a:prstDash val="solid"/>
              <a:round/>
            </a:ln>
          </a:top>
          <a:bottom>
            <a:ln w="25400" cap="flat">
              <a:solidFill>
                <a:srgbClr val="ECE8DD"/>
              </a:solidFill>
              <a:prstDash val="solid"/>
              <a:round/>
            </a:ln>
          </a:bottom>
          <a:insideH>
            <a:ln w="12700" cap="flat">
              <a:solidFill>
                <a:srgbClr val="ECE8DD"/>
              </a:solidFill>
              <a:prstDash val="solid"/>
              <a:round/>
            </a:ln>
          </a:insideH>
          <a:insideV>
            <a:ln w="12700" cap="flat">
              <a:solidFill>
                <a:srgbClr val="ECE8DD"/>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88" name="Shape 88"/>
          <p:cNvSpPr/>
          <p:nvPr>
            <p:ph type="sldImg"/>
          </p:nvPr>
        </p:nvSpPr>
        <p:spPr>
          <a:xfrm>
            <a:off x="1143000" y="685800"/>
            <a:ext cx="4572000" cy="3429000"/>
          </a:xfrm>
          <a:prstGeom prst="rect">
            <a:avLst/>
          </a:prstGeom>
        </p:spPr>
        <p:txBody>
          <a:bodyPr/>
          <a:lstStyle/>
          <a:p>
            <a:pPr/>
          </a:p>
        </p:txBody>
      </p:sp>
      <p:sp>
        <p:nvSpPr>
          <p:cNvPr id="89" name="Shape 8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solidFill>
          <a:srgbClr val="14181F"/>
        </a:solidFill>
        <a:latin typeface="+mn-lt"/>
        <a:ea typeface="+mn-ea"/>
        <a:cs typeface="+mn-cs"/>
        <a:sym typeface="IBM Plex Sans"/>
      </a:defRPr>
    </a:lvl1pPr>
    <a:lvl2pPr indent="228600" latinLnBrk="0">
      <a:defRPr sz="1200">
        <a:solidFill>
          <a:srgbClr val="14181F"/>
        </a:solidFill>
        <a:latin typeface="+mn-lt"/>
        <a:ea typeface="+mn-ea"/>
        <a:cs typeface="+mn-cs"/>
        <a:sym typeface="IBM Plex Sans"/>
      </a:defRPr>
    </a:lvl2pPr>
    <a:lvl3pPr indent="457200" latinLnBrk="0">
      <a:defRPr sz="1200">
        <a:solidFill>
          <a:srgbClr val="14181F"/>
        </a:solidFill>
        <a:latin typeface="+mn-lt"/>
        <a:ea typeface="+mn-ea"/>
        <a:cs typeface="+mn-cs"/>
        <a:sym typeface="IBM Plex Sans"/>
      </a:defRPr>
    </a:lvl3pPr>
    <a:lvl4pPr indent="685800" latinLnBrk="0">
      <a:defRPr sz="1200">
        <a:solidFill>
          <a:srgbClr val="14181F"/>
        </a:solidFill>
        <a:latin typeface="+mn-lt"/>
        <a:ea typeface="+mn-ea"/>
        <a:cs typeface="+mn-cs"/>
        <a:sym typeface="IBM Plex Sans"/>
      </a:defRPr>
    </a:lvl4pPr>
    <a:lvl5pPr indent="914400" latinLnBrk="0">
      <a:defRPr sz="1200">
        <a:solidFill>
          <a:srgbClr val="14181F"/>
        </a:solidFill>
        <a:latin typeface="+mn-lt"/>
        <a:ea typeface="+mn-ea"/>
        <a:cs typeface="+mn-cs"/>
        <a:sym typeface="IBM Plex Sans"/>
      </a:defRPr>
    </a:lvl5pPr>
    <a:lvl6pPr indent="1143000" latinLnBrk="0">
      <a:defRPr sz="1200">
        <a:solidFill>
          <a:srgbClr val="14181F"/>
        </a:solidFill>
        <a:latin typeface="+mn-lt"/>
        <a:ea typeface="+mn-ea"/>
        <a:cs typeface="+mn-cs"/>
        <a:sym typeface="IBM Plex Sans"/>
      </a:defRPr>
    </a:lvl6pPr>
    <a:lvl7pPr indent="1371600" latinLnBrk="0">
      <a:defRPr sz="1200">
        <a:solidFill>
          <a:srgbClr val="14181F"/>
        </a:solidFill>
        <a:latin typeface="+mn-lt"/>
        <a:ea typeface="+mn-ea"/>
        <a:cs typeface="+mn-cs"/>
        <a:sym typeface="IBM Plex Sans"/>
      </a:defRPr>
    </a:lvl7pPr>
    <a:lvl8pPr indent="1600200" latinLnBrk="0">
      <a:defRPr sz="1200">
        <a:solidFill>
          <a:srgbClr val="14181F"/>
        </a:solidFill>
        <a:latin typeface="+mn-lt"/>
        <a:ea typeface="+mn-ea"/>
        <a:cs typeface="+mn-cs"/>
        <a:sym typeface="IBM Plex Sans"/>
      </a:defRPr>
    </a:lvl8pPr>
    <a:lvl9pPr indent="1828800" latinLnBrk="0">
      <a:defRPr sz="1200">
        <a:solidFill>
          <a:srgbClr val="14181F"/>
        </a:solidFill>
        <a:latin typeface="+mn-lt"/>
        <a:ea typeface="+mn-ea"/>
        <a:cs typeface="+mn-cs"/>
        <a:sym typeface="IBM Plex Sans"/>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Relationships>

</file>

<file path=ppt/notesSlides/_rels/notesSlide24.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Relationships>

</file>

<file path=ppt/notesSlides/_rels/notesSlide25.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Relationships>

</file>

<file path=ppt/notesSlides/_rels/notesSlide26.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Relationships>

</file>

<file path=ppt/notesSlides/_rels/notesSlide27.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Relationships>

</file>

<file path=ppt/notesSlides/_rels/notesSlide28.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Relationships>

</file>

<file path=ppt/notesSlides/_rels/notesSlide29.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Relationships>

</file>

<file path=ppt/notesSlides/_rels/notesSlide30.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Relationships>

</file>

<file path=ppt/notesSlides/_rels/notesSlide31.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Relationships>

</file>

<file path=ppt/notesSlides/_rels/notesSlide32.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Relationships>

</file>

<file path=ppt/notesSlides/_rels/notesSlide33.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Relationships>

</file>

<file path=ppt/notesSlides/_rels/notesSlide34.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Relationships>

</file>

<file path=ppt/notesSlides/_rels/notesSlide35.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Relationships>

</file>

<file path=ppt/notesSlides/_rels/notesSlide36.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Relationships>

</file>

<file path=ppt/notesSlides/_rels/notesSlide3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Relationships>

</file>

<file path=ppt/notesSlides/_rels/notesSlide38.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lvl1pPr>
              <a:defRPr>
                <a:solidFill>
                  <a:srgbClr val="12161C"/>
                </a:solidFill>
              </a:defRPr>
            </a:lvl1pPr>
          </a:lstStyle>
          <a:p>
            <a:pPr/>
            <a:r>
              <a:t>Open with the thesis in three beats: you probably don’t need a frontier model for your Q&amp;A bot, you probably don’t need a giant embedding model, and rerankers exist because we assumed retrieval gets one shot. Then ask the room why an agent would ever need one shot. Talk is 30 minutes plus questions, about 21 slides.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6" name="Shape 106"/>
          <p:cNvSpPr/>
          <p:nvPr>
            <p:ph type="sldImg"/>
          </p:nvPr>
        </p:nvSpPr>
        <p:spPr>
          <a:prstGeom prst="rect">
            <a:avLst/>
          </a:prstGeom>
        </p:spPr>
        <p:txBody>
          <a:bodyPr/>
          <a:lstStyle/>
          <a:p>
            <a:pPr/>
          </a:p>
        </p:txBody>
      </p:sp>
      <p:sp>
        <p:nvSpPr>
          <p:cNvPr id="107" name="Shape 107"/>
          <p:cNvSpPr/>
          <p:nvPr>
            <p:ph type="body" sz="quarter" idx="1"/>
          </p:nvPr>
        </p:nvSpPr>
        <p:spPr>
          <a:prstGeom prst="rect">
            <a:avLst/>
          </a:prstGeom>
        </p:spPr>
        <p:txBody>
          <a:bodyPr/>
          <a:lstStyle/>
          <a:p>
            <a:pPr/>
            <a:r>
              <a:t>Open here. Patents 1985–1990 (CLEF-IP): 656,519 records, 2,021,312,071 words, 2,861 s on an M1 Pro with 16 GB, source on an external NVMe disk. Peak resident 6.8 GB, no swapping. Caveat for Q&amp;A: this is indexing, not a query-quality benchmark; it says what the hardware floor is, nothing about relevance.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Shape 119"/>
          <p:cNvSpPr/>
          <p:nvPr>
            <p:ph type="sldImg"/>
          </p:nvPr>
        </p:nvSpPr>
        <p:spPr>
          <a:prstGeom prst="rect">
            <a:avLst/>
          </a:prstGeom>
        </p:spPr>
        <p:txBody>
          <a:bodyPr/>
          <a:lstStyle/>
          <a:p>
            <a:pPr/>
          </a:p>
        </p:txBody>
      </p:sp>
      <p:sp>
        <p:nvSpPr>
          <p:cNvPr id="120" name="Shape 120"/>
          <p:cNvSpPr/>
          <p:nvPr>
            <p:ph type="body" sz="quarter" idx="1"/>
          </p:nvPr>
        </p:nvSpPr>
        <p:spPr>
          <a:prstGeom prst="rect">
            <a:avLst/>
          </a:prstGeom>
        </p:spPr>
        <p:txBody>
          <a:bodyPr/>
          <a:lstStyle/>
          <a:p>
            <a:pPr/>
            <a:r>
              <a:t>Thirty minutes plus questions. Open with the claim slide, not with this one: say who you are, then go straight to “you don’t need a hyper-scaler”.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Shape 137"/>
          <p:cNvSpPr/>
          <p:nvPr>
            <p:ph type="sldImg"/>
          </p:nvPr>
        </p:nvSpPr>
        <p:spPr>
          <a:prstGeom prst="rect">
            <a:avLst/>
          </a:prstGeom>
        </p:spPr>
        <p:txBody>
          <a:bodyPr/>
          <a:lstStyle/>
          <a:p>
            <a:pPr/>
          </a:p>
        </p:txBody>
      </p:sp>
      <p:sp>
        <p:nvSpPr>
          <p:cNvPr id="138" name="Shape 138"/>
          <p:cNvSpPr/>
          <p:nvPr>
            <p:ph type="body" sz="quarter" idx="1"/>
          </p:nvPr>
        </p:nvSpPr>
        <p:spPr>
          <a:prstGeom prst="rect">
            <a:avLst/>
          </a:prstGeom>
        </p:spPr>
        <p:txBody>
          <a:bodyPr/>
          <a:lstStyle/>
          <a:p>
            <a:pPr/>
            <a:r>
              <a:t>The standard stack: lexical index, vector index, fusion, cross-encoder reranker. Do not mock it; it works. The point is where each stage comes from: the record is the unit, the chunk is a guess at a boundary, and the reranker pays at query time to recover what indexing discarded. Careful with ColBERT: say it is the exception that keeps token-level information, at a storage and compute cost.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Shape 149"/>
          <p:cNvSpPr/>
          <p:nvPr>
            <p:ph type="sldImg"/>
          </p:nvPr>
        </p:nvSpPr>
        <p:spPr>
          <a:prstGeom prst="rect">
            <a:avLst/>
          </a:prstGeom>
        </p:spPr>
        <p:txBody>
          <a:bodyPr/>
          <a:lstStyle/>
          <a:p>
            <a:pPr/>
          </a:p>
        </p:txBody>
      </p:sp>
      <p:sp>
        <p:nvSpPr>
          <p:cNvPr id="150" name="Shape 150"/>
          <p:cNvSpPr/>
          <p:nvPr>
            <p:ph type="body" sz="quarter" idx="1"/>
          </p:nvPr>
        </p:nvSpPr>
        <p:spPr>
          <a:prstGeom prst="rect">
            <a:avLst/>
          </a:prstGeom>
        </p:spPr>
        <p:txBody>
          <a:bodyPr/>
          <a:lstStyle/>
          <a:p>
            <a:pPr/>
            <a:r>
              <a:t>This is the setup for the span idea. The “one-shot” complaint is about the interface, not the quality of any single ranking. HyDE and rerankers improve the one shot; they do not give the caller a way to constrain it. Keep this slide to two minutes: the next section shows what composing looks like.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1" name="Shape 161"/>
          <p:cNvSpPr/>
          <p:nvPr>
            <p:ph type="sldImg"/>
          </p:nvPr>
        </p:nvSpPr>
        <p:spPr>
          <a:prstGeom prst="rect">
            <a:avLst/>
          </a:prstGeom>
        </p:spPr>
        <p:txBody>
          <a:bodyPr/>
          <a:lstStyle/>
          <a:p>
            <a:pPr/>
          </a:p>
        </p:txBody>
      </p:sp>
      <p:sp>
        <p:nvSpPr>
          <p:cNvPr id="162" name="Shape 162"/>
          <p:cNvSpPr/>
          <p:nvPr>
            <p:ph type="body" sz="quarter" idx="1"/>
          </p:nvPr>
        </p:nvSpPr>
        <p:spPr>
          <a:prstGeom prst="rect">
            <a:avLst/>
          </a:prstGeom>
        </p:spPr>
        <p:txBody>
          <a:bodyPr/>
          <a:lstStyle/>
          <a:p>
            <a:pPr/>
            <a:r>
              <a:t>Keep this fair: these techniques help, and the audience uses them. The claim is that they all sit on top of a representation that already lost the structure. Do not claim they are unnecessary in general; claim they are compensating, and that compensation costs latency and GPU time on every query. If asked about ColBERT: it keeps token vectors, so it recovers more, at a much larger index and compute cost.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 name="Shape 170"/>
          <p:cNvSpPr/>
          <p:nvPr>
            <p:ph type="sldImg"/>
          </p:nvPr>
        </p:nvSpPr>
        <p:spPr>
          <a:prstGeom prst="rect">
            <a:avLst/>
          </a:prstGeom>
        </p:spPr>
        <p:txBody>
          <a:bodyPr/>
          <a:lstStyle/>
          <a:p>
            <a:pPr/>
          </a:p>
        </p:txBody>
      </p:sp>
      <p:sp>
        <p:nvSpPr>
          <p:cNvPr id="171" name="Shape 171"/>
          <p:cNvSpPr/>
          <p:nvPr>
            <p:ph type="body" sz="quarter" idx="1"/>
          </p:nvPr>
        </p:nvSpPr>
        <p:spPr>
          <a:prstGeom prst="rect">
            <a:avLst/>
          </a:prstGeom>
        </p:spPr>
        <p:txBody>
          <a:bodyPr/>
          <a:lstStyle/>
          <a:p>
            <a:pPr/>
            <a:r>
              <a:t>Be careful with attribution: the quoted sentences are a common summary, not the paper’s own wording; the phrase “semantic drift” does not appear in BEIR. The BEIR authors are Thakur, Reimers, Rücklé, Srivastava and Gurevych (the version you pasted lists only four names and leaves out Rücklé and Srivastava; check the arXiv listing before putting names on a slide). Say “the usual retelling” out loud so nobody thinks you are misquoting the authors. The next slide takes it apart using the paper’s own text.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Shape 195"/>
          <p:cNvSpPr/>
          <p:nvPr>
            <p:ph type="sldImg"/>
          </p:nvPr>
        </p:nvSpPr>
        <p:spPr>
          <a:prstGeom prst="rect">
            <a:avLst/>
          </a:prstGeom>
        </p:spPr>
        <p:txBody>
          <a:bodyPr/>
          <a:lstStyle/>
          <a:p>
            <a:pPr/>
          </a:p>
        </p:txBody>
      </p:sp>
      <p:sp>
        <p:nvSpPr>
          <p:cNvPr id="196" name="Shape 196"/>
          <p:cNvSpPr/>
          <p:nvPr>
            <p:ph type="body" sz="quarter" idx="1"/>
          </p:nvPr>
        </p:nvSpPr>
        <p:spPr>
          <a:prstGeom prst="rect">
            <a:avLst/>
          </a:prstGeom>
        </p:spPr>
        <p:txBody>
          <a:bodyPr/>
          <a:lstStyle/>
          <a:p>
            <a:pPr/>
            <a:r>
              <a:t>Take it apart in this order. (1) The paper’s own Section 6, on annotation selection bias, says many BEIR datasets show a lexical bias that disfavours approaches that do not rely on lexical matching. Hole@10 is the share of top-10 results with no relevance judgment: the text I read gives BM25 6.4% (docT5query 2.8%), ANCE 14.4% and TAS-B 31.8%. Before you show these, open the PDF and check which dataset or average the table covers and the exact definition; I read the figures from a text extraction and could not tell which datasets they cover. The bars are drawn to scale (6.4 to 61 px, 31.8 to 305 px). (2) The abstract’s conclusion is that re-ranking and late-interaction models achieve the best zero-shot results on average, at high computational cost, and that BM25 is a robust baseline, which is a different claim from “beats embeddings”. (3) The robust-versus-better point is an argument, not a finding: a method with no training has no domain shift to suffer. (4) The last point ties back to the talk: both are evidence over the same spans, and the engine can intersect them instead of choosing. Be fair in Q&amp;A: on several datasets in the paper BM25 does outscore the dense retrievers tested; you are disputing the conclusion drawn, not the table.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Shape 209"/>
          <p:cNvSpPr/>
          <p:nvPr>
            <p:ph type="sldImg"/>
          </p:nvPr>
        </p:nvSpPr>
        <p:spPr>
          <a:prstGeom prst="rect">
            <a:avLst/>
          </a:prstGeom>
        </p:spPr>
        <p:txBody>
          <a:bodyPr/>
          <a:lstStyle/>
          <a:p>
            <a:pPr/>
          </a:p>
        </p:txBody>
      </p:sp>
      <p:sp>
        <p:nvSpPr>
          <p:cNvPr id="210" name="Shape 210"/>
          <p:cNvSpPr/>
          <p:nvPr>
            <p:ph type="body" sz="quarter" idx="1"/>
          </p:nvPr>
        </p:nvSpPr>
        <p:spPr>
          <a:prstGeom prst="rect">
            <a:avLst/>
          </a:prstGeom>
        </p:spPr>
        <p:txBody>
          <a:bodyPr/>
          <a:lstStyle/>
          <a:p>
            <a:pPr/>
            <a:r>
              <a:t>One slide, then move on; do not let this become the talk. Say “biased toward”, not “fraud”. Pooling bias: judgments come from the pools of the systems that took part, so unjudged documents count as non-relevant. Be explicit that we are not claiming a BEIR score; we are saying the benchmark does not measure what this engine does, which is addressing and structure over very large records. Expect a question on why not just run BEIR; the honest answer is that it can be run, and the result would say little about this design.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9" name="Shape 229"/>
          <p:cNvSpPr/>
          <p:nvPr>
            <p:ph type="sldImg"/>
          </p:nvPr>
        </p:nvSpPr>
        <p:spPr>
          <a:prstGeom prst="rect">
            <a:avLst/>
          </a:prstGeom>
        </p:spPr>
        <p:txBody>
          <a:bodyPr/>
          <a:lstStyle/>
          <a:p>
            <a:pPr/>
          </a:p>
        </p:txBody>
      </p:sp>
      <p:sp>
        <p:nvSpPr>
          <p:cNvPr id="230" name="Shape 230"/>
          <p:cNvSpPr/>
          <p:nvPr>
            <p:ph type="body" sz="quarter" idx="1"/>
          </p:nvPr>
        </p:nvSpPr>
        <p:spPr>
          <a:prstGeom prst="rect">
            <a:avLst/>
          </a:prstGeom>
        </p:spPr>
        <p:txBody>
          <a:bodyPr/>
          <a:lstStyle/>
          <a:p>
            <a:pPr/>
            <a:r>
              <a:t>This is the core slide. Every document, record and field is a pair of byte offsets in one global, monotonic address space, so “inside”, “overlapping” and “near” are comparisons of integers, not joins. A semantic hit, when its sentence was embedded with its global address as the id, comes back as a span too, so it composes with everything else. Be ready to say that the textual graph is real: containment and adjacency are implicit edges, no edge list is stored. Limits for Q&amp;A: 32-bit index id (24-bit record, 8-bit slot), 16M records per physical index, 64-bit global addressing across a virtual database.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Shape 246"/>
          <p:cNvSpPr/>
          <p:nvPr>
            <p:ph type="sldImg"/>
          </p:nvPr>
        </p:nvSpPr>
        <p:spPr>
          <a:prstGeom prst="rect">
            <a:avLst/>
          </a:prstGeom>
        </p:spPr>
        <p:txBody>
          <a:bodyPr/>
          <a:lstStyle/>
          <a:p>
            <a:pPr/>
          </a:p>
        </p:txBody>
      </p:sp>
      <p:sp>
        <p:nvSpPr>
          <p:cNvPr id="247" name="Shape 247"/>
          <p:cNvSpPr/>
          <p:nvPr>
            <p:ph type="body" sz="quarter" idx="1"/>
          </p:nvPr>
        </p:nvSpPr>
        <p:spPr>
          <a:prstGeom prst="rect">
            <a:avLst/>
          </a:prstGeom>
        </p:spPr>
        <p:txBody>
          <a:bodyPr/>
          <a:lstStyle/>
          <a:p>
            <a:pPr/>
            <a:r>
              <a:t>Credit the lineage plainly; none of the pieces is new, the combination and the engineering are the contribution. Gonnet's PAT arrays and the region-algebra literature give the query model; HyTime gives the addressing idea; the SIS cache is yours. If someone asks “isn’t this just Lucene with spans”, the answer is that Lucene’s unit is the document and its postings are per field, whereas here a field is only an interval in the same address space, so there is no per-field index to build or choose in advance.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2" name="Shape 282"/>
          <p:cNvSpPr/>
          <p:nvPr>
            <p:ph type="sldImg"/>
          </p:nvPr>
        </p:nvSpPr>
        <p:spPr>
          <a:prstGeom prst="rect">
            <a:avLst/>
          </a:prstGeom>
        </p:spPr>
        <p:txBody>
          <a:bodyPr/>
          <a:lstStyle/>
          <a:p>
            <a:pPr/>
          </a:p>
        </p:txBody>
      </p:sp>
      <p:sp>
        <p:nvSpPr>
          <p:cNvPr id="283" name="Shape 283"/>
          <p:cNvSpPr/>
          <p:nvPr>
            <p:ph type="body" sz="quarter" idx="1"/>
          </p:nvPr>
        </p:nvSpPr>
        <p:spPr>
          <a:prstGeom prst="rect">
            <a:avLst/>
          </a:prstGeom>
        </p:spPr>
        <p:txBody>
          <a:bodyPr/>
          <a:lstStyle/>
          <a:p>
            <a:pPr/>
            <a:r>
              <a:t>Live demo if the machine behaves; otherwise this slide is the fallback. The command line is a sketch of the call, so copy the exact invocation from your terminal before the talk. The query is all stopwords, which is the classic place where stopword-stripped indexes return nothing useful. Numbers: about 10 ms for the phrase; Shakespeare SIS cache is 22,945 entries, about 0.67 MB at X=20, with one overflow word, honorificabilitudini*. Iutil -check passes in 2.4 s. Caveat: tiny corpus, so the timing shows the model works, not that it scales; the scale slides do that.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0" name="Shape 290"/>
          <p:cNvSpPr/>
          <p:nvPr>
            <p:ph type="sldImg"/>
          </p:nvPr>
        </p:nvSpPr>
        <p:spPr>
          <a:prstGeom prst="rect">
            <a:avLst/>
          </a:prstGeom>
        </p:spPr>
        <p:txBody>
          <a:bodyPr/>
          <a:lstStyle/>
          <a:p>
            <a:pPr/>
          </a:p>
        </p:txBody>
      </p:sp>
      <p:sp>
        <p:nvSpPr>
          <p:cNvPr id="291" name="Shape 291"/>
          <p:cNvSpPr/>
          <p:nvPr>
            <p:ph type="body" sz="quarter" idx="1"/>
          </p:nvPr>
        </p:nvSpPr>
        <p:spPr>
          <a:prstGeom prst="rect">
            <a:avLst/>
          </a:prstGeom>
        </p:spPr>
        <p:txBody>
          <a:bodyPr/>
          <a:lstStyle/>
          <a:p>
            <a:pPr/>
            <a:r>
              <a:t>Live demo if the machine behaves; otherwise this slide is the fallback. The command line is a sketch of the call, so copy the exact invocation from your terminal before the talk. The query is all stopwords, which is the classic place where stopword-stripped indexes return nothing useful. Numbers: about 10 ms for the phrase; Shakespeare SIS cache is 22,945 entries, about 0.67 MB at X=20, with one overflow word, honorificabilitudini*. Iutil -check passes in 2.4 s. Caveat: tiny corpus, so the timing shows the model works, not that it scales; the scale slides do that.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9" name="Shape 309"/>
          <p:cNvSpPr/>
          <p:nvPr>
            <p:ph type="sldImg"/>
          </p:nvPr>
        </p:nvSpPr>
        <p:spPr>
          <a:prstGeom prst="rect">
            <a:avLst/>
          </a:prstGeom>
        </p:spPr>
        <p:txBody>
          <a:bodyPr/>
          <a:lstStyle/>
          <a:p>
            <a:pPr/>
          </a:p>
        </p:txBody>
      </p:sp>
      <p:sp>
        <p:nvSpPr>
          <p:cNvPr id="310" name="Shape 310"/>
          <p:cNvSpPr/>
          <p:nvPr>
            <p:ph type="body" sz="quarter" idx="1"/>
          </p:nvPr>
        </p:nvSpPr>
        <p:spPr>
          <a:prstGeom prst="rect">
            <a:avLst/>
          </a:prstGeom>
        </p:spPr>
        <p:txBody>
          <a:bodyPr/>
          <a:lstStyle/>
          <a:p>
            <a:pPr/>
            <a:r>
              <a:t>PLACEHOLDER: fill both panels with the real Shylock query and its top hit at each extent (FOCUS and REDUCE are the two knobs; use the exact commands from your terminal). The claim is that “record” is not fixed at indexing time: because fields and records are spans, the same words can be scored over a speech or over a whole play. Caveat for Q&amp;A: the evidence score is a heuristic (energy and dispersion), separate from the structural match, and is not claimed to be optimal ranking.</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1" name="Shape 321"/>
          <p:cNvSpPr/>
          <p:nvPr>
            <p:ph type="sldImg"/>
          </p:nvPr>
        </p:nvSpPr>
        <p:spPr>
          <a:prstGeom prst="rect">
            <a:avLst/>
          </a:prstGeom>
        </p:spPr>
        <p:txBody>
          <a:bodyPr/>
          <a:lstStyle/>
          <a:p>
            <a:pPr/>
          </a:p>
        </p:txBody>
      </p:sp>
      <p:sp>
        <p:nvSpPr>
          <p:cNvPr id="322" name="Shape 322"/>
          <p:cNvSpPr/>
          <p:nvPr>
            <p:ph type="body" sz="quarter" idx="1"/>
          </p:nvPr>
        </p:nvSpPr>
        <p:spPr>
          <a:prstGeom prst="rect">
            <a:avLst/>
          </a:prstGeom>
        </p:spPr>
        <p:txBody>
          <a:bodyPr/>
          <a:lstStyle/>
          <a:p>
            <a:pPr/>
            <a:r>
              <a:t>PLACEHOLDER: use the real demo query that constrains by speaker, scene or act (WITHIN or AND:field in your syntax; remember the parser rewrites WITHIN:field to FIELD/term). The point to land: there is no per-field index to plan for, and a new constraint needs no reindex. If the real demo differs from this framing, change the headline rather than the demo. Do not claim anything about ranking quality here.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7" name="Shape 337"/>
          <p:cNvSpPr/>
          <p:nvPr>
            <p:ph type="sldImg"/>
          </p:nvPr>
        </p:nvSpPr>
        <p:spPr>
          <a:prstGeom prst="rect">
            <a:avLst/>
          </a:prstGeom>
        </p:spPr>
        <p:txBody>
          <a:bodyPr/>
          <a:lstStyle/>
          <a:p>
            <a:pPr/>
          </a:p>
        </p:txBody>
      </p:sp>
      <p:sp>
        <p:nvSpPr>
          <p:cNvPr id="338" name="Shape 338"/>
          <p:cNvSpPr/>
          <p:nvPr>
            <p:ph type="body" sz="quarter" idx="1"/>
          </p:nvPr>
        </p:nvSpPr>
        <p:spPr>
          <a:prstGeom prst="rect">
            <a:avLst/>
          </a:prstGeom>
        </p:spPr>
        <p:txBody>
          <a:bodyPr/>
          <a:lstStyle/>
          <a:p>
            <a:pPr/>
            <a:r>
              <a:t>PLACEHOLDER: fill in the real toy paraphrase from your vector demo (the query that fails on words and the line the embedding finds). This is the bridge into the semantic section. Be honest that the vector toy is a toy: a small corpus, one encoder. Embedding latency on the M1 Pro with Metal: MiniLM-L12 f32 about 4 ms for 11 tokens and 15 ms for 137; bge-large q8_0 about 15 ms and 35 ms.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2" name="Shape 382"/>
          <p:cNvSpPr/>
          <p:nvPr>
            <p:ph type="sldImg"/>
          </p:nvPr>
        </p:nvSpPr>
        <p:spPr>
          <a:prstGeom prst="rect">
            <a:avLst/>
          </a:prstGeom>
        </p:spPr>
        <p:txBody>
          <a:bodyPr/>
          <a:lstStyle/>
          <a:p>
            <a:pPr/>
          </a:p>
        </p:txBody>
      </p:sp>
      <p:sp>
        <p:nvSpPr>
          <p:cNvPr id="383" name="Shape 383"/>
          <p:cNvSpPr/>
          <p:nvPr>
            <p:ph type="body" sz="quarter" idx="1"/>
          </p:nvPr>
        </p:nvSpPr>
        <p:spPr>
          <a:prstGeom prst="rect">
            <a:avLst/>
          </a:prstGeom>
        </p:spPr>
        <p:txBody>
          <a:bodyPr/>
          <a:lstStyle/>
          <a:p>
            <a:pPr/>
            <a:r>
              <a:t>CLEF-IP patents 1985–1990. All figures are from your runs: 656,519 records, 2,021,312,071 words, 2,861 s, peak resident 6.8 GB with zero swaps. The earlier all-years run took 3,136 s before the merge-order fix. Also mention Wikipedia in one breath: 2,065,536 records (about 1.03 M real documents, because half the records are bulk action lines), 753,423,571 words, 1,459 s. Do not quote the 1985-only numbers unless asked (86,755 records, 201 s). Caveat: indexing throughput only; the machine is not a server, which is the point.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0" name="Shape 400"/>
          <p:cNvSpPr/>
          <p:nvPr>
            <p:ph type="sldImg"/>
          </p:nvPr>
        </p:nvSpPr>
        <p:spPr>
          <a:prstGeom prst="rect">
            <a:avLst/>
          </a:prstGeom>
        </p:spPr>
        <p:txBody>
          <a:bodyPr/>
          <a:lstStyle/>
          <a:p>
            <a:pPr/>
          </a:p>
        </p:txBody>
      </p:sp>
      <p:sp>
        <p:nvSpPr>
          <p:cNvPr id="401" name="Shape 401"/>
          <p:cNvSpPr/>
          <p:nvPr>
            <p:ph type="body" sz="quarter" idx="1"/>
          </p:nvPr>
        </p:nvSpPr>
        <p:spPr>
          <a:prstGeom prst="rect">
            <a:avLst/>
          </a:prstGeom>
        </p:spPr>
        <p:txBody>
          <a:bodyPr/>
          <a:lstStyle/>
          <a:p>
            <a:pPr/>
            <a:r>
              <a:t>Your run from 24 October on the full patents index (656,519 records): 49 ms CPU process time, 47 ms of it search, 23.6 ms per term; one record matched; the evidence is shown from CLAIM-TEXT, named in brackets by the display-evidence step. This replaces the earlier figures (PEER 460 ms against AND:CLAIM-TEXT 19 ms), which came from before your recent changes; I don't know whether the gap was a cold cache or code, so do not quote the old 24-times ratio. Same build, same index, same night: AND:CLAIM-TEXT took 20 ms CPU, 19 ms of it search, 9.4 ms per term. A second run of AND:CLAIM-TEXT a minute later took 27 ms (25 search, 12.6 ms per term), so the honest range is 20 to 27 ms and the ratio to PEER's 49 ms is roughly 1.8 to 2.4: say about twice as fast. Both queries match exactly one record of 656,519, EP-0429733-A2, and display the same CLAIM-TEXT evidence, so it is fine to say they find the same claim. Also available: immunoglobulin flu, and risc processor at 4 ms from the earlier run, which may also have changed. Caveat: these are warm repeats. In your session log the first PEER run of risc matrix took 187 ms (CPU) and the next took 49 ms, and the same pattern shows for risc processor (391 then 111 ms) and virus reduction (2,001 then 675 ms). So if someone asks, say the first run after a cold start is several times slower while the field tables are paged in, and say about 50 ms for a warm query.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4" name="Shape 414"/>
          <p:cNvSpPr/>
          <p:nvPr>
            <p:ph type="sldImg"/>
          </p:nvPr>
        </p:nvSpPr>
        <p:spPr>
          <a:prstGeom prst="rect">
            <a:avLst/>
          </a:prstGeom>
        </p:spPr>
        <p:txBody>
          <a:bodyPr/>
          <a:lstStyle/>
          <a:p>
            <a:pPr/>
          </a:p>
        </p:txBody>
      </p:sp>
      <p:sp>
        <p:nvSpPr>
          <p:cNvPr id="415" name="Shape 415"/>
          <p:cNvSpPr/>
          <p:nvPr>
            <p:ph type="body" sz="quarter" idx="1"/>
          </p:nvPr>
        </p:nvSpPr>
        <p:spPr>
          <a:prstGeom prst="rect">
            <a:avLst/>
          </a:prstGeom>
        </p:spPr>
        <p:txBody>
          <a:bodyPr/>
          <a:lstStyle/>
          <a:p>
            <a:pPr/>
            <a:r>
              <a:t>Wikipedia index (2,065,536 records, about 1.03 M real documents; half the records are bulk action lines, so say “records” not “articles”). “editors” 28 ms with a 300 cap; “defaultsort/editors” 4 ms, one record. Also available: the German word für returns 217,420 records in 391 ms, a good answer to “does it handle UTF-8”. The point is the interaction model, not the raw latency. Caveat: the 300 cap is the advice limit (-advice N, -1 = no cap), so do not say 300 is the number of matches.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5" name="Shape 435"/>
          <p:cNvSpPr/>
          <p:nvPr>
            <p:ph type="sldImg"/>
          </p:nvPr>
        </p:nvSpPr>
        <p:spPr>
          <a:prstGeom prst="rect">
            <a:avLst/>
          </a:prstGeom>
        </p:spPr>
        <p:txBody>
          <a:bodyPr/>
          <a:lstStyle/>
          <a:p>
            <a:pPr/>
          </a:p>
        </p:txBody>
      </p:sp>
      <p:sp>
        <p:nvSpPr>
          <p:cNvPr id="436" name="Shape 436"/>
          <p:cNvSpPr/>
          <p:nvPr>
            <p:ph type="body" sz="quarter" idx="1"/>
          </p:nvPr>
        </p:nvSpPr>
        <p:spPr>
          <a:prstGeom prst="rect">
            <a:avLst/>
          </a:prstGeom>
        </p:spPr>
        <p:txBody>
          <a:bodyPr/>
          <a:lstStyle/>
          <a:p>
            <a:pPr/>
            <a:r>
              <a:t>The output is your run on the 1985 patents index (86,755 records): query patent, two records shown, 24 ms CPU. The bracket is ContainerName and the text is the DisplayExtent from GetDisplayEvidence. The budget is MaxBytesAdvice (the -advice option; -1 for no cap, and 0 means unbounded: keep the strongest cover and still report the container). Utility = rank minus 0.25 × over², with over = (bytes − budget) / budget, and a hard limit at 4× the budget, so evidence may overspend when it earns it. Structure does not enter the score: a container that fits the budget is used outright; one that is too big only bounds the padding, so a 130-byte excerpt of a 400-byte SPEECH cannot spill into the next speech; unfielded text, such as flat Wikipedia, falls back to a budgeted window around the evidence. Keep this as the answer to why an agent needs far fewer tokens: the engine decides what to show before the model reads anything. Caveat: the parameters are hand-set and not tuned against user studies. There is no measurement here of reader or model benefit.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2" name="Shape 442"/>
          <p:cNvSpPr/>
          <p:nvPr>
            <p:ph type="sldImg"/>
          </p:nvPr>
        </p:nvSpPr>
        <p:spPr>
          <a:prstGeom prst="rect">
            <a:avLst/>
          </a:prstGeom>
        </p:spPr>
        <p:txBody>
          <a:bodyPr/>
          <a:lstStyle/>
          <a:p>
            <a:pPr/>
          </a:p>
        </p:txBody>
      </p:sp>
      <p:sp>
        <p:nvSpPr>
          <p:cNvPr id="443" name="Shape 443"/>
          <p:cNvSpPr/>
          <p:nvPr>
            <p:ph type="body" sz="quarter" idx="1"/>
          </p:nvPr>
        </p:nvSpPr>
        <p:spPr>
          <a:prstGeom prst="rect">
            <a:avLst/>
          </a:prstGeom>
        </p:spPr>
        <p:txBody>
          <a:bodyPr/>
          <a:lstStyle/>
          <a:p>
            <a:pPr/>
            <a:r>
              <a:t>Mechanics: the vector side is a bert.cpp fork with HNSW; the sentence store bridges to the engine so that, when a sentence is embedded, its id is its global address. A nearest-neighbour result therefore needs no lookup table. Chunking is internal to the vector store and is not part of the text index. INT4 storage is available. Tokenizer note, for the aside: WordPiece versus SentencePiece is detected by probing the vocabulary. Caveat: I have no recall or quality number for the vector side; present it as an integration, not as a retrieval result.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9" name="Shape 459"/>
          <p:cNvSpPr/>
          <p:nvPr>
            <p:ph type="sldImg"/>
          </p:nvPr>
        </p:nvSpPr>
        <p:spPr>
          <a:prstGeom prst="rect">
            <a:avLst/>
          </a:prstGeom>
        </p:spPr>
        <p:txBody>
          <a:bodyPr/>
          <a:lstStyle/>
          <a:p>
            <a:pPr/>
          </a:p>
        </p:txBody>
      </p:sp>
      <p:sp>
        <p:nvSpPr>
          <p:cNvPr id="460" name="Shape 460"/>
          <p:cNvSpPr/>
          <p:nvPr>
            <p:ph type="body" sz="quarter" idx="1"/>
          </p:nvPr>
        </p:nvSpPr>
        <p:spPr>
          <a:prstGeom prst="rect">
            <a:avLst/>
          </a:prstGeom>
        </p:spPr>
        <p:txBody>
          <a:bodyPr/>
          <a:lstStyle/>
          <a:p>
            <a:pPr/>
            <a:r>
              <a:t>The paper’s result is about capacity, not about logical operators. Theory (Section 3): the number of top-k subsets that can be returned is at most (1 + 1/γ)^d, so for n documents and k results the dimension must grow with log of n-choose-k; some combinations cannot be returned for a given d, no matter the query. The authors call their bound extreme and a lower bound; they show with free, test-set-optimised embeddings that it holds empirically. LIMIT (Section 5.2): documents are people with liked attributes, queries are single-attribute (“who likes X”), 50,000 documents and 1,000 queries; the text says models struggle to reach even 20% recall@100, and I read Table 5 as Gemini Embed (3072-d) at 10.0 and Promptriever (4096-d) at 18.9; check both in the PDF before showing them. Also check the text against Table 4 on recall@20: they appear to disagree. They also report it is not domain shift: training on LIMIT’s own training split did not help. Alternatives in the paper: a cross-encoder (Gemini-2.5-Pro) solved all 1,000 queries in one forward pass; multi-vector models show promise; BM25 scores very high on LIMIT but drops sharply on a synonym variant, and the authors leave hybrid sparse and dense methods to future work. That last point is your opening: words and vectors fail in different places. Do not say the paper proves vectors are “flawed” or that AND, OR and NOT break them; it does not analyse those operators. What it says is that a single vector has limited capacity. The step to your engine is an argument, not a result of the paper: an address range can name any subset of documents, so results that a vector cannot express can still be intersected from exact evidence.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6" name="Shape 476"/>
          <p:cNvSpPr/>
          <p:nvPr>
            <p:ph type="sldImg"/>
          </p:nvPr>
        </p:nvSpPr>
        <p:spPr>
          <a:prstGeom prst="rect">
            <a:avLst/>
          </a:prstGeom>
        </p:spPr>
        <p:txBody>
          <a:bodyPr/>
          <a:lstStyle/>
          <a:p>
            <a:pPr/>
          </a:p>
        </p:txBody>
      </p:sp>
      <p:sp>
        <p:nvSpPr>
          <p:cNvPr id="477" name="Shape 477"/>
          <p:cNvSpPr/>
          <p:nvPr>
            <p:ph type="body" sz="quarter" idx="1"/>
          </p:nvPr>
        </p:nvSpPr>
        <p:spPr>
          <a:prstGeom prst="rect">
            <a:avLst/>
          </a:prstGeom>
        </p:spPr>
        <p:txBody>
          <a:bodyPr/>
          <a:lstStyle/>
          <a:p>
            <a:pPr/>
            <a:r>
              <a:t>Source: result.cxx for the lexical side (Energy = evidence / possibleEvidence, where possibleEvidence comes from AuxCount, at least the number of distinct lexical sources) and HybridEnergy.md for the vector side. I only saw the end of HybridEnergy.md, so this is what it says there: a background table gives rank tails with a pseudocount so unseen tails stay finite; information = -log(tail); lookup interpolates adjacent entries in O(1); a smoothstep maps information between I(VectorNoise) and I(VectorStrong) to bounded evidence; the table is parsed once per result set, and invalid tables fall back to fixed score anchors. The curve is a sketch of a smoothstep, with no numeric anchors shown because I have none. Calibration is per model and per field, sampled with vector_background.py / vector_background.cpp. Say the document's own caveats out loud: random corpus pairs only approximate a background; ANN picks extreme scores from many candidates, so rarity alone does not establish relevance; sample size limits tail resolution; this is a calibration mechanism, not a fitted model, and anchors and fusion weights still need validating on judged searches.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1" name="Shape 501"/>
          <p:cNvSpPr/>
          <p:nvPr>
            <p:ph type="sldImg"/>
          </p:nvPr>
        </p:nvSpPr>
        <p:spPr>
          <a:prstGeom prst="rect">
            <a:avLst/>
          </a:prstGeom>
        </p:spPr>
        <p:txBody>
          <a:bodyPr/>
          <a:lstStyle/>
          <a:p>
            <a:pPr/>
          </a:p>
        </p:txBody>
      </p:sp>
      <p:sp>
        <p:nvSpPr>
          <p:cNvPr id="502" name="Shape 502"/>
          <p:cNvSpPr/>
          <p:nvPr>
            <p:ph type="body" sz="quarter" idx="1"/>
          </p:nvPr>
        </p:nvSpPr>
        <p:spPr>
          <a:prstGeom prst="rect">
            <a:avLst/>
          </a:prstGeom>
        </p:spPr>
        <p:txBody>
          <a:bodyPr/>
          <a:lstStyle/>
          <a:p>
            <a:pPr/>
            <a:r>
              <a:t>Straight from result.cxx: EvidenceWeight 1.5 (the comment says it was 1.0), DispersionWeight 1.0, DispersionDecay 32. A cover is a minimal window holding K distinct query terms, found by a sliding window over hits ordered by start address; a vector or date hit (no lexical source id) can join a lexical cover as one extra evidence dimension, and extent is the union. The three numbers are computed: A has energy 1 and dispersion 40/2 = 20, so 1 / (1 + 20/32) = 0.615; the single term has energy 0.5, so 0.5^1.5 = 0.354, dispersion 8, compactness 0.8, giving 0.283; the loose pair has dispersion 400/2 = 200, compactness 0.138. Say plainly that the parameters are hand-set first experimental values (the code comment says so), not fitted to judgments. This is a heuristic for choosing which passage to show and how to order covers, and it is separate from the structural match.</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5" name="Shape 515"/>
          <p:cNvSpPr/>
          <p:nvPr>
            <p:ph type="sldImg"/>
          </p:nvPr>
        </p:nvSpPr>
        <p:spPr>
          <a:prstGeom prst="rect">
            <a:avLst/>
          </a:prstGeom>
        </p:spPr>
        <p:txBody>
          <a:bodyPr/>
          <a:lstStyle/>
          <a:p>
            <a:pPr/>
          </a:p>
        </p:txBody>
      </p:sp>
      <p:sp>
        <p:nvSpPr>
          <p:cNvPr id="516" name="Shape 516"/>
          <p:cNvSpPr/>
          <p:nvPr>
            <p:ph type="body" sz="quarter" idx="1"/>
          </p:nvPr>
        </p:nvSpPr>
        <p:spPr>
          <a:prstGeom prst="rect">
            <a:avLst/>
          </a:prstGeom>
        </p:spPr>
        <p:txBody>
          <a:bodyPr/>
          <a:lstStyle/>
          <a:p>
            <a:pPr/>
            <a:r>
              <a:t>PLACEHOLDER: paste the real result list from your run into the second box. The claim is narrow: nearest neighbours are topical, and a fact question needs the text that states the fact, which is often a short, specific span that a word or field constraint can find and an embedding ranks no better than any other election text. This is the honest limit of semantic search and it is why the engine keeps both views. Do not claim words would have answered it without checking on the same corpus.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3" name="Shape 533"/>
          <p:cNvSpPr/>
          <p:nvPr>
            <p:ph type="sldImg"/>
          </p:nvPr>
        </p:nvSpPr>
        <p:spPr>
          <a:prstGeom prst="rect">
            <a:avLst/>
          </a:prstGeom>
        </p:spPr>
        <p:txBody>
          <a:bodyPr/>
          <a:lstStyle/>
          <a:p>
            <a:pPr/>
          </a:p>
        </p:txBody>
      </p:sp>
      <p:sp>
        <p:nvSpPr>
          <p:cNvPr id="534" name="Shape 534"/>
          <p:cNvSpPr/>
          <p:nvPr>
            <p:ph type="body" sz="quarter" idx="1"/>
          </p:nvPr>
        </p:nvSpPr>
        <p:spPr>
          <a:prstGeom prst="rect">
            <a:avLst/>
          </a:prstGeom>
        </p:spPr>
        <p:txBody>
          <a:bodyPr/>
          <a:lstStyle/>
          <a:p>
            <a:pPr/>
            <a:r>
              <a:t>Real output from your vector tool: search who won the 2016 election, five best of a toy set of about 800 sentences. Scores are cosine, INT4-quantised. Rank 1 is right, rank 3 is a correct paraphrase, rank 2 (Biden won the election against Trump, 0.884) is wrong for 2016, and rank 4, the sentence that actually mentions 2016, is below it. Rank 5 is the 2020 election. The claim is narrow: nearest neighbours are about elections and Trump, not about which election or who won. Embeddings can place paraphrases together but have little sense of year or of who beat whom. Do not claim words would have done better without testing it on this same set; plausibly a word match on 2016 finds the fourth sentence, but I have not seen that run. One query, one small set, one model: say so.</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8" name="Shape 548"/>
          <p:cNvSpPr/>
          <p:nvPr>
            <p:ph type="sldImg"/>
          </p:nvPr>
        </p:nvSpPr>
        <p:spPr>
          <a:prstGeom prst="rect">
            <a:avLst/>
          </a:prstGeom>
        </p:spPr>
        <p:txBody>
          <a:bodyPr/>
          <a:lstStyle/>
          <a:p>
            <a:pPr/>
          </a:p>
        </p:txBody>
      </p:sp>
      <p:sp>
        <p:nvSpPr>
          <p:cNvPr id="549" name="Shape 549"/>
          <p:cNvSpPr/>
          <p:nvPr>
            <p:ph type="body" sz="quarter" idx="1"/>
          </p:nvPr>
        </p:nvSpPr>
        <p:spPr>
          <a:prstGeom prst="rect">
            <a:avLst/>
          </a:prstGeom>
        </p:spPr>
        <p:txBody>
          <a:bodyPr/>
          <a:lstStyle/>
          <a:p>
            <a:pPr/>
            <a:r>
              <a:t>Sources checked: the JMLR abstract defines hubness as points with very high k-occurrence that “effectively represent popular nearest neighbors”, with a distribution that becomes considerably skewed as dimensionality increases, an inherent property of high-dimensional data. The ICML 2025 workshop paper (Munyampirwa, Lakshman, Coleman) finds that the hierarchy of HNSW gives no clear benefit on high-dimensional datasets, that a flat graph matched HNSW on latency and recall with less memory, and that hubs, well-connected nodes heavily traversed early in a search, play the highway role. They tested 13 datasets from 1M to 100M vectors; on synthetic data the hierarchy sped up search only for d below 32. The embeddings in this talk: MiniLM-L12 is 384-d, bge-large 1,024-d; Gemini and Promptriever in the LIMIT paper are 3,072 and 4,096. The last sentence on the slide is the inference: a hub is close to many points, including irrelevant ones. That is my reading of what “popular neighbour” means for retrieval, not a result of the HNSW paper. Caveat: their memory comparison involves two codebases.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9" name="Shape 559"/>
          <p:cNvSpPr/>
          <p:nvPr>
            <p:ph type="sldImg"/>
          </p:nvPr>
        </p:nvSpPr>
        <p:spPr>
          <a:prstGeom prst="rect">
            <a:avLst/>
          </a:prstGeom>
        </p:spPr>
        <p:txBody>
          <a:bodyPr/>
          <a:lstStyle/>
          <a:p>
            <a:pPr/>
          </a:p>
        </p:txBody>
      </p:sp>
      <p:sp>
        <p:nvSpPr>
          <p:cNvPr id="560" name="Shape 560"/>
          <p:cNvSpPr/>
          <p:nvPr>
            <p:ph type="body" sz="quarter" idx="1"/>
          </p:nvPr>
        </p:nvSpPr>
        <p:spPr>
          <a:prstGeom prst="rect">
            <a:avLst/>
          </a:prstGeom>
        </p:spPr>
        <p:txBody>
          <a:bodyPr/>
          <a:lstStyle/>
          <a:p>
            <a:pPr/>
            <a:r>
              <a:t>The 183 GB is from the HNSW-hubs paper’s Table 6 (BigANN, 100M vectors, 128-d, hnswlib; FlatNav needed 113 GB); the authors caution that part of the memory gap may come from implementation differences, but the 183 GB figure is a real peak. That is the argument for sharding: the graph and its build have to fit in RAM. The picture is an illustration, not data: eight relevant vectors, seven in one shard. How sharding spreads data decides what goes wrong. Random sharding gives every shard a slice of every topic, so each returns a few relevant results among noise and the per-shard cut is arbitrary. Sharding by source, date or collection concentrates the relevant vectors in one or two shards, and a fixed per-shard k either cuts relevant results (the shard that holds them) or fills the merge with non-answers (the others). Either way, a fixed k is the wrong budget; that ties back to the adaptive-k point. The usual workaround is to over-fetch per shard and merge, which costs latency. This is my reasoning, not a measurement.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7" name="Shape 577"/>
          <p:cNvSpPr/>
          <p:nvPr>
            <p:ph type="sldImg"/>
          </p:nvPr>
        </p:nvSpPr>
        <p:spPr>
          <a:prstGeom prst="rect">
            <a:avLst/>
          </a:prstGeom>
        </p:spPr>
        <p:txBody>
          <a:bodyPr/>
          <a:lstStyle/>
          <a:p>
            <a:pPr/>
          </a:p>
        </p:txBody>
      </p:sp>
      <p:sp>
        <p:nvSpPr>
          <p:cNvPr id="578" name="Shape 578"/>
          <p:cNvSpPr/>
          <p:nvPr>
            <p:ph type="body" sz="quarter" idx="1"/>
          </p:nvPr>
        </p:nvSpPr>
        <p:spPr>
          <a:prstGeom prst="rect">
            <a:avLst/>
          </a:prstGeom>
        </p:spPr>
        <p:txBody>
          <a:bodyPr/>
          <a:lstStyle/>
          <a:p>
            <a:pPr/>
            <a:r>
              <a:t>Be clear this is a rule of thumb from your own tests on commodity hardware, with the model, dimension and machine you used, not a published benchmark and not a vendor recommendation. Many systems run far larger indexes per segment or shard; I haven't checked current vendor figures, so don't cite any. If asked why so small: this is tuned for commodity hardware and low, predictable latency. Arithmetic you can use, computed: 1,000,000 / 50,000 = 20 shards, 100,000,000 / 50,000 = 2,000. The payload of one 50,000-vector shard is small: 50,000 × 384 dimensions × 4 bytes is about 77 MB in float32 (MiniLM-L12) and about 9.6 MB at INT4 (half a byte per dimension); for a 1,024-dimension model such as bge-large, about 25.6 MB at INT4. That excludes the graph links. A possible reason for the knee, which I have not tested: past some size the working set stops fitting in cache; if your numbers show a knee, compare it with your machine’s cache size before saying so. Fill in the dashed box with real numbers or delete it; I can chart them if you send them. The last line links to the previous slides: many small shards means fan-out, so you need adaptive k per shard and lexical or typed narrowing to decide where to look.</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2" name="Shape 602"/>
          <p:cNvSpPr/>
          <p:nvPr>
            <p:ph type="sldImg"/>
          </p:nvPr>
        </p:nvSpPr>
        <p:spPr>
          <a:prstGeom prst="rect">
            <a:avLst/>
          </a:prstGeom>
        </p:spPr>
        <p:txBody>
          <a:bodyPr/>
          <a:lstStyle/>
          <a:p>
            <a:pPr/>
          </a:p>
        </p:txBody>
      </p:sp>
      <p:sp>
        <p:nvSpPr>
          <p:cNvPr id="603" name="Shape 603"/>
          <p:cNvSpPr/>
          <p:nvPr>
            <p:ph type="body" sz="quarter" idx="1"/>
          </p:nvPr>
        </p:nvSpPr>
        <p:spPr>
          <a:prstGeom prst="rect">
            <a:avLst/>
          </a:prstGeom>
        </p:spPr>
        <p:txBody>
          <a:bodyPr/>
          <a:lstStyle/>
          <a:p>
            <a:pPr/>
            <a:r>
              <a:t>Numbers, as published and read from vendor documentation: Milvus guidance of about 20–100K rows per manually created partition (Milvus “shards” are write channels, so don’t compare those); Weaviate’s dynamic index switches from flat to HNSW at 10,000 objects by default, its flat-search cutoff defaults to 40,000, and its docs say to have 10,000 to 100,000 vectors per shard before enabling PQ (these are thresholds, not recommended maximums; Weaviate sets no maximum shard size); Qdrant lists binary quantization as up to 32× memory reduction, best suited to models with 1,024 or more dimensions. The point to make: your numbers sit in the same range as the published small-index thresholds, while vendors stress scale through quantisation and large partitions. The last line rests on the anisotropy literature: embeddings tend to occupy a narrow cone, so cosine scores bunch together and there is little contrast between near and far (see Ethayarajh 2019, arXiv 1909.00512, on contextual word representations, and Su et al. 2021, arXiv 2103.15316, which whitens sentence embeddings as a remedy). The proper term is high anisotropy, or low isotropy; the fixes in the literature are whitening and fine-tuning. Those papers study BERT-style representations, and contrastively trained retrieval models may be less affected, so say that your claim is about your own model. That abstracts, being homogeneous, pack the embeddings even tighter is your hypothesis, not a result. The 0.897 to 0.871 figure is the top five for who won the 2016 election in your toy set (0.897, 0.884, 0.881, 0.876, 0.871); the live-or-die query gave 0.849 down to 0.812. A cheap measurement for the Q&amp;A: the average cosine between random pairs of your sentences. If it sits near 0.8 rather than near 0, that is anisotropy on your own model. Anchoring each sentence to its record and field tells you where it lives, but it doesn’t shrink the crowd of look-alikes. If you have a test (say, abstracts against mixed text at the same shard size), that would turn this into a result; until then, say it is what you expect and what you have seen informally.</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0" name="Shape 620"/>
          <p:cNvSpPr/>
          <p:nvPr>
            <p:ph type="sldImg"/>
          </p:nvPr>
        </p:nvSpPr>
        <p:spPr>
          <a:prstGeom prst="rect">
            <a:avLst/>
          </a:prstGeom>
        </p:spPr>
        <p:txBody>
          <a:bodyPr/>
          <a:lstStyle/>
          <a:p>
            <a:pPr/>
          </a:p>
        </p:txBody>
      </p:sp>
      <p:sp>
        <p:nvSpPr>
          <p:cNvPr id="621" name="Shape 621"/>
          <p:cNvSpPr/>
          <p:nvPr>
            <p:ph type="body" sz="quarter" idx="1"/>
          </p:nvPr>
        </p:nvSpPr>
        <p:spPr>
          <a:prstGeom prst="rect">
            <a:avLst/>
          </a:prstGeom>
        </p:spPr>
        <p:txBody>
          <a:bodyPr/>
          <a:lstStyle/>
          <a:p>
            <a:pPr/>
            <a:r>
              <a:t>This is your position, so flag it as such: IVF, and especially IVF with product quantisation, is mainstream and widely used at very large scale (FAISS), and DiskANN is the other well-known route to disk-based scale. The slide is not claiming IVF fails; it is arguing that its requirements (a training pass, balanced cells, tuned probe counts, retraining when the data drifts) sit badly with bare-metal, commodity hardware and an index that grows incrementally. The four points are general properties of cluster-based indexes, not measurements of your engine; I have not benchmarked IVF against HNSW here and no number is on the slide on purpose. If someone asks why not IVF, the honest answer is: it is a reasonable choice at larger scale, and the slide is about the cost of operating it on the hardware you already own.</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2" name="Shape 632"/>
          <p:cNvSpPr/>
          <p:nvPr>
            <p:ph type="sldImg"/>
          </p:nvPr>
        </p:nvSpPr>
        <p:spPr>
          <a:prstGeom prst="rect">
            <a:avLst/>
          </a:prstGeom>
        </p:spPr>
        <p:txBody>
          <a:bodyPr/>
          <a:lstStyle/>
          <a:p>
            <a:pPr/>
          </a:p>
        </p:txBody>
      </p:sp>
      <p:sp>
        <p:nvSpPr>
          <p:cNvPr id="633" name="Shape 633"/>
          <p:cNvSpPr/>
          <p:nvPr>
            <p:ph type="body" sz="quarter" idx="1"/>
          </p:nvPr>
        </p:nvSpPr>
        <p:spPr>
          <a:prstGeom prst="rect">
            <a:avLst/>
          </a:prstGeom>
        </p:spPr>
        <p:txBody>
          <a:bodyPr/>
          <a:lstStyle/>
          <a:p>
            <a:pPr/>
            <a:r>
              <a:t>The loop back to the thesis. Everything on the vector side (hubness, a capacity limit per vector, fixed k, shards that concentrate answers) is a property of approximate similarity. Lexical and typed search is exact and positional, so it has none of these. The measured example is the earlier patents run: risc matrix with AND:CLAIM-TEXT narrows 656,519 records to one in about 20 to 27 ms, warm. Be precise about what is built: vector hits come back as spans with global addresses, so intersecting them with word and field matches is already how the engine combines evidence. I have not seen a pre-filter that restricts the vector search itself to the narrowed span set, so do not claim one unless it exists; say the two result sets intersect. Close by returning to the division of labour: the engine locates, the model understands.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4" name="Shape 654"/>
          <p:cNvSpPr/>
          <p:nvPr>
            <p:ph type="sldImg"/>
          </p:nvPr>
        </p:nvSpPr>
        <p:spPr>
          <a:prstGeom prst="rect">
            <a:avLst/>
          </a:prstGeom>
        </p:spPr>
        <p:txBody>
          <a:bodyPr/>
          <a:lstStyle/>
          <a:p>
            <a:pPr/>
          </a:p>
        </p:txBody>
      </p:sp>
      <p:sp>
        <p:nvSpPr>
          <p:cNvPr id="655" name="Shape 655"/>
          <p:cNvSpPr/>
          <p:nvPr>
            <p:ph type="body" sz="quarter" idx="1"/>
          </p:nvPr>
        </p:nvSpPr>
        <p:spPr>
          <a:prstGeom prst="rect">
            <a:avLst/>
          </a:prstGeom>
        </p:spPr>
        <p:txBody>
          <a:bodyPr/>
          <a:lstStyle/>
          <a:p>
            <a:pPr/>
            <a:r>
              <a:t>SIS = the sorted string table the word lookup goes through. Entry size is 1 + X + 8 with X = 20 by default, configurable up to 56, so 29 bytes: 6,817,829 × 29 is about 197.7 MB; confirm with ls -l before the talk. Overflow entries (marked *) record the posting range and only that range goes back to the text, so a long word costs a scan of its own postings, not the table. Wikipedia for comparison: 5,783,701 entries, about 168 MB at the same stride (computed, not measured). Tools: sisdump prints a table; sislearn shows how many entries fit in a given width. Caveat: this is the lookup structure, not the whole index; the postings are separate files.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5" name="Shape 675"/>
          <p:cNvSpPr/>
          <p:nvPr>
            <p:ph type="sldImg"/>
          </p:nvPr>
        </p:nvSpPr>
        <p:spPr>
          <a:prstGeom prst="rect">
            <a:avLst/>
          </a:prstGeom>
        </p:spPr>
        <p:txBody>
          <a:bodyPr/>
          <a:lstStyle/>
          <a:p>
            <a:pPr/>
          </a:p>
        </p:txBody>
      </p:sp>
      <p:sp>
        <p:nvSpPr>
          <p:cNvPr id="676" name="Shape 676"/>
          <p:cNvSpPr/>
          <p:nvPr>
            <p:ph type="body" sz="quarter" idx="1"/>
          </p:nvPr>
        </p:nvSpPr>
        <p:spPr>
          <a:prstGeom prst="rect">
            <a:avLst/>
          </a:prstGeom>
        </p:spPr>
        <p:txBody>
          <a:bodyPr/>
          <a:lstStyle/>
          <a:p>
            <a:pPr/>
            <a:r>
              <a:t>Philosophy: build on the slowest machine you intend to support, so every speed-up elsewhere is free; sovereign edge AI and a distributed commons of nodes on hardware people already own. The embedding latencies are measured on the M1 Pro with Metal. The other machines (M3 Pro, M4 Pro, AGX Orin, Dell RTX 50, MSI GT73 with 2× GTX 1080) have no numbers yet, so either collect a single comparable index time and embedding latency for each, or delete the bracketed line; do not describe them as faster without data.</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6" name="Shape 696"/>
          <p:cNvSpPr/>
          <p:nvPr>
            <p:ph type="sldImg"/>
          </p:nvPr>
        </p:nvSpPr>
        <p:spPr>
          <a:prstGeom prst="rect">
            <a:avLst/>
          </a:prstGeom>
        </p:spPr>
        <p:txBody>
          <a:bodyPr/>
          <a:lstStyle/>
          <a:p>
            <a:pPr/>
          </a:p>
        </p:txBody>
      </p:sp>
      <p:sp>
        <p:nvSpPr>
          <p:cNvPr id="697" name="Shape 697"/>
          <p:cNvSpPr/>
          <p:nvPr>
            <p:ph type="body" sz="quarter" idx="1"/>
          </p:nvPr>
        </p:nvSpPr>
        <p:spPr>
          <a:prstGeom prst="rect">
            <a:avLst/>
          </a:prstGeom>
        </p:spPr>
        <p:txBody>
          <a:bodyPr/>
          <a:lstStyle/>
          <a:p>
            <a:pPr/>
            <a:r>
              <a:t>Rate is computed: 2,021,312,071 words / 2,861 s is about 706,000 words per second. Wikipedia: 753,423,571 words in 1,459 s with a 4,096 MB pool; peak resident was about 9.7 GB there, so do not say memory use is small on that run, say it completed. Patents peaked at 6.8 GB resident with no swaps. Be candid that the merge-ordering bug (sources appearing out of order after CollapseIndexFiles) and a 32-bit truncation in RECORD were found and fixed while preparing these runs; the rebuilt index verifies at 656,519 records. That is a reason to trust the final numbers, not to hide them.</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1" name="Shape 711"/>
          <p:cNvSpPr/>
          <p:nvPr>
            <p:ph type="sldImg"/>
          </p:nvPr>
        </p:nvSpPr>
        <p:spPr>
          <a:prstGeom prst="rect">
            <a:avLst/>
          </a:prstGeom>
        </p:spPr>
        <p:txBody>
          <a:bodyPr/>
          <a:lstStyle/>
          <a:p>
            <a:pPr/>
          </a:p>
        </p:txBody>
      </p:sp>
      <p:sp>
        <p:nvSpPr>
          <p:cNvPr id="712" name="Shape 712"/>
          <p:cNvSpPr/>
          <p:nvPr>
            <p:ph type="body" sz="quarter" idx="1"/>
          </p:nvPr>
        </p:nvSpPr>
        <p:spPr>
          <a:prstGeom prst="rect">
            <a:avLst/>
          </a:prstGeom>
        </p:spPr>
        <p:txBody>
          <a:bodyPr/>
          <a:lstStyle/>
          <a:p>
            <a:pPr/>
            <a:r>
              <a:t>Say these before the audience does. Arithmetic ceiling: 2^24 records times 255 slots is about 4.28 billion records in one virtual database. The identifier is 32 bits (24-bit record, 8-bit slot). Unicode: the two-phase fold covers the cases tested, including für; known gaps are Georgian, capital </a:t>
            </a:r>
            <a:r>
              <a:rPr>
                <a:latin typeface="+mj-lt"/>
                <a:ea typeface="+mj-ea"/>
                <a:cs typeface="+mj-cs"/>
                <a:sym typeface="Helvetica"/>
              </a:rPr>
              <a:t>ẞ </a:t>
            </a:r>
            <a:r>
              <a:t>and Latin Extended-B, to be fixed after the talk. The SIMD sort is stubbed and not used, so do not mention SIMD as a feature. Not claimed: any BEIR-style score, or that evidence ranking is optimal.</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9" name="Shape 729"/>
          <p:cNvSpPr/>
          <p:nvPr>
            <p:ph type="sldImg"/>
          </p:nvPr>
        </p:nvSpPr>
        <p:spPr>
          <a:prstGeom prst="rect">
            <a:avLst/>
          </a:prstGeom>
        </p:spPr>
        <p:txBody>
          <a:bodyPr/>
          <a:lstStyle/>
          <a:p>
            <a:pPr/>
          </a:p>
        </p:txBody>
      </p:sp>
      <p:sp>
        <p:nvSpPr>
          <p:cNvPr id="730" name="Shape 730"/>
          <p:cNvSpPr/>
          <p:nvPr>
            <p:ph type="body" sz="quarter" idx="1"/>
          </p:nvPr>
        </p:nvSpPr>
        <p:spPr>
          <a:prstGeom prst="rect">
            <a:avLst/>
          </a:prstGeom>
        </p:spPr>
        <p:txBody>
          <a:bodyPr/>
          <a:lstStyle/>
          <a:p>
            <a:pPr/>
            <a:r>
              <a:t>Keep this last and short; it is an idea, not a result. The argument: injection works because retrieval returns text with no provenance. When every hit is a span inside a known field of a known record, the caller can restrict retrieval to fields it trusts and can show where each passage came from. Limits, said plainly: an instruction inside a permitted field still reaches the model; there is no test, no attack corpus and no measurement behind this yet. If asked for evidence, say none yet, and that it is the next thing to build. Good Q&amp;A slide to leave on screen.</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40" name="Shape 740"/>
          <p:cNvSpPr/>
          <p:nvPr>
            <p:ph type="sldImg"/>
          </p:nvPr>
        </p:nvSpPr>
        <p:spPr>
          <a:prstGeom prst="rect">
            <a:avLst/>
          </a:prstGeom>
        </p:spPr>
        <p:txBody>
          <a:bodyPr/>
          <a:lstStyle/>
          <a:p>
            <a:pPr/>
          </a:p>
        </p:txBody>
      </p:sp>
      <p:sp>
        <p:nvSpPr>
          <p:cNvPr id="741" name="Shape 741"/>
          <p:cNvSpPr/>
          <p:nvPr>
            <p:ph type="body" sz="quarter" idx="1"/>
          </p:nvPr>
        </p:nvSpPr>
        <p:spPr>
          <a:prstGeom prst="rect">
            <a:avLst/>
          </a:prstGeom>
        </p:spPr>
        <p:txBody>
          <a:bodyPr/>
          <a:lstStyle/>
          <a:p>
            <a:pPr/>
            <a:r>
              <a:t>Land the tagline and stop. Then take questions. Keep the prompt-injection slide one step back if you want it ready, and have the limits slide at hand for the BEIR and benchmark questions. Likely questions: why not run BEIR; what about recall for the vector side; how does it scale past 16M records; is the evidence ranking tunable.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body">
    <p:spTree>
      <p:nvGrpSpPr>
        <p:cNvPr id="1" name=""/>
        <p:cNvGrpSpPr/>
        <p:nvPr/>
      </p:nvGrpSpPr>
      <p:grpSpPr>
        <a:xfrm>
          <a:off x="0" y="0"/>
          <a:ext cx="0" cy="0"/>
          <a:chOff x="0" y="0"/>
          <a:chExt cx="0" cy="0"/>
        </a:xfrm>
      </p:grpSpPr>
      <p:sp>
        <p:nvSpPr>
          <p:cNvPr id="18" name="Title Text"/>
          <p:cNvSpPr txBox="1"/>
          <p:nvPr>
            <p:ph type="title"/>
          </p:nvPr>
        </p:nvSpPr>
        <p:spPr>
          <a:xfrm>
            <a:off x="812800" y="1239490"/>
            <a:ext cx="9906000" cy="1333501"/>
          </a:xfrm>
          <a:prstGeom prst="rect">
            <a:avLst/>
          </a:prstGeom>
        </p:spPr>
        <p:txBody>
          <a:bodyPr>
            <a:normAutofit fontScale="100000" lnSpcReduction="0"/>
          </a:bodyPr>
          <a:lstStyle/>
          <a:p>
            <a:pPr/>
            <a:r>
              <a:t>Title Text</a:t>
            </a:r>
          </a:p>
        </p:txBody>
      </p:sp>
      <p:sp>
        <p:nvSpPr>
          <p:cNvPr id="19" name="Body Level One…"/>
          <p:cNvSpPr txBox="1"/>
          <p:nvPr>
            <p:ph type="body" idx="1"/>
          </p:nvPr>
        </p:nvSpPr>
        <p:spPr>
          <a:xfrm>
            <a:off x="812800" y="2877790"/>
            <a:ext cx="10566400" cy="3167410"/>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2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body">
    <p:bg>
      <p:bgPr>
        <a:solidFill>
          <a:srgbClr val="12161C"/>
        </a:solidFill>
      </p:bgPr>
    </p:bg>
    <p:spTree>
      <p:nvGrpSpPr>
        <p:cNvPr id="1" name=""/>
        <p:cNvGrpSpPr/>
        <p:nvPr/>
      </p:nvGrpSpPr>
      <p:grpSpPr>
        <a:xfrm>
          <a:off x="0" y="0"/>
          <a:ext cx="0" cy="0"/>
          <a:chOff x="0" y="0"/>
          <a:chExt cx="0" cy="0"/>
        </a:xfrm>
      </p:grpSpPr>
      <p:sp>
        <p:nvSpPr>
          <p:cNvPr id="27" name="Title Text"/>
          <p:cNvSpPr txBox="1"/>
          <p:nvPr>
            <p:ph type="title"/>
          </p:nvPr>
        </p:nvSpPr>
        <p:spPr>
          <a:xfrm>
            <a:off x="812800" y="1267420"/>
            <a:ext cx="10566400" cy="516856"/>
          </a:xfrm>
          <a:prstGeom prst="rect">
            <a:avLst/>
          </a:prstGeom>
        </p:spPr>
        <p:txBody>
          <a:bodyPr>
            <a:normAutofit fontScale="100000" lnSpcReduction="0"/>
          </a:bodyPr>
          <a:lstStyle>
            <a:lvl1pPr>
              <a:defRPr sz="3700">
                <a:solidFill>
                  <a:srgbClr val="F3F1EA"/>
                </a:solidFill>
                <a:latin typeface="+mn-lt"/>
                <a:ea typeface="+mn-ea"/>
                <a:cs typeface="+mn-cs"/>
                <a:sym typeface="IBM Plex Sans"/>
              </a:defRPr>
            </a:lvl1pPr>
          </a:lstStyle>
          <a:p>
            <a:pPr/>
            <a:r>
              <a:t>Title Text</a:t>
            </a:r>
          </a:p>
        </p:txBody>
      </p:sp>
      <p:sp>
        <p:nvSpPr>
          <p:cNvPr id="28" name="Body Level One…"/>
          <p:cNvSpPr txBox="1"/>
          <p:nvPr>
            <p:ph type="body" idx="1"/>
          </p:nvPr>
        </p:nvSpPr>
        <p:spPr>
          <a:xfrm>
            <a:off x="812800" y="2089075"/>
            <a:ext cx="10566400" cy="3956125"/>
          </a:xfrm>
          <a:prstGeom prst="rect">
            <a:avLst/>
          </a:prstGeom>
        </p:spPr>
        <p:txBody>
          <a:bodyPr>
            <a:normAutofit fontScale="100000" lnSpcReduction="0"/>
          </a:bodyPr>
          <a:lstStyle>
            <a:lvl1pPr>
              <a:defRPr>
                <a:solidFill>
                  <a:srgbClr val="F3F1EA"/>
                </a:solidFill>
              </a:defRPr>
            </a:lvl1pPr>
            <a:lvl2pPr>
              <a:defRPr>
                <a:solidFill>
                  <a:srgbClr val="F3F1EA"/>
                </a:solidFill>
              </a:defRPr>
            </a:lvl2pPr>
            <a:lvl3pPr>
              <a:defRPr>
                <a:solidFill>
                  <a:srgbClr val="F3F1EA"/>
                </a:solidFill>
              </a:defRPr>
            </a:lvl3pPr>
            <a:lvl4pPr>
              <a:defRPr>
                <a:solidFill>
                  <a:srgbClr val="F3F1EA"/>
                </a:solidFill>
              </a:defRPr>
            </a:lvl4pPr>
            <a:lvl5pPr>
              <a:defRPr>
                <a:solidFill>
                  <a:srgbClr val="F3F1EA"/>
                </a:solidFill>
              </a:defRPr>
            </a:lvl5pPr>
          </a:lstStyle>
          <a:p>
            <a:pPr/>
            <a:r>
              <a:t>Body Level One</a:t>
            </a:r>
          </a:p>
          <a:p>
            <a:pPr lvl="1"/>
            <a:r>
              <a:t>Body Level Two</a:t>
            </a:r>
          </a:p>
          <a:p>
            <a:pPr lvl="2"/>
            <a:r>
              <a:t>Body Level Three</a:t>
            </a:r>
          </a:p>
          <a:p>
            <a:pPr lvl="3"/>
            <a:r>
              <a:t>Body Level Four</a:t>
            </a:r>
          </a:p>
          <a:p>
            <a:pPr lvl="4"/>
            <a:r>
              <a:t>Body Level Five</a:t>
            </a:r>
          </a:p>
        </p:txBody>
      </p:sp>
      <p:sp>
        <p:nvSpPr>
          <p:cNvPr id="29" name="Slide Number"/>
          <p:cNvSpPr txBox="1"/>
          <p:nvPr>
            <p:ph type="sldNum" sz="quarter" idx="2"/>
          </p:nvPr>
        </p:nvSpPr>
        <p:spPr>
          <a:prstGeom prst="rect">
            <a:avLst/>
          </a:prstGeom>
        </p:spPr>
        <p:txBody>
          <a:bodyPr/>
          <a:lstStyle>
            <a:lvl1pPr>
              <a:defRPr>
                <a:solidFill>
                  <a:srgbClr val="F3F1E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6" name="Slide Number"/>
          <p:cNvSpPr txBox="1"/>
          <p:nvPr>
            <p:ph type="sldNum" sz="quarter" idx="2"/>
          </p:nvPr>
        </p:nvSpPr>
        <p:spPr>
          <a:xfrm>
            <a:off x="11772899" y="6229350"/>
            <a:ext cx="200661" cy="214631"/>
          </a:xfrm>
          <a:prstGeom prst="rect">
            <a:avLst/>
          </a:prstGeom>
        </p:spPr>
        <p:txBody>
          <a:bodyPr lIns="25400" tIns="25400" rIns="25400" bIns="25400" anchor="b"/>
          <a:lstStyle>
            <a:lvl1pPr defTabSz="292100">
              <a:defRPr sz="1000">
                <a:solidFill>
                  <a:srgbClr val="535860"/>
                </a:solidFill>
                <a:latin typeface="Graphik"/>
                <a:ea typeface="Graphik"/>
                <a:cs typeface="Graphik"/>
                <a:sym typeface="Graphik"/>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body">
    <p:spTree>
      <p:nvGrpSpPr>
        <p:cNvPr id="1" name=""/>
        <p:cNvGrpSpPr/>
        <p:nvPr/>
      </p:nvGrpSpPr>
      <p:grpSpPr>
        <a:xfrm>
          <a:off x="0" y="0"/>
          <a:ext cx="0" cy="0"/>
          <a:chOff x="0" y="0"/>
          <a:chExt cx="0" cy="0"/>
        </a:xfrm>
      </p:grpSpPr>
      <p:sp>
        <p:nvSpPr>
          <p:cNvPr id="43" name="Title Text"/>
          <p:cNvSpPr txBox="1"/>
          <p:nvPr>
            <p:ph type="title"/>
          </p:nvPr>
        </p:nvSpPr>
        <p:spPr>
          <a:xfrm>
            <a:off x="812800" y="1239490"/>
            <a:ext cx="9906000" cy="1386781"/>
          </a:xfrm>
          <a:prstGeom prst="rect">
            <a:avLst/>
          </a:prstGeom>
        </p:spPr>
        <p:txBody>
          <a:bodyPr>
            <a:normAutofit fontScale="100000" lnSpcReduction="0"/>
          </a:bodyPr>
          <a:lstStyle>
            <a:lvl1pPr>
              <a:defRPr>
                <a:latin typeface="Chalkboard"/>
                <a:ea typeface="Chalkboard"/>
                <a:cs typeface="Chalkboard"/>
                <a:sym typeface="Chalkboard"/>
              </a:defRPr>
            </a:lvl1pPr>
          </a:lstStyle>
          <a:p>
            <a:pPr/>
            <a:r>
              <a:t>Title Text</a:t>
            </a:r>
          </a:p>
        </p:txBody>
      </p:sp>
      <p:sp>
        <p:nvSpPr>
          <p:cNvPr id="44" name="Body Level One…"/>
          <p:cNvSpPr txBox="1"/>
          <p:nvPr>
            <p:ph type="body" sz="half" idx="1"/>
          </p:nvPr>
        </p:nvSpPr>
        <p:spPr>
          <a:xfrm>
            <a:off x="812800" y="2931071"/>
            <a:ext cx="10566400" cy="3114129"/>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52" name="Slide Title"/>
          <p:cNvSpPr txBox="1"/>
          <p:nvPr>
            <p:ph type="title" hasCustomPrompt="1"/>
          </p:nvPr>
        </p:nvSpPr>
        <p:spPr>
          <a:xfrm>
            <a:off x="603250" y="539750"/>
            <a:ext cx="10985500" cy="716582"/>
          </a:xfrm>
          <a:prstGeom prst="rect">
            <a:avLst/>
          </a:prstGeom>
        </p:spPr>
        <p:txBody>
          <a:bodyPr lIns="25400" tIns="25400" rIns="25400" bIns="25400">
            <a:normAutofit fontScale="100000" lnSpcReduction="0"/>
          </a:bodyPr>
          <a:lstStyle>
            <a:lvl1pPr defTabSz="1219168">
              <a:lnSpc>
                <a:spcPct val="80000"/>
              </a:lnSpc>
              <a:defRPr b="1" spc="-84" sz="4200">
                <a:solidFill>
                  <a:srgbClr val="000000"/>
                </a:solidFill>
                <a:latin typeface="Helvetica Neue"/>
                <a:ea typeface="Helvetica Neue"/>
                <a:cs typeface="Helvetica Neue"/>
                <a:sym typeface="Helvetica Neue"/>
              </a:defRPr>
            </a:lvl1pPr>
          </a:lstStyle>
          <a:p>
            <a:pPr/>
            <a:r>
              <a:t>Slide Title</a:t>
            </a:r>
          </a:p>
        </p:txBody>
      </p:sp>
      <p:sp>
        <p:nvSpPr>
          <p:cNvPr id="53" name="Body Level One…"/>
          <p:cNvSpPr txBox="1"/>
          <p:nvPr>
            <p:ph type="body" sz="quarter" idx="1" hasCustomPrompt="1"/>
          </p:nvPr>
        </p:nvSpPr>
        <p:spPr>
          <a:xfrm>
            <a:off x="603250" y="1186480"/>
            <a:ext cx="10985500" cy="467391"/>
          </a:xfrm>
          <a:prstGeom prst="rect">
            <a:avLst/>
          </a:prstGeom>
        </p:spPr>
        <p:txBody>
          <a:bodyPr lIns="22859" tIns="22859" rIns="22859" bIns="22859">
            <a:normAutofit fontScale="100000" lnSpcReduction="0"/>
          </a:bodyPr>
          <a:lstStyle>
            <a:lvl1pPr defTabSz="412750">
              <a:lnSpc>
                <a:spcPct val="100000"/>
              </a:lnSpc>
              <a:spcBef>
                <a:spcPts val="0"/>
              </a:spcBef>
              <a:defRPr b="1" sz="2600">
                <a:solidFill>
                  <a:srgbClr val="000000"/>
                </a:solidFill>
                <a:latin typeface="Helvetica Neue"/>
                <a:ea typeface="Helvetica Neue"/>
                <a:cs typeface="Helvetica Neue"/>
                <a:sym typeface="Helvetica Neue"/>
              </a:defRPr>
            </a:lvl1pPr>
            <a:lvl2pPr marL="939800" indent="-330200" defTabSz="412750">
              <a:lnSpc>
                <a:spcPct val="100000"/>
              </a:lnSpc>
              <a:spcBef>
                <a:spcPts val="0"/>
              </a:spcBef>
              <a:buSzPct val="123000"/>
              <a:buChar char="•"/>
              <a:defRPr b="1" sz="2600">
                <a:solidFill>
                  <a:srgbClr val="000000"/>
                </a:solidFill>
                <a:latin typeface="Helvetica Neue"/>
                <a:ea typeface="Helvetica Neue"/>
                <a:cs typeface="Helvetica Neue"/>
                <a:sym typeface="Helvetica Neue"/>
              </a:defRPr>
            </a:lvl2pPr>
            <a:lvl3pPr marL="1549400" indent="-330200" defTabSz="412750">
              <a:lnSpc>
                <a:spcPct val="100000"/>
              </a:lnSpc>
              <a:spcBef>
                <a:spcPts val="0"/>
              </a:spcBef>
              <a:buSzPct val="123000"/>
              <a:defRPr b="1" sz="2600">
                <a:solidFill>
                  <a:srgbClr val="000000"/>
                </a:solidFill>
                <a:latin typeface="Helvetica Neue"/>
                <a:ea typeface="Helvetica Neue"/>
                <a:cs typeface="Helvetica Neue"/>
                <a:sym typeface="Helvetica Neue"/>
              </a:defRPr>
            </a:lvl3pPr>
            <a:lvl4pPr marL="2159000" indent="-330200" defTabSz="412750">
              <a:lnSpc>
                <a:spcPct val="100000"/>
              </a:lnSpc>
              <a:spcBef>
                <a:spcPts val="0"/>
              </a:spcBef>
              <a:buSzPct val="123000"/>
              <a:buChar char="•"/>
              <a:defRPr b="1" sz="2600">
                <a:solidFill>
                  <a:srgbClr val="000000"/>
                </a:solidFill>
                <a:latin typeface="Helvetica Neue"/>
                <a:ea typeface="Helvetica Neue"/>
                <a:cs typeface="Helvetica Neue"/>
                <a:sym typeface="Helvetica Neue"/>
              </a:defRPr>
            </a:lvl4pPr>
            <a:lvl5pPr marL="2768600" indent="-330200" defTabSz="412750">
              <a:lnSpc>
                <a:spcPct val="100000"/>
              </a:lnSpc>
              <a:spcBef>
                <a:spcPts val="0"/>
              </a:spcBef>
              <a:buSzPct val="123000"/>
              <a:buChar char="•"/>
              <a:defRPr b="1" sz="2600">
                <a:solidFill>
                  <a:srgbClr val="000000"/>
                </a:solidFill>
                <a:latin typeface="Helvetica Neue"/>
                <a:ea typeface="Helvetica Neue"/>
                <a:cs typeface="Helvetica Neue"/>
                <a:sym typeface="Helvetica Neue"/>
              </a:defRPr>
            </a:lvl5pPr>
          </a:lstStyle>
          <a:p>
            <a:pPr/>
            <a:r>
              <a:t>Slide Subtitle</a:t>
            </a:r>
          </a:p>
          <a:p>
            <a:pPr lvl="1"/>
            <a:r>
              <a:t/>
            </a:r>
          </a:p>
          <a:p>
            <a:pPr lvl="2"/>
            <a:r>
              <a:t/>
            </a:r>
          </a:p>
          <a:p>
            <a:pPr lvl="3"/>
            <a:r>
              <a:t/>
            </a:r>
          </a:p>
          <a:p>
            <a:pPr lvl="4"/>
            <a:r>
              <a:t/>
            </a:r>
          </a:p>
        </p:txBody>
      </p:sp>
      <p:sp>
        <p:nvSpPr>
          <p:cNvPr id="54" name="Body Level One…"/>
          <p:cNvSpPr txBox="1"/>
          <p:nvPr>
            <p:ph type="body" idx="21" hasCustomPrompt="1"/>
          </p:nvPr>
        </p:nvSpPr>
        <p:spPr>
          <a:xfrm>
            <a:off x="603250" y="2124251"/>
            <a:ext cx="10985500" cy="4128008"/>
          </a:xfrm>
          <a:prstGeom prst="rect">
            <a:avLst/>
          </a:prstGeom>
        </p:spPr>
        <p:txBody>
          <a:bodyPr lIns="25400" tIns="25400" rIns="25400" bIns="25400">
            <a:normAutofit fontScale="100000" lnSpcReduction="0"/>
          </a:bodyPr>
          <a:lstStyle>
            <a:lvl1pPr marL="304800" indent="-304800" defTabSz="1219168">
              <a:lnSpc>
                <a:spcPct val="90000"/>
              </a:lnSpc>
              <a:spcBef>
                <a:spcPts val="2200"/>
              </a:spcBef>
              <a:buSzPct val="123000"/>
              <a:buChar char="•"/>
              <a:defRPr sz="2400">
                <a:solidFill>
                  <a:srgbClr val="000000"/>
                </a:solidFill>
                <a:latin typeface="Helvetica Neue"/>
                <a:ea typeface="Helvetica Neue"/>
                <a:cs typeface="Helvetica Neue"/>
                <a:sym typeface="Helvetica Neue"/>
              </a:defRPr>
            </a:lvl1pPr>
          </a:lstStyle>
          <a:p>
            <a:pPr/>
            <a:r>
              <a:t>Slide bullet text</a:t>
            </a:r>
          </a:p>
        </p:txBody>
      </p:sp>
      <p:sp>
        <p:nvSpPr>
          <p:cNvPr id="55" name="Slide Number"/>
          <p:cNvSpPr txBox="1"/>
          <p:nvPr>
            <p:ph type="sldNum" sz="quarter" idx="2"/>
          </p:nvPr>
        </p:nvSpPr>
        <p:spPr>
          <a:xfrm>
            <a:off x="5997574" y="6540499"/>
            <a:ext cx="190603" cy="187301"/>
          </a:xfrm>
          <a:prstGeom prst="rect">
            <a:avLst/>
          </a:prstGeom>
        </p:spPr>
        <p:txBody>
          <a:bodyPr lIns="25400" tIns="25400" rIns="25400" bIns="25400" anchor="b"/>
          <a:lstStyle>
            <a:lvl1pPr algn="ctr" defTabSz="292100">
              <a:defRPr sz="900">
                <a:solidFill>
                  <a:srgbClr val="000000"/>
                </a:solidFill>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62" name="Body Level One…"/>
          <p:cNvSpPr txBox="1"/>
          <p:nvPr>
            <p:ph type="body" sz="quarter" idx="1" hasCustomPrompt="1"/>
          </p:nvPr>
        </p:nvSpPr>
        <p:spPr>
          <a:xfrm>
            <a:off x="603250" y="1162050"/>
            <a:ext cx="10985500" cy="501650"/>
          </a:xfrm>
          <a:prstGeom prst="rect">
            <a:avLst/>
          </a:prstGeom>
        </p:spPr>
        <p:txBody>
          <a:bodyPr lIns="22859" tIns="22859" rIns="22859" bIns="22859">
            <a:normAutofit fontScale="100000" lnSpcReduction="0"/>
          </a:bodyPr>
          <a:lstStyle>
            <a:lvl1pPr defTabSz="412750">
              <a:lnSpc>
                <a:spcPct val="100000"/>
              </a:lnSpc>
              <a:spcBef>
                <a:spcPts val="0"/>
              </a:spcBef>
              <a:defRPr sz="2600">
                <a:solidFill>
                  <a:srgbClr val="535860"/>
                </a:solidFill>
                <a:latin typeface="Produkt Extralight"/>
                <a:ea typeface="Produkt Extralight"/>
                <a:cs typeface="Produkt Extralight"/>
                <a:sym typeface="Produkt Extralight"/>
              </a:defRPr>
            </a:lvl1pPr>
            <a:lvl2pPr marL="754380" indent="-297180" defTabSz="412750">
              <a:lnSpc>
                <a:spcPct val="100000"/>
              </a:lnSpc>
              <a:spcBef>
                <a:spcPts val="0"/>
              </a:spcBef>
              <a:buChar char="•"/>
              <a:defRPr sz="2600">
                <a:solidFill>
                  <a:srgbClr val="535860"/>
                </a:solidFill>
                <a:latin typeface="Produkt Extralight"/>
                <a:ea typeface="Produkt Extralight"/>
                <a:cs typeface="Produkt Extralight"/>
                <a:sym typeface="Produkt Extralight"/>
              </a:defRPr>
            </a:lvl2pPr>
            <a:lvl3pPr marL="1211580" indent="-297180" defTabSz="412750">
              <a:lnSpc>
                <a:spcPct val="100000"/>
              </a:lnSpc>
              <a:spcBef>
                <a:spcPts val="0"/>
              </a:spcBef>
              <a:defRPr sz="2600">
                <a:solidFill>
                  <a:srgbClr val="535860"/>
                </a:solidFill>
                <a:latin typeface="Produkt Extralight"/>
                <a:ea typeface="Produkt Extralight"/>
                <a:cs typeface="Produkt Extralight"/>
                <a:sym typeface="Produkt Extralight"/>
              </a:defRPr>
            </a:lvl3pPr>
            <a:lvl4pPr marL="1668779" indent="-297179" defTabSz="412750">
              <a:lnSpc>
                <a:spcPct val="100000"/>
              </a:lnSpc>
              <a:spcBef>
                <a:spcPts val="0"/>
              </a:spcBef>
              <a:buChar char="•"/>
              <a:defRPr sz="2600">
                <a:solidFill>
                  <a:srgbClr val="535860"/>
                </a:solidFill>
                <a:latin typeface="Produkt Extralight"/>
                <a:ea typeface="Produkt Extralight"/>
                <a:cs typeface="Produkt Extralight"/>
                <a:sym typeface="Produkt Extralight"/>
              </a:defRPr>
            </a:lvl4pPr>
            <a:lvl5pPr marL="2125979" indent="-297179" defTabSz="412750">
              <a:lnSpc>
                <a:spcPct val="100000"/>
              </a:lnSpc>
              <a:spcBef>
                <a:spcPts val="0"/>
              </a:spcBef>
              <a:buChar char="•"/>
              <a:defRPr sz="2600">
                <a:solidFill>
                  <a:srgbClr val="535860"/>
                </a:solidFill>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63" name="Slide Title"/>
          <p:cNvSpPr txBox="1"/>
          <p:nvPr>
            <p:ph type="title" hasCustomPrompt="1"/>
          </p:nvPr>
        </p:nvSpPr>
        <p:spPr>
          <a:xfrm>
            <a:off x="603250" y="317500"/>
            <a:ext cx="10985500" cy="844550"/>
          </a:xfrm>
          <a:prstGeom prst="rect">
            <a:avLst/>
          </a:prstGeom>
        </p:spPr>
        <p:txBody>
          <a:bodyPr lIns="25400" tIns="25400" rIns="25400" bIns="25400">
            <a:normAutofit fontScale="100000" lnSpcReduction="0"/>
          </a:bodyPr>
          <a:lstStyle>
            <a:lvl1pPr defTabSz="1219200">
              <a:lnSpc>
                <a:spcPct val="90000"/>
              </a:lnSpc>
              <a:defRPr spc="-50" sz="5000">
                <a:solidFill>
                  <a:srgbClr val="535860"/>
                </a:solidFill>
                <a:latin typeface="Produkt Extralight"/>
                <a:ea typeface="Produkt Extralight"/>
                <a:cs typeface="Produkt Extralight"/>
                <a:sym typeface="Produkt Extralight"/>
              </a:defRPr>
            </a:lvl1pPr>
          </a:lstStyle>
          <a:p>
            <a:pPr/>
            <a:r>
              <a:t>Slide Title</a:t>
            </a:r>
          </a:p>
        </p:txBody>
      </p:sp>
      <p:sp>
        <p:nvSpPr>
          <p:cNvPr id="64" name="Body Level One…"/>
          <p:cNvSpPr txBox="1"/>
          <p:nvPr>
            <p:ph type="body" idx="21" hasCustomPrompt="1"/>
          </p:nvPr>
        </p:nvSpPr>
        <p:spPr>
          <a:xfrm>
            <a:off x="603250" y="2124251"/>
            <a:ext cx="10985500" cy="4128008"/>
          </a:xfrm>
          <a:prstGeom prst="rect">
            <a:avLst/>
          </a:prstGeom>
        </p:spPr>
        <p:txBody>
          <a:bodyPr lIns="25400" tIns="25400" rIns="25400" bIns="25400">
            <a:normAutofit fontScale="100000" lnSpcReduction="0"/>
          </a:bodyPr>
          <a:lstStyle>
            <a:lvl1pPr marL="228600" indent="-228600" defTabSz="177800">
              <a:lnSpc>
                <a:spcPct val="100000"/>
              </a:lnSpc>
              <a:spcBef>
                <a:spcPts val="2300"/>
              </a:spcBef>
              <a:buSzPct val="100000"/>
              <a:buChar char="•"/>
              <a:defRPr sz="2000">
                <a:solidFill>
                  <a:srgbClr val="535860"/>
                </a:solidFill>
                <a:latin typeface="Graphik Light"/>
                <a:ea typeface="Graphik Light"/>
                <a:cs typeface="Graphik Light"/>
                <a:sym typeface="Graphik Light"/>
              </a:defRPr>
            </a:lvl1pPr>
          </a:lstStyle>
          <a:p>
            <a:pPr/>
            <a:r>
              <a:t>Slide bullet text</a:t>
            </a:r>
          </a:p>
        </p:txBody>
      </p:sp>
      <p:sp>
        <p:nvSpPr>
          <p:cNvPr id="65" name="Slide Number"/>
          <p:cNvSpPr txBox="1"/>
          <p:nvPr>
            <p:ph type="sldNum" sz="quarter" idx="2"/>
          </p:nvPr>
        </p:nvSpPr>
        <p:spPr>
          <a:xfrm>
            <a:off x="11772899" y="6229350"/>
            <a:ext cx="200661" cy="214631"/>
          </a:xfrm>
          <a:prstGeom prst="rect">
            <a:avLst/>
          </a:prstGeom>
        </p:spPr>
        <p:txBody>
          <a:bodyPr lIns="25400" tIns="25400" rIns="25400" bIns="25400" anchor="b"/>
          <a:lstStyle>
            <a:lvl1pPr defTabSz="292100">
              <a:defRPr sz="1000">
                <a:solidFill>
                  <a:srgbClr val="535860"/>
                </a:solidFill>
                <a:latin typeface="Graphik"/>
                <a:ea typeface="Graphik"/>
                <a:cs typeface="Graphik"/>
                <a:sym typeface="Graphik"/>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72" name="Body Level One…"/>
          <p:cNvSpPr txBox="1"/>
          <p:nvPr>
            <p:ph type="body" sz="half" idx="1" hasCustomPrompt="1"/>
          </p:nvPr>
        </p:nvSpPr>
        <p:spPr>
          <a:xfrm>
            <a:off x="603250" y="2095500"/>
            <a:ext cx="10985500" cy="2044700"/>
          </a:xfrm>
          <a:prstGeom prst="rect">
            <a:avLst/>
          </a:prstGeom>
        </p:spPr>
        <p:txBody>
          <a:bodyPr lIns="25400" tIns="25400" rIns="25400" bIns="25400" anchor="ctr">
            <a:normAutofit fontScale="100000" lnSpcReduction="0"/>
          </a:bodyPr>
          <a:lstStyle>
            <a:lvl1pPr algn="ctr" defTabSz="1219200">
              <a:lnSpc>
                <a:spcPct val="90000"/>
              </a:lnSpc>
              <a:spcBef>
                <a:spcPts val="0"/>
              </a:spcBef>
              <a:defRPr spc="-59" sz="6000">
                <a:solidFill>
                  <a:srgbClr val="535860"/>
                </a:solidFill>
                <a:latin typeface="Produkt Extralight"/>
                <a:ea typeface="Produkt Extralight"/>
                <a:cs typeface="Produkt Extralight"/>
                <a:sym typeface="Produkt Extralight"/>
              </a:defRPr>
            </a:lvl1pPr>
            <a:lvl2pPr marL="0" indent="0" algn="ctr" defTabSz="1219200">
              <a:lnSpc>
                <a:spcPct val="90000"/>
              </a:lnSpc>
              <a:spcBef>
                <a:spcPts val="0"/>
              </a:spcBef>
              <a:buSzTx/>
              <a:buNone/>
              <a:defRPr spc="-59" sz="6000">
                <a:solidFill>
                  <a:srgbClr val="535860"/>
                </a:solidFill>
                <a:latin typeface="Produkt Extralight"/>
                <a:ea typeface="Produkt Extralight"/>
                <a:cs typeface="Produkt Extralight"/>
                <a:sym typeface="Produkt Extralight"/>
              </a:defRPr>
            </a:lvl2pPr>
            <a:lvl3pPr marL="0" indent="0" algn="ctr" defTabSz="1219200">
              <a:lnSpc>
                <a:spcPct val="90000"/>
              </a:lnSpc>
              <a:spcBef>
                <a:spcPts val="0"/>
              </a:spcBef>
              <a:buSzTx/>
              <a:buNone/>
              <a:defRPr spc="-59" sz="6000">
                <a:solidFill>
                  <a:srgbClr val="535860"/>
                </a:solidFill>
                <a:latin typeface="Produkt Extralight"/>
                <a:ea typeface="Produkt Extralight"/>
                <a:cs typeface="Produkt Extralight"/>
                <a:sym typeface="Produkt Extralight"/>
              </a:defRPr>
            </a:lvl3pPr>
            <a:lvl4pPr marL="0" indent="0" algn="ctr" defTabSz="1219200">
              <a:lnSpc>
                <a:spcPct val="90000"/>
              </a:lnSpc>
              <a:spcBef>
                <a:spcPts val="0"/>
              </a:spcBef>
              <a:buSzTx/>
              <a:buNone/>
              <a:defRPr spc="-59" sz="6000">
                <a:solidFill>
                  <a:srgbClr val="535860"/>
                </a:solidFill>
                <a:latin typeface="Produkt Extralight"/>
                <a:ea typeface="Produkt Extralight"/>
                <a:cs typeface="Produkt Extralight"/>
                <a:sym typeface="Produkt Extralight"/>
              </a:defRPr>
            </a:lvl4pPr>
            <a:lvl5pPr marL="0" indent="0" algn="ctr" defTabSz="1219200">
              <a:lnSpc>
                <a:spcPct val="90000"/>
              </a:lnSpc>
              <a:spcBef>
                <a:spcPts val="0"/>
              </a:spcBef>
              <a:buSzTx/>
              <a:buNone/>
              <a:defRPr spc="-59" sz="6000">
                <a:solidFill>
                  <a:srgbClr val="535860"/>
                </a:solidFill>
                <a:latin typeface="Produkt Extralight"/>
                <a:ea typeface="Produkt Extralight"/>
                <a:cs typeface="Produkt Extralight"/>
                <a:sym typeface="Produkt Extralight"/>
              </a:defRPr>
            </a:lvl5pPr>
          </a:lstStyle>
          <a:p>
            <a:pPr/>
            <a:r>
              <a:t>Statement</a:t>
            </a:r>
          </a:p>
          <a:p>
            <a:pPr lvl="1"/>
            <a:r>
              <a:t/>
            </a:r>
          </a:p>
          <a:p>
            <a:pPr lvl="2"/>
            <a:r>
              <a:t/>
            </a:r>
          </a:p>
          <a:p>
            <a:pPr lvl="3"/>
            <a:r>
              <a:t/>
            </a:r>
          </a:p>
          <a:p>
            <a:pPr lvl="4"/>
            <a:r>
              <a:t/>
            </a:r>
          </a:p>
        </p:txBody>
      </p:sp>
      <p:sp>
        <p:nvSpPr>
          <p:cNvPr id="73" name="Slide Number"/>
          <p:cNvSpPr txBox="1"/>
          <p:nvPr>
            <p:ph type="sldNum" sz="quarter" idx="2"/>
          </p:nvPr>
        </p:nvSpPr>
        <p:spPr>
          <a:xfrm>
            <a:off x="11772899" y="6229350"/>
            <a:ext cx="200661" cy="214631"/>
          </a:xfrm>
          <a:prstGeom prst="rect">
            <a:avLst/>
          </a:prstGeom>
        </p:spPr>
        <p:txBody>
          <a:bodyPr lIns="25400" tIns="25400" rIns="25400" bIns="25400" anchor="b"/>
          <a:lstStyle>
            <a:lvl1pPr defTabSz="292100">
              <a:defRPr sz="1000">
                <a:solidFill>
                  <a:srgbClr val="535860"/>
                </a:solidFill>
                <a:latin typeface="Graphik"/>
                <a:ea typeface="Graphik"/>
                <a:cs typeface="Graphik"/>
                <a:sym typeface="Graphik"/>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body">
    <p:spTree>
      <p:nvGrpSpPr>
        <p:cNvPr id="1" name=""/>
        <p:cNvGrpSpPr/>
        <p:nvPr/>
      </p:nvGrpSpPr>
      <p:grpSpPr>
        <a:xfrm>
          <a:off x="0" y="0"/>
          <a:ext cx="0" cy="0"/>
          <a:chOff x="0" y="0"/>
          <a:chExt cx="0" cy="0"/>
        </a:xfrm>
      </p:grpSpPr>
      <p:sp>
        <p:nvSpPr>
          <p:cNvPr id="80" name="Title Text"/>
          <p:cNvSpPr txBox="1"/>
          <p:nvPr>
            <p:ph type="title"/>
          </p:nvPr>
        </p:nvSpPr>
        <p:spPr>
          <a:xfrm>
            <a:off x="812800" y="1214090"/>
            <a:ext cx="9906000" cy="1333501"/>
          </a:xfrm>
          <a:prstGeom prst="rect">
            <a:avLst/>
          </a:prstGeom>
        </p:spPr>
        <p:txBody>
          <a:bodyPr>
            <a:normAutofit fontScale="100000" lnSpcReduction="0"/>
          </a:bodyPr>
          <a:lstStyle/>
          <a:p>
            <a:pPr/>
            <a:r>
              <a:t>Title Text</a:t>
            </a:r>
          </a:p>
        </p:txBody>
      </p:sp>
      <p:sp>
        <p:nvSpPr>
          <p:cNvPr id="81" name="Body Level One…"/>
          <p:cNvSpPr txBox="1"/>
          <p:nvPr>
            <p:ph type="body" idx="1"/>
          </p:nvPr>
        </p:nvSpPr>
        <p:spPr>
          <a:xfrm>
            <a:off x="812800" y="2852390"/>
            <a:ext cx="10566400" cy="3192810"/>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8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14181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274637"/>
            <a:ext cx="10972800" cy="1325564"/>
          </a:xfrm>
          <a:prstGeom prst="rect">
            <a:avLst/>
          </a:prstGeom>
          <a:ln w="12700">
            <a:miter lim="400000"/>
          </a:ln>
          <a:extLst>
            <a:ext uri="{C572A759-6A51-4108-AA02-DFA0A04FC94B}">
              <ma14:wrappingTextBoxFlag xmlns:ma14="http://schemas.microsoft.com/office/mac/drawingml/2011/main" val="1"/>
            </a:ext>
          </a:extLst>
        </p:spPr>
        <p:txBody>
          <a:bodyPr lIns="0" tIns="0" rIns="0" bIns="0"/>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0" tIns="0" rIns="0" bIns="0"/>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solidFill>
                  <a:srgbClr val="ECE8DD"/>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l" defTabSz="914400" rtl="0" latinLnBrk="0">
        <a:lnSpc>
          <a:spcPct val="115000"/>
        </a:lnSpc>
        <a:spcBef>
          <a:spcPts val="0"/>
        </a:spcBef>
        <a:spcAft>
          <a:spcPts val="0"/>
        </a:spcAft>
        <a:buClrTx/>
        <a:buSzTx/>
        <a:buFontTx/>
        <a:buNone/>
        <a:tabLst/>
        <a:defRPr b="0" baseline="0" cap="none" i="0" spc="0" strike="noStrike" sz="5200" u="none">
          <a:solidFill>
            <a:srgbClr val="ECE8DD"/>
          </a:solidFill>
          <a:uFillTx/>
          <a:latin typeface="EB Garamond"/>
          <a:ea typeface="EB Garamond"/>
          <a:cs typeface="EB Garamond"/>
          <a:sym typeface="EB Garamond"/>
        </a:defRPr>
      </a:lvl1pPr>
      <a:lvl2pPr marL="0" marR="0" indent="0" algn="l" defTabSz="914400" rtl="0" latinLnBrk="0">
        <a:lnSpc>
          <a:spcPct val="115000"/>
        </a:lnSpc>
        <a:spcBef>
          <a:spcPts val="0"/>
        </a:spcBef>
        <a:spcAft>
          <a:spcPts val="0"/>
        </a:spcAft>
        <a:buClrTx/>
        <a:buSzTx/>
        <a:buFontTx/>
        <a:buNone/>
        <a:tabLst/>
        <a:defRPr b="0" baseline="0" cap="none" i="0" spc="0" strike="noStrike" sz="5200" u="none">
          <a:solidFill>
            <a:srgbClr val="ECE8DD"/>
          </a:solidFill>
          <a:uFillTx/>
          <a:latin typeface="EB Garamond"/>
          <a:ea typeface="EB Garamond"/>
          <a:cs typeface="EB Garamond"/>
          <a:sym typeface="EB Garamond"/>
        </a:defRPr>
      </a:lvl2pPr>
      <a:lvl3pPr marL="0" marR="0" indent="0" algn="l" defTabSz="914400" rtl="0" latinLnBrk="0">
        <a:lnSpc>
          <a:spcPct val="115000"/>
        </a:lnSpc>
        <a:spcBef>
          <a:spcPts val="0"/>
        </a:spcBef>
        <a:spcAft>
          <a:spcPts val="0"/>
        </a:spcAft>
        <a:buClrTx/>
        <a:buSzTx/>
        <a:buFontTx/>
        <a:buNone/>
        <a:tabLst/>
        <a:defRPr b="0" baseline="0" cap="none" i="0" spc="0" strike="noStrike" sz="5200" u="none">
          <a:solidFill>
            <a:srgbClr val="ECE8DD"/>
          </a:solidFill>
          <a:uFillTx/>
          <a:latin typeface="EB Garamond"/>
          <a:ea typeface="EB Garamond"/>
          <a:cs typeface="EB Garamond"/>
          <a:sym typeface="EB Garamond"/>
        </a:defRPr>
      </a:lvl3pPr>
      <a:lvl4pPr marL="0" marR="0" indent="0" algn="l" defTabSz="914400" rtl="0" latinLnBrk="0">
        <a:lnSpc>
          <a:spcPct val="115000"/>
        </a:lnSpc>
        <a:spcBef>
          <a:spcPts val="0"/>
        </a:spcBef>
        <a:spcAft>
          <a:spcPts val="0"/>
        </a:spcAft>
        <a:buClrTx/>
        <a:buSzTx/>
        <a:buFontTx/>
        <a:buNone/>
        <a:tabLst/>
        <a:defRPr b="0" baseline="0" cap="none" i="0" spc="0" strike="noStrike" sz="5200" u="none">
          <a:solidFill>
            <a:srgbClr val="ECE8DD"/>
          </a:solidFill>
          <a:uFillTx/>
          <a:latin typeface="EB Garamond"/>
          <a:ea typeface="EB Garamond"/>
          <a:cs typeface="EB Garamond"/>
          <a:sym typeface="EB Garamond"/>
        </a:defRPr>
      </a:lvl4pPr>
      <a:lvl5pPr marL="0" marR="0" indent="0" algn="l" defTabSz="914400" rtl="0" latinLnBrk="0">
        <a:lnSpc>
          <a:spcPct val="115000"/>
        </a:lnSpc>
        <a:spcBef>
          <a:spcPts val="0"/>
        </a:spcBef>
        <a:spcAft>
          <a:spcPts val="0"/>
        </a:spcAft>
        <a:buClrTx/>
        <a:buSzTx/>
        <a:buFontTx/>
        <a:buNone/>
        <a:tabLst/>
        <a:defRPr b="0" baseline="0" cap="none" i="0" spc="0" strike="noStrike" sz="5200" u="none">
          <a:solidFill>
            <a:srgbClr val="ECE8DD"/>
          </a:solidFill>
          <a:uFillTx/>
          <a:latin typeface="EB Garamond"/>
          <a:ea typeface="EB Garamond"/>
          <a:cs typeface="EB Garamond"/>
          <a:sym typeface="EB Garamond"/>
        </a:defRPr>
      </a:lvl5pPr>
      <a:lvl6pPr marL="0" marR="0" indent="0" algn="l" defTabSz="914400" rtl="0" latinLnBrk="0">
        <a:lnSpc>
          <a:spcPct val="115000"/>
        </a:lnSpc>
        <a:spcBef>
          <a:spcPts val="0"/>
        </a:spcBef>
        <a:spcAft>
          <a:spcPts val="0"/>
        </a:spcAft>
        <a:buClrTx/>
        <a:buSzTx/>
        <a:buFontTx/>
        <a:buNone/>
        <a:tabLst/>
        <a:defRPr b="0" baseline="0" cap="none" i="0" spc="0" strike="noStrike" sz="5200" u="none">
          <a:solidFill>
            <a:srgbClr val="ECE8DD"/>
          </a:solidFill>
          <a:uFillTx/>
          <a:latin typeface="EB Garamond"/>
          <a:ea typeface="EB Garamond"/>
          <a:cs typeface="EB Garamond"/>
          <a:sym typeface="EB Garamond"/>
        </a:defRPr>
      </a:lvl6pPr>
      <a:lvl7pPr marL="0" marR="0" indent="0" algn="l" defTabSz="914400" rtl="0" latinLnBrk="0">
        <a:lnSpc>
          <a:spcPct val="115000"/>
        </a:lnSpc>
        <a:spcBef>
          <a:spcPts val="0"/>
        </a:spcBef>
        <a:spcAft>
          <a:spcPts val="0"/>
        </a:spcAft>
        <a:buClrTx/>
        <a:buSzTx/>
        <a:buFontTx/>
        <a:buNone/>
        <a:tabLst/>
        <a:defRPr b="0" baseline="0" cap="none" i="0" spc="0" strike="noStrike" sz="5200" u="none">
          <a:solidFill>
            <a:srgbClr val="ECE8DD"/>
          </a:solidFill>
          <a:uFillTx/>
          <a:latin typeface="EB Garamond"/>
          <a:ea typeface="EB Garamond"/>
          <a:cs typeface="EB Garamond"/>
          <a:sym typeface="EB Garamond"/>
        </a:defRPr>
      </a:lvl7pPr>
      <a:lvl8pPr marL="0" marR="0" indent="0" algn="l" defTabSz="914400" rtl="0" latinLnBrk="0">
        <a:lnSpc>
          <a:spcPct val="115000"/>
        </a:lnSpc>
        <a:spcBef>
          <a:spcPts val="0"/>
        </a:spcBef>
        <a:spcAft>
          <a:spcPts val="0"/>
        </a:spcAft>
        <a:buClrTx/>
        <a:buSzTx/>
        <a:buFontTx/>
        <a:buNone/>
        <a:tabLst/>
        <a:defRPr b="0" baseline="0" cap="none" i="0" spc="0" strike="noStrike" sz="5200" u="none">
          <a:solidFill>
            <a:srgbClr val="ECE8DD"/>
          </a:solidFill>
          <a:uFillTx/>
          <a:latin typeface="EB Garamond"/>
          <a:ea typeface="EB Garamond"/>
          <a:cs typeface="EB Garamond"/>
          <a:sym typeface="EB Garamond"/>
        </a:defRPr>
      </a:lvl8pPr>
      <a:lvl9pPr marL="0" marR="0" indent="0" algn="l" defTabSz="914400" rtl="0" latinLnBrk="0">
        <a:lnSpc>
          <a:spcPct val="115000"/>
        </a:lnSpc>
        <a:spcBef>
          <a:spcPts val="0"/>
        </a:spcBef>
        <a:spcAft>
          <a:spcPts val="0"/>
        </a:spcAft>
        <a:buClrTx/>
        <a:buSzTx/>
        <a:buFontTx/>
        <a:buNone/>
        <a:tabLst/>
        <a:defRPr b="0" baseline="0" cap="none" i="0" spc="0" strike="noStrike" sz="5200" u="none">
          <a:solidFill>
            <a:srgbClr val="ECE8DD"/>
          </a:solidFill>
          <a:uFillTx/>
          <a:latin typeface="EB Garamond"/>
          <a:ea typeface="EB Garamond"/>
          <a:cs typeface="EB Garamond"/>
          <a:sym typeface="EB Garamond"/>
        </a:defRPr>
      </a:lvl9pPr>
    </p:titleStyle>
    <p:bodyStyle>
      <a:lvl1pPr marL="0" marR="0" indent="0" algn="l" defTabSz="914400" rtl="0" latinLnBrk="0">
        <a:lnSpc>
          <a:spcPct val="140000"/>
        </a:lnSpc>
        <a:spcBef>
          <a:spcPts val="300"/>
        </a:spcBef>
        <a:spcAft>
          <a:spcPts val="0"/>
        </a:spcAft>
        <a:buClrTx/>
        <a:buSzTx/>
        <a:buFontTx/>
        <a:buNone/>
        <a:tabLst/>
        <a:defRPr b="0" baseline="0" cap="none" i="0" spc="0" strike="noStrike" sz="1600" u="none">
          <a:solidFill>
            <a:srgbClr val="ECE8DD"/>
          </a:solidFill>
          <a:uFillTx/>
          <a:latin typeface="+mn-lt"/>
          <a:ea typeface="+mn-ea"/>
          <a:cs typeface="+mn-cs"/>
          <a:sym typeface="IBM Plex Sans"/>
        </a:defRPr>
      </a:lvl1pPr>
      <a:lvl2pPr marL="620485" marR="0" indent="-163285" algn="l" defTabSz="914400" rtl="0" latinLnBrk="0">
        <a:lnSpc>
          <a:spcPct val="140000"/>
        </a:lnSpc>
        <a:spcBef>
          <a:spcPts val="300"/>
        </a:spcBef>
        <a:spcAft>
          <a:spcPts val="0"/>
        </a:spcAft>
        <a:buClrTx/>
        <a:buSzPct val="100000"/>
        <a:buFontTx/>
        <a:buChar char="–"/>
        <a:tabLst/>
        <a:defRPr b="0" baseline="0" cap="none" i="0" spc="0" strike="noStrike" sz="1600" u="none">
          <a:solidFill>
            <a:srgbClr val="ECE8DD"/>
          </a:solidFill>
          <a:uFillTx/>
          <a:latin typeface="+mn-lt"/>
          <a:ea typeface="+mn-ea"/>
          <a:cs typeface="+mn-cs"/>
          <a:sym typeface="IBM Plex Sans"/>
        </a:defRPr>
      </a:lvl2pPr>
      <a:lvl3pPr marL="1066800" marR="0" indent="-152400" algn="l" defTabSz="914400" rtl="0" latinLnBrk="0">
        <a:lnSpc>
          <a:spcPct val="140000"/>
        </a:lnSpc>
        <a:spcBef>
          <a:spcPts val="300"/>
        </a:spcBef>
        <a:spcAft>
          <a:spcPts val="0"/>
        </a:spcAft>
        <a:buClrTx/>
        <a:buSzPct val="100000"/>
        <a:buFontTx/>
        <a:buChar char="•"/>
        <a:tabLst/>
        <a:defRPr b="0" baseline="0" cap="none" i="0" spc="0" strike="noStrike" sz="1600" u="none">
          <a:solidFill>
            <a:srgbClr val="ECE8DD"/>
          </a:solidFill>
          <a:uFillTx/>
          <a:latin typeface="+mn-lt"/>
          <a:ea typeface="+mn-ea"/>
          <a:cs typeface="+mn-cs"/>
          <a:sym typeface="IBM Plex Sans"/>
        </a:defRPr>
      </a:lvl3pPr>
      <a:lvl4pPr marL="1554480" marR="0" indent="-182880" algn="l" defTabSz="914400" rtl="0" latinLnBrk="0">
        <a:lnSpc>
          <a:spcPct val="140000"/>
        </a:lnSpc>
        <a:spcBef>
          <a:spcPts val="300"/>
        </a:spcBef>
        <a:spcAft>
          <a:spcPts val="0"/>
        </a:spcAft>
        <a:buClrTx/>
        <a:buSzPct val="100000"/>
        <a:buFontTx/>
        <a:buChar char="–"/>
        <a:tabLst/>
        <a:defRPr b="0" baseline="0" cap="none" i="0" spc="0" strike="noStrike" sz="1600" u="none">
          <a:solidFill>
            <a:srgbClr val="ECE8DD"/>
          </a:solidFill>
          <a:uFillTx/>
          <a:latin typeface="+mn-lt"/>
          <a:ea typeface="+mn-ea"/>
          <a:cs typeface="+mn-cs"/>
          <a:sym typeface="IBM Plex Sans"/>
        </a:defRPr>
      </a:lvl4pPr>
      <a:lvl5pPr marL="2011679" marR="0" indent="-182879" algn="l" defTabSz="914400" rtl="0" latinLnBrk="0">
        <a:lnSpc>
          <a:spcPct val="140000"/>
        </a:lnSpc>
        <a:spcBef>
          <a:spcPts val="300"/>
        </a:spcBef>
        <a:spcAft>
          <a:spcPts val="0"/>
        </a:spcAft>
        <a:buClrTx/>
        <a:buSzPct val="100000"/>
        <a:buFontTx/>
        <a:buChar char="»"/>
        <a:tabLst/>
        <a:defRPr b="0" baseline="0" cap="none" i="0" spc="0" strike="noStrike" sz="1600" u="none">
          <a:solidFill>
            <a:srgbClr val="ECE8DD"/>
          </a:solidFill>
          <a:uFillTx/>
          <a:latin typeface="+mn-lt"/>
          <a:ea typeface="+mn-ea"/>
          <a:cs typeface="+mn-cs"/>
          <a:sym typeface="IBM Plex Sans"/>
        </a:defRPr>
      </a:lvl5pPr>
      <a:lvl6pPr marL="2468879" marR="0" indent="-182879" algn="l" defTabSz="914400" rtl="0" latinLnBrk="0">
        <a:lnSpc>
          <a:spcPct val="140000"/>
        </a:lnSpc>
        <a:spcBef>
          <a:spcPts val="300"/>
        </a:spcBef>
        <a:spcAft>
          <a:spcPts val="0"/>
        </a:spcAft>
        <a:buClrTx/>
        <a:buSzPct val="100000"/>
        <a:buFontTx/>
        <a:buChar char="•"/>
        <a:tabLst/>
        <a:defRPr b="0" baseline="0" cap="none" i="0" spc="0" strike="noStrike" sz="1600" u="none">
          <a:solidFill>
            <a:srgbClr val="ECE8DD"/>
          </a:solidFill>
          <a:uFillTx/>
          <a:latin typeface="+mn-lt"/>
          <a:ea typeface="+mn-ea"/>
          <a:cs typeface="+mn-cs"/>
          <a:sym typeface="IBM Plex Sans"/>
        </a:defRPr>
      </a:lvl6pPr>
      <a:lvl7pPr marL="2926079" marR="0" indent="-182879" algn="l" defTabSz="914400" rtl="0" latinLnBrk="0">
        <a:lnSpc>
          <a:spcPct val="140000"/>
        </a:lnSpc>
        <a:spcBef>
          <a:spcPts val="300"/>
        </a:spcBef>
        <a:spcAft>
          <a:spcPts val="0"/>
        </a:spcAft>
        <a:buClrTx/>
        <a:buSzPct val="100000"/>
        <a:buFontTx/>
        <a:buChar char="•"/>
        <a:tabLst/>
        <a:defRPr b="0" baseline="0" cap="none" i="0" spc="0" strike="noStrike" sz="1600" u="none">
          <a:solidFill>
            <a:srgbClr val="ECE8DD"/>
          </a:solidFill>
          <a:uFillTx/>
          <a:latin typeface="+mn-lt"/>
          <a:ea typeface="+mn-ea"/>
          <a:cs typeface="+mn-cs"/>
          <a:sym typeface="IBM Plex Sans"/>
        </a:defRPr>
      </a:lvl7pPr>
      <a:lvl8pPr marL="3383279" marR="0" indent="-182879" algn="l" defTabSz="914400" rtl="0" latinLnBrk="0">
        <a:lnSpc>
          <a:spcPct val="140000"/>
        </a:lnSpc>
        <a:spcBef>
          <a:spcPts val="300"/>
        </a:spcBef>
        <a:spcAft>
          <a:spcPts val="0"/>
        </a:spcAft>
        <a:buClrTx/>
        <a:buSzPct val="100000"/>
        <a:buFontTx/>
        <a:buChar char="•"/>
        <a:tabLst/>
        <a:defRPr b="0" baseline="0" cap="none" i="0" spc="0" strike="noStrike" sz="1600" u="none">
          <a:solidFill>
            <a:srgbClr val="ECE8DD"/>
          </a:solidFill>
          <a:uFillTx/>
          <a:latin typeface="+mn-lt"/>
          <a:ea typeface="+mn-ea"/>
          <a:cs typeface="+mn-cs"/>
          <a:sym typeface="IBM Plex Sans"/>
        </a:defRPr>
      </a:lvl8pPr>
      <a:lvl9pPr marL="3840479" marR="0" indent="-182879" algn="l" defTabSz="914400" rtl="0" latinLnBrk="0">
        <a:lnSpc>
          <a:spcPct val="140000"/>
        </a:lnSpc>
        <a:spcBef>
          <a:spcPts val="300"/>
        </a:spcBef>
        <a:spcAft>
          <a:spcPts val="0"/>
        </a:spcAft>
        <a:buClrTx/>
        <a:buSzPct val="100000"/>
        <a:buFontTx/>
        <a:buChar char="•"/>
        <a:tabLst/>
        <a:defRPr b="0" baseline="0" cap="none" i="0" spc="0" strike="noStrike" sz="1600" u="none">
          <a:solidFill>
            <a:srgbClr val="ECE8DD"/>
          </a:solidFill>
          <a:uFillTx/>
          <a:latin typeface="+mn-lt"/>
          <a:ea typeface="+mn-ea"/>
          <a:cs typeface="+mn-cs"/>
          <a:sym typeface="IBM Plex Sans"/>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IBM Plex Sans"/>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IBM Plex Sans"/>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IBM Plex Sans"/>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IBM Plex Sans"/>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IBM Plex Sans"/>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IBM Plex Sans"/>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IBM Plex Sans"/>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IBM Plex Sans"/>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IBM Plex San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hyperlink" Target="mailto:edz@CoreQuarry.com" TargetMode="Externa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image" Target="../media/image1.jpe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2.jpe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eg"/></Relationships>

</file>

<file path=ppt/slides/_rels/slide15.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6.png"/><Relationship Id="rId3" Type="http://schemas.openxmlformats.org/officeDocument/2006/relationships/image" Target="../media/image5.jpeg"/></Relationships>

</file>

<file path=ppt/slides/_rels/slide16.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6.jpeg"/><Relationship Id="rId3" Type="http://schemas.openxmlformats.org/officeDocument/2006/relationships/image" Target="../media/image7.jpeg"/></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google.com/search?q=https://doi.org/10.1016/0306-4379(96)00025-7" TargetMode="External"/></Relationships>

</file>

<file path=ppt/slides/_rels/slide20.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tif"/></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tif"/></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tif"/></Relationships>

</file>

<file path=ppt/slides/_rels/slide3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tif"/></Relationships>

</file>

<file path=ppt/slides/_rels/slide3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tif"/></Relationships>

</file>

<file path=ppt/slides/_rels/slide4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tif"/></Relationships>

</file>

<file path=ppt/slides/_rels/slide4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jpeg"/></Relationships>

</file>

<file path=ppt/slides/_rels/slide4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4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4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5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5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5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5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5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s>

</file>

<file path=ppt/slides/_rels/slide5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s>

</file>

<file path=ppt/slides/_rels/slide5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s>

</file>

<file path=ppt/slides/_rels/slide5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5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s>

</file>

<file path=ppt/slides/_rels/slide5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6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6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s>

</file>

<file path=ppt/slides/_rels/slide6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 Id="rId3" Type="http://schemas.openxmlformats.org/officeDocument/2006/relationships/image" Target="../media/image22.png"/></Relationships>

</file>

<file path=ppt/slides/_rels/slide6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6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6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6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6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6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tif"/></Relationships>

</file>

<file path=ppt/slides/_rels/slide6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s>

</file>

<file path=ppt/slides/_rels/slide7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7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7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7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rchive.fosdem.org/2024/schedule/event/fosdem-2024-2079-fortify-ai-against-regulation-litigation-and-lobotomies/" TargetMode="External"/></Relationships>

</file>

<file path=ppt/slides/_rels/slide7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7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s>

</file>

<file path=ppt/slides/_rels/slide7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8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jpe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10.jpeg"/><Relationship Id="rId6" Type="http://schemas.openxmlformats.org/officeDocument/2006/relationships/image" Target="../media/image27.png"/></Relationships>

</file>

<file path=ppt/slides/_rels/slide8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8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image" Target="../media/image8.tif"/></Relationships>

</file>

<file path=ppt/slides/_rels/slide8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image" Target="../media/image9.tif"/></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3"/>
          <a:srcRect l="0" t="0" r="0" b="0"/>
          <a:stretch>
            <a:fillRect/>
          </a:stretch>
        </a:blipFill>
      </p:bgPr>
    </p:bg>
    <p:spTree>
      <p:nvGrpSpPr>
        <p:cNvPr id="1" name=""/>
        <p:cNvGrpSpPr/>
        <p:nvPr/>
      </p:nvGrpSpPr>
      <p:grpSpPr>
        <a:xfrm>
          <a:off x="0" y="0"/>
          <a:ext cx="0" cy="0"/>
          <a:chOff x="0" y="0"/>
          <a:chExt cx="0" cy="0"/>
        </a:xfrm>
      </p:grpSpPr>
      <p:sp>
        <p:nvSpPr>
          <p:cNvPr id="91" name="Text 0"/>
          <p:cNvSpPr txBox="1"/>
          <p:nvPr/>
        </p:nvSpPr>
        <p:spPr>
          <a:xfrm>
            <a:off x="812799" y="812800"/>
            <a:ext cx="10883394" cy="23872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200" sz="1200">
                <a:solidFill>
                  <a:srgbClr val="F0A93B"/>
                </a:solidFill>
              </a:defRPr>
            </a:lvl1pPr>
          </a:lstStyle>
          <a:p>
            <a:pPr/>
            <a:r>
              <a:t>DATAGEEKS · 27 OCTOBER 2026</a:t>
            </a:r>
          </a:p>
        </p:txBody>
      </p:sp>
      <p:sp>
        <p:nvSpPr>
          <p:cNvPr id="92" name="Text 1"/>
          <p:cNvSpPr txBox="1"/>
          <p:nvPr>
            <p:ph type="title"/>
          </p:nvPr>
        </p:nvSpPr>
        <p:spPr>
          <a:xfrm>
            <a:off x="812799" y="2152650"/>
            <a:ext cx="10883394" cy="1478261"/>
          </a:xfrm>
          <a:prstGeom prst="rect">
            <a:avLst/>
          </a:prstGeom>
        </p:spPr>
        <p:txBody>
          <a:bodyPr/>
          <a:lstStyle>
            <a:lvl1pPr defTabSz="905255">
              <a:lnSpc>
                <a:spcPts val="5600"/>
              </a:lnSpc>
              <a:defRPr b="1" sz="5148"/>
            </a:lvl1pPr>
          </a:lstStyle>
          <a:p>
            <a:pPr/>
            <a:r>
              <a:t>Stop reranking your way out of a bad representation</a:t>
            </a:r>
          </a:p>
        </p:txBody>
      </p:sp>
      <p:sp>
        <p:nvSpPr>
          <p:cNvPr id="93" name="Text 2"/>
          <p:cNvSpPr txBox="1"/>
          <p:nvPr/>
        </p:nvSpPr>
        <p:spPr>
          <a:xfrm>
            <a:off x="812799" y="4732039"/>
            <a:ext cx="10883394" cy="7239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700"/>
              </a:lnSpc>
              <a:defRPr sz="2200">
                <a:solidFill>
                  <a:srgbClr val="C9CFD8"/>
                </a:solidFill>
              </a:defRPr>
            </a:lvl1pPr>
          </a:lstStyle>
          <a:p>
            <a:pPr/>
            <a:r>
              <a:t>Retrieval as an algebra over one textual space, with the model doing the understanding</a:t>
            </a:r>
          </a:p>
        </p:txBody>
      </p:sp>
      <p:sp>
        <p:nvSpPr>
          <p:cNvPr id="94" name="Text 3"/>
          <p:cNvSpPr txBox="1"/>
          <p:nvPr/>
        </p:nvSpPr>
        <p:spPr>
          <a:xfrm>
            <a:off x="812799" y="5557539"/>
            <a:ext cx="10883394" cy="3098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2200"/>
              </a:lnSpc>
              <a:defRPr sz="1600">
                <a:solidFill>
                  <a:srgbClr val="000000"/>
                </a:solidFill>
              </a:defRPr>
            </a:pPr>
            <a:r>
              <a:rPr>
                <a:solidFill>
                  <a:srgbClr val="FFFFFF"/>
                </a:solidFill>
              </a:rPr>
              <a:t>Edward  C. Zimmermann · CoreQuarry · </a:t>
            </a:r>
            <a:r>
              <a:rPr>
                <a:solidFill>
                  <a:srgbClr val="FFFFFF"/>
                </a:solidFill>
                <a:hlinkClick r:id="rId4" invalidUrl="" action="" tgtFrame="" tooltip="" history="1" highlightClick="0" endSnd="0"/>
              </a:rPr>
              <a:t>edz@CoreQuarry.com</a:t>
            </a:r>
            <a:r>
              <a:t>   </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grpSp>
        <p:nvGrpSpPr>
          <p:cNvPr id="100" name="Image Gallery"/>
          <p:cNvGrpSpPr/>
          <p:nvPr/>
        </p:nvGrpSpPr>
        <p:grpSpPr>
          <a:xfrm>
            <a:off x="1948202" y="190295"/>
            <a:ext cx="7097891" cy="6603108"/>
            <a:chOff x="0" y="0"/>
            <a:chExt cx="7097890" cy="6603107"/>
          </a:xfrm>
        </p:grpSpPr>
        <p:pic>
          <p:nvPicPr>
            <p:cNvPr id="98" name="JPEG image-47CF-8E67-F5-0.jpeg" descr="JPEG image-47CF-8E67-F5-0.jpeg"/>
            <p:cNvPicPr>
              <a:picLocks noChangeAspect="1"/>
            </p:cNvPicPr>
            <p:nvPr/>
          </p:nvPicPr>
          <p:blipFill>
            <a:blip r:embed="rId3">
              <a:extLst/>
            </a:blip>
            <a:srcRect l="0" t="0" r="0" b="5442"/>
            <a:stretch>
              <a:fillRect/>
            </a:stretch>
          </p:blipFill>
          <p:spPr>
            <a:xfrm>
              <a:off x="-1" y="0"/>
              <a:ext cx="7097891" cy="6129043"/>
            </a:xfrm>
            <a:prstGeom prst="rect">
              <a:avLst/>
            </a:prstGeom>
            <a:ln w="12700" cap="flat">
              <a:noFill/>
              <a:miter lim="400000"/>
            </a:ln>
            <a:effectLst/>
          </p:spPr>
        </p:pic>
        <p:sp>
          <p:nvSpPr>
            <p:cNvPr id="99" name="https://www.linkedin.com/in/edwardzimmermann"/>
            <p:cNvSpPr txBox="1"/>
            <p:nvPr/>
          </p:nvSpPr>
          <p:spPr>
            <a:xfrm>
              <a:off x="-1" y="6167141"/>
              <a:ext cx="7097891" cy="43596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8100" tIns="38100" rIns="38100" bIns="38100" numCol="1" anchor="t">
              <a:spAutoFit/>
            </a:bodyPr>
            <a:lstStyle>
              <a:lvl1pPr defTabSz="1219168">
                <a:lnSpc>
                  <a:spcPct val="90000"/>
                </a:lnSpc>
                <a:spcBef>
                  <a:spcPts val="2200"/>
                </a:spcBef>
                <a:defRPr sz="2400">
                  <a:solidFill>
                    <a:srgbClr val="FFFFFF"/>
                  </a:solidFill>
                  <a:latin typeface="Helvetica Neue"/>
                  <a:ea typeface="Helvetica Neue"/>
                  <a:cs typeface="Helvetica Neue"/>
                  <a:sym typeface="Helvetica Neue"/>
                </a:defRPr>
              </a:lvl1pPr>
            </a:lstStyle>
            <a:p>
              <a:pPr/>
              <a:r>
                <a:t>https://www.linkedin.com/in/edwardzimmermann</a:t>
              </a:r>
            </a:p>
          </p:txBody>
        </p:sp>
      </p:gr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2" name="Text 0"/>
          <p:cNvSpPr txBox="1"/>
          <p:nvPr>
            <p:ph type="title"/>
          </p:nvPr>
        </p:nvSpPr>
        <p:spPr>
          <a:xfrm>
            <a:off x="812800" y="1250999"/>
            <a:ext cx="9810750" cy="2052243"/>
          </a:xfrm>
          <a:prstGeom prst="rect">
            <a:avLst/>
          </a:prstGeom>
        </p:spPr>
        <p:txBody>
          <a:bodyPr/>
          <a:lstStyle>
            <a:lvl1pPr defTabSz="832104">
              <a:lnSpc>
                <a:spcPts val="7100"/>
              </a:lnSpc>
              <a:defRPr sz="6916"/>
            </a:lvl1pPr>
          </a:lstStyle>
          <a:p>
            <a:pPr/>
            <a:r>
              <a:t>You don’t need a hyper-scaler to search a library.</a:t>
            </a:r>
          </a:p>
        </p:txBody>
      </p:sp>
      <p:sp>
        <p:nvSpPr>
          <p:cNvPr id="103" name="Shape 1"/>
          <p:cNvSpPr/>
          <p:nvPr/>
        </p:nvSpPr>
        <p:spPr>
          <a:xfrm>
            <a:off x="812800" y="3639789"/>
            <a:ext cx="9525000" cy="1"/>
          </a:xfrm>
          <a:prstGeom prst="line">
            <a:avLst/>
          </a:prstGeom>
          <a:ln w="12700">
            <a:solidFill>
              <a:schemeClr val="accent1"/>
            </a:solidFill>
          </a:ln>
        </p:spPr>
        <p:txBody>
          <a:bodyPr lIns="45719" rIns="45719"/>
          <a:lstStyle/>
          <a:p>
            <a:pPr>
              <a:defRPr>
                <a:solidFill>
                  <a:srgbClr val="ECE8DD"/>
                </a:solidFill>
              </a:defRPr>
            </a:pPr>
          </a:p>
        </p:txBody>
      </p:sp>
      <p:sp>
        <p:nvSpPr>
          <p:cNvPr id="104" name="Text 2"/>
          <p:cNvSpPr txBox="1"/>
          <p:nvPr/>
        </p:nvSpPr>
        <p:spPr>
          <a:xfrm>
            <a:off x="812799" y="3900139"/>
            <a:ext cx="2305426" cy="17322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6700"/>
              </a:lnSpc>
              <a:defRPr sz="4700">
                <a:solidFill>
                  <a:schemeClr val="accent1"/>
                </a:solidFill>
                <a:latin typeface="JetBrains Mono"/>
                <a:ea typeface="JetBrains Mono"/>
                <a:cs typeface="JetBrains Mono"/>
                <a:sym typeface="JetBrains Mono"/>
              </a:defRPr>
            </a:lvl1pPr>
          </a:lstStyle>
          <a:p>
            <a:pPr/>
            <a:r>
              <a:t>656,519</a:t>
            </a:r>
          </a:p>
        </p:txBody>
      </p:sp>
      <p:sp>
        <p:nvSpPr>
          <p:cNvPr id="105" name="Text 3"/>
          <p:cNvSpPr txBox="1"/>
          <p:nvPr/>
        </p:nvSpPr>
        <p:spPr>
          <a:xfrm>
            <a:off x="3240704" y="4091548"/>
            <a:ext cx="7243707" cy="75178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800"/>
              </a:lnSpc>
              <a:defRPr sz="2200">
                <a:solidFill>
                  <a:schemeClr val="accent2"/>
                </a:solidFill>
              </a:defRPr>
            </a:lvl1pPr>
          </a:lstStyle>
          <a:p>
            <a:pPr/>
            <a:r>
              <a:t>Patents (XML), 2 billion words, 324 fields, multiple data-types indexed in 48 minutes on a 2021 laptop</a:t>
            </a:r>
          </a:p>
        </p:txBody>
      </p:sp>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9" name="Prioritize data sovereignty, low-latency execution, cost predictability, and absolute user privacy.…"/>
          <p:cNvSpPr txBox="1"/>
          <p:nvPr>
            <p:ph type="body" idx="1"/>
          </p:nvPr>
        </p:nvSpPr>
        <p:spPr>
          <a:xfrm>
            <a:off x="812800" y="1969796"/>
            <a:ext cx="10566400" cy="4064634"/>
          </a:xfrm>
          <a:prstGeom prst="rect">
            <a:avLst/>
          </a:prstGeom>
        </p:spPr>
        <p:txBody>
          <a:bodyPr/>
          <a:lstStyle/>
          <a:p>
            <a:pPr>
              <a:lnSpc>
                <a:spcPct val="100000"/>
              </a:lnSpc>
              <a:spcBef>
                <a:spcPts val="0"/>
              </a:spcBef>
              <a:defRPr sz="3000">
                <a:solidFill>
                  <a:srgbClr val="FFFFFF"/>
                </a:solidFill>
              </a:defRPr>
            </a:pPr>
            <a:r>
              <a:t>Prioritize data sovereignty, low-latency execution, cost predictability, and absolute user privacy.</a:t>
            </a:r>
          </a:p>
          <a:p>
            <a:pPr defTabSz="457200">
              <a:lnSpc>
                <a:spcPct val="100000"/>
              </a:lnSpc>
              <a:spcBef>
                <a:spcPts val="1600"/>
              </a:spcBef>
              <a:defRPr sz="2700">
                <a:solidFill>
                  <a:srgbClr val="FFFFFF"/>
                </a:solidFill>
                <a:latin typeface="Noteworthy Light"/>
                <a:ea typeface="Noteworthy Light"/>
                <a:cs typeface="Noteworthy Light"/>
                <a:sym typeface="Noteworthy Light"/>
              </a:defRPr>
            </a:pPr>
            <a:r>
              <a:t>Squeeze maximum structural intelligence, deterministic precision, and state-of-the-art neural intent out of local, edge, and consumer hardware (the hardware people have).</a:t>
            </a:r>
          </a:p>
          <a:p>
            <a:pPr>
              <a:defRPr sz="3500"/>
            </a:pPr>
            <a:r>
              <a:t>100% Open Source (Apache 2.0 licence).</a:t>
            </a:r>
          </a:p>
        </p:txBody>
      </p:sp>
      <p:sp>
        <p:nvSpPr>
          <p:cNvPr id="110" name="Our Local-First Aims"/>
          <p:cNvSpPr txBox="1"/>
          <p:nvPr/>
        </p:nvSpPr>
        <p:spPr>
          <a:xfrm>
            <a:off x="828124" y="491732"/>
            <a:ext cx="7392508" cy="1221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6300">
                <a:solidFill>
                  <a:srgbClr val="FFFFFF"/>
                </a:solidFill>
                <a:latin typeface="Marker Felt"/>
                <a:ea typeface="Marker Felt"/>
                <a:cs typeface="Marker Felt"/>
                <a:sym typeface="Marker Felt"/>
              </a:defRPr>
            </a:lvl1pPr>
          </a:lstStyle>
          <a:p>
            <a:pPr/>
            <a:r>
              <a:t>Our Local-First Aims</a:t>
            </a:r>
          </a:p>
        </p:txBody>
      </p:sp>
    </p:spTree>
  </p:cSld>
  <p:clrMapOvr>
    <a:masterClrMapping/>
  </p:clrMapOvr>
  <mc:AlternateContent xmlns:mc="http://schemas.openxmlformats.org/markup-compatibility/2006">
    <mc:Choice xmlns:p14="http://schemas.microsoft.com/office/powerpoint/2010/main" Requires="p14">
      <p:transition spd="fast" advClick="1" p14:dur="750">
        <p:pull dir="l"/>
      </p:transition>
    </mc:Choice>
    <mc:Fallback>
      <p:transition spd="fast">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lt" backwards="0">
                                    <p:tmAbs val="0"/>
                                  </p:iterate>
                                  <p:childTnLst>
                                    <p:set>
                                      <p:cBhvr>
                                        <p:cTn id="6" fill="hold"/>
                                        <p:tgtEl>
                                          <p:spTgt spid="109">
                                            <p:bg/>
                                          </p:spTgt>
                                        </p:tgtEl>
                                        <p:attrNameLst>
                                          <p:attrName>style.visibility</p:attrName>
                                        </p:attrNameLst>
                                      </p:cBhvr>
                                      <p:to>
                                        <p:strVal val="visible"/>
                                      </p:to>
                                    </p:set>
                                    <p:anim calcmode="lin" valueType="num">
                                      <p:cBhvr>
                                        <p:cTn id="7" dur="1000" fill="hold"/>
                                        <p:tgtEl>
                                          <p:spTgt spid="109">
                                            <p:bg/>
                                          </p:spTgt>
                                        </p:tgtEl>
                                        <p:attrNameLst>
                                          <p:attrName>ppt_x</p:attrName>
                                        </p:attrNameLst>
                                      </p:cBhvr>
                                      <p:tavLst>
                                        <p:tav tm="0">
                                          <p:val>
                                            <p:strVal val="0-#ppt_w/2"/>
                                          </p:val>
                                        </p:tav>
                                        <p:tav tm="100000">
                                          <p:val>
                                            <p:strVal val="#ppt_x"/>
                                          </p:val>
                                        </p:tav>
                                      </p:tavLst>
                                    </p:anim>
                                    <p:anim calcmode="lin" valueType="num">
                                      <p:cBhvr>
                                        <p:cTn id="8" dur="1000" fill="hold"/>
                                        <p:tgtEl>
                                          <p:spTgt spid="109">
                                            <p:bg/>
                                          </p:spTgt>
                                        </p:tgtEl>
                                        <p:attrNameLst>
                                          <p:attrName>ppt_y</p:attrName>
                                        </p:attrNameLst>
                                      </p:cBhvr>
                                      <p:tavLst>
                                        <p:tav tm="0">
                                          <p:val>
                                            <p:strVal val="#ppt_y"/>
                                          </p:val>
                                        </p:tav>
                                        <p:tav tm="100000">
                                          <p:val>
                                            <p:strVal val="#ppt_y"/>
                                          </p:val>
                                        </p:tav>
                                      </p:tavLst>
                                    </p:anim>
                                  </p:childTnLst>
                                </p:cTn>
                              </p:par>
                              <p:par>
                                <p:cTn id="9" presetClass="entr" nodeType="withEffect" presetSubtype="8" presetID="2" grpId="1" fill="hold">
                                  <p:stCondLst>
                                    <p:cond delay="0"/>
                                  </p:stCondLst>
                                  <p:iterate type="lt" backwards="0">
                                    <p:tmAbs val="0"/>
                                  </p:iterate>
                                  <p:childTnLst>
                                    <p:set>
                                      <p:cBhvr>
                                        <p:cTn id="10" fill="hold"/>
                                        <p:tgtEl>
                                          <p:spTgt spid="109">
                                            <p:txEl>
                                              <p:pRg st="0" end="0"/>
                                            </p:txEl>
                                          </p:spTgt>
                                        </p:tgtEl>
                                        <p:attrNameLst>
                                          <p:attrName>style.visibility</p:attrName>
                                        </p:attrNameLst>
                                      </p:cBhvr>
                                      <p:to>
                                        <p:strVal val="visible"/>
                                      </p:to>
                                    </p:set>
                                    <p:anim calcmode="lin" valueType="num">
                                      <p:cBhvr>
                                        <p:cTn id="11" dur="1000" fill="hold"/>
                                        <p:tgtEl>
                                          <p:spTgt spid="109">
                                            <p:txEl>
                                              <p:pRg st="0" end="0"/>
                                            </p:txEl>
                                          </p:spTgt>
                                        </p:tgtEl>
                                        <p:attrNameLst>
                                          <p:attrName>ppt_x</p:attrName>
                                        </p:attrNameLst>
                                      </p:cBhvr>
                                      <p:tavLst>
                                        <p:tav tm="0">
                                          <p:val>
                                            <p:strVal val="0-#ppt_w/2"/>
                                          </p:val>
                                        </p:tav>
                                        <p:tav tm="100000">
                                          <p:val>
                                            <p:strVal val="#ppt_x"/>
                                          </p:val>
                                        </p:tav>
                                      </p:tavLst>
                                    </p:anim>
                                    <p:anim calcmode="lin" valueType="num">
                                      <p:cBhvr>
                                        <p:cTn id="12" dur="1000" fill="hold"/>
                                        <p:tgtEl>
                                          <p:spTgt spid="10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 grpId="1" fill="hold">
                                  <p:stCondLst>
                                    <p:cond delay="0"/>
                                  </p:stCondLst>
                                  <p:iterate type="lt" backwards="0">
                                    <p:tmAbs val="0"/>
                                  </p:iterate>
                                  <p:childTnLst>
                                    <p:set>
                                      <p:cBhvr>
                                        <p:cTn id="16" fill="hold"/>
                                        <p:tgtEl>
                                          <p:spTgt spid="109">
                                            <p:txEl>
                                              <p:pRg st="1" end="1"/>
                                            </p:txEl>
                                          </p:spTgt>
                                        </p:tgtEl>
                                        <p:attrNameLst>
                                          <p:attrName>style.visibility</p:attrName>
                                        </p:attrNameLst>
                                      </p:cBhvr>
                                      <p:to>
                                        <p:strVal val="visible"/>
                                      </p:to>
                                    </p:set>
                                    <p:anim calcmode="lin" valueType="num">
                                      <p:cBhvr>
                                        <p:cTn id="17" dur="1000" fill="hold"/>
                                        <p:tgtEl>
                                          <p:spTgt spid="109">
                                            <p:txEl>
                                              <p:pRg st="1" end="1"/>
                                            </p:txEl>
                                          </p:spTgt>
                                        </p:tgtEl>
                                        <p:attrNameLst>
                                          <p:attrName>ppt_x</p:attrName>
                                        </p:attrNameLst>
                                      </p:cBhvr>
                                      <p:tavLst>
                                        <p:tav tm="0">
                                          <p:val>
                                            <p:strVal val="0-#ppt_w/2"/>
                                          </p:val>
                                        </p:tav>
                                        <p:tav tm="100000">
                                          <p:val>
                                            <p:strVal val="#ppt_x"/>
                                          </p:val>
                                        </p:tav>
                                      </p:tavLst>
                                    </p:anim>
                                    <p:anim calcmode="lin" valueType="num">
                                      <p:cBhvr>
                                        <p:cTn id="18" dur="1000" fill="hold"/>
                                        <p:tgtEl>
                                          <p:spTgt spid="10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8" presetID="2" grpId="1" fill="hold">
                                  <p:stCondLst>
                                    <p:cond delay="0"/>
                                  </p:stCondLst>
                                  <p:iterate type="lt" backwards="0">
                                    <p:tmAbs val="0"/>
                                  </p:iterate>
                                  <p:childTnLst>
                                    <p:set>
                                      <p:cBhvr>
                                        <p:cTn id="22" fill="hold"/>
                                        <p:tgtEl>
                                          <p:spTgt spid="109">
                                            <p:txEl>
                                              <p:pRg st="2" end="2"/>
                                            </p:txEl>
                                          </p:spTgt>
                                        </p:tgtEl>
                                        <p:attrNameLst>
                                          <p:attrName>style.visibility</p:attrName>
                                        </p:attrNameLst>
                                      </p:cBhvr>
                                      <p:to>
                                        <p:strVal val="visible"/>
                                      </p:to>
                                    </p:set>
                                    <p:anim calcmode="lin" valueType="num">
                                      <p:cBhvr>
                                        <p:cTn id="23" dur="1000" fill="hold"/>
                                        <p:tgtEl>
                                          <p:spTgt spid="109">
                                            <p:txEl>
                                              <p:pRg st="2" end="2"/>
                                            </p:txEl>
                                          </p:spTgt>
                                        </p:tgtEl>
                                        <p:attrNameLst>
                                          <p:attrName>ppt_x</p:attrName>
                                        </p:attrNameLst>
                                      </p:cBhvr>
                                      <p:tavLst>
                                        <p:tav tm="0">
                                          <p:val>
                                            <p:strVal val="0-#ppt_w/2"/>
                                          </p:val>
                                        </p:tav>
                                        <p:tav tm="100000">
                                          <p:val>
                                            <p:strVal val="#ppt_x"/>
                                          </p:val>
                                        </p:tav>
                                      </p:tavLst>
                                    </p:anim>
                                    <p:anim calcmode="lin" valueType="num">
                                      <p:cBhvr>
                                        <p:cTn id="24" dur="1000" fill="hold"/>
                                        <p:tgtEl>
                                          <p:spTgt spid="10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109" grpId="1"/>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112" name="Unknown.jpeg" descr="Unknown.jpeg"/>
          <p:cNvPicPr>
            <a:picLocks noChangeAspect="1"/>
          </p:cNvPicPr>
          <p:nvPr/>
        </p:nvPicPr>
        <p:blipFill>
          <a:blip r:embed="rId3">
            <a:extLst/>
          </a:blip>
          <a:stretch>
            <a:fillRect/>
          </a:stretch>
        </p:blipFill>
        <p:spPr>
          <a:xfrm>
            <a:off x="831925" y="601078"/>
            <a:ext cx="10078882" cy="5502046"/>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750">
        <p:pull dir="l"/>
      </p:transition>
    </mc:Choice>
    <mc:Fallback>
      <p:transition spd="fast">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 name="Text 0"/>
          <p:cNvSpPr txBox="1"/>
          <p:nvPr/>
        </p:nvSpPr>
        <p:spPr>
          <a:xfrm>
            <a:off x="812799" y="8128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DATAGEEKS · 27 OCTOBER 2026</a:t>
            </a:r>
          </a:p>
        </p:txBody>
      </p:sp>
      <p:sp>
        <p:nvSpPr>
          <p:cNvPr id="115" name="Text 1"/>
          <p:cNvSpPr txBox="1"/>
          <p:nvPr>
            <p:ph type="title"/>
          </p:nvPr>
        </p:nvSpPr>
        <p:spPr>
          <a:xfrm>
            <a:off x="754431" y="1836272"/>
            <a:ext cx="7577555" cy="1926257"/>
          </a:xfrm>
          <a:prstGeom prst="rect">
            <a:avLst/>
          </a:prstGeom>
        </p:spPr>
        <p:txBody>
          <a:bodyPr/>
          <a:lstStyle>
            <a:lvl1pPr defTabSz="813816">
              <a:lnSpc>
                <a:spcPts val="7400"/>
              </a:lnSpc>
              <a:defRPr sz="7476"/>
            </a:lvl1pPr>
          </a:lstStyle>
          <a:p>
            <a:pPr/>
            <a:r>
              <a:t>IR Beyond Chunks</a:t>
            </a:r>
          </a:p>
        </p:txBody>
      </p:sp>
      <p:pic>
        <p:nvPicPr>
          <p:cNvPr id="116" name="Unknown.png" descr="Unknown.png"/>
          <p:cNvPicPr>
            <a:picLocks noChangeAspect="1"/>
          </p:cNvPicPr>
          <p:nvPr/>
        </p:nvPicPr>
        <p:blipFill>
          <a:blip r:embed="rId3">
            <a:extLst/>
          </a:blip>
          <a:stretch>
            <a:fillRect/>
          </a:stretch>
        </p:blipFill>
        <p:spPr>
          <a:prstGeom prst="rect">
            <a:avLst/>
          </a:prstGeom>
          <a:ln w="12700">
            <a:miter lim="400000"/>
          </a:ln>
        </p:spPr>
      </p:pic>
      <p:sp>
        <p:nvSpPr>
          <p:cNvPr id="117" name="Text 3"/>
          <p:cNvSpPr txBox="1"/>
          <p:nvPr/>
        </p:nvSpPr>
        <p:spPr>
          <a:xfrm>
            <a:off x="812799" y="5257849"/>
            <a:ext cx="10883394" cy="30986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200"/>
              </a:lnSpc>
              <a:defRPr sz="1600">
                <a:solidFill>
                  <a:srgbClr val="ECE8DD"/>
                </a:solidFill>
              </a:defRPr>
            </a:lvl1pPr>
          </a:lstStyle>
          <a:p>
            <a:pPr/>
            <a:r>
              <a:t>CoreQuarry · corequarry.com</a:t>
            </a:r>
          </a:p>
        </p:txBody>
      </p:sp>
      <p:pic>
        <p:nvPicPr>
          <p:cNvPr id="118" name="Unknown.png" descr="Unknown.png"/>
          <p:cNvPicPr>
            <a:picLocks noChangeAspect="1"/>
          </p:cNvPicPr>
          <p:nvPr/>
        </p:nvPicPr>
        <p:blipFill>
          <a:blip r:embed="rId3">
            <a:extLst/>
          </a:blip>
          <a:stretch>
            <a:fillRect/>
          </a:stretch>
        </p:blipFill>
        <p:spPr>
          <a:xfrm>
            <a:off x="8416499" y="1836272"/>
            <a:ext cx="2953857" cy="2953857"/>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Text 0"/>
          <p:cNvSpPr txBox="1"/>
          <p:nvPr/>
        </p:nvSpPr>
        <p:spPr>
          <a:xfrm>
            <a:off x="812799" y="7112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THE PROBLEM</a:t>
            </a:r>
          </a:p>
        </p:txBody>
      </p:sp>
      <p:sp>
        <p:nvSpPr>
          <p:cNvPr id="123" name="Text 1"/>
          <p:cNvSpPr txBox="1"/>
          <p:nvPr>
            <p:ph type="title"/>
          </p:nvPr>
        </p:nvSpPr>
        <p:spPr>
          <a:xfrm>
            <a:off x="812799" y="1264890"/>
            <a:ext cx="10203182" cy="1412181"/>
          </a:xfrm>
          <a:prstGeom prst="rect">
            <a:avLst/>
          </a:prstGeom>
        </p:spPr>
        <p:txBody>
          <a:bodyPr/>
          <a:lstStyle>
            <a:lvl1pPr>
              <a:lnSpc>
                <a:spcPts val="5400"/>
              </a:lnSpc>
            </a:lvl1pPr>
          </a:lstStyle>
          <a:p>
            <a:pPr/>
            <a:r>
              <a:t>Four systems to repair one flattened record.</a:t>
            </a:r>
          </a:p>
        </p:txBody>
      </p:sp>
      <p:sp>
        <p:nvSpPr>
          <p:cNvPr id="124" name="Shape 2"/>
          <p:cNvSpPr/>
          <p:nvPr/>
        </p:nvSpPr>
        <p:spPr>
          <a:xfrm>
            <a:off x="819150" y="2962821"/>
            <a:ext cx="2514600" cy="1414662"/>
          </a:xfrm>
          <a:prstGeom prst="roundRect">
            <a:avLst>
              <a:gd name="adj" fmla="val 4938"/>
            </a:avLst>
          </a:prstGeom>
          <a:ln w="12700">
            <a:solidFill>
              <a:schemeClr val="accent4"/>
            </a:solidFill>
          </a:ln>
        </p:spPr>
        <p:txBody>
          <a:bodyPr lIns="45719" rIns="45719"/>
          <a:lstStyle/>
          <a:p>
            <a:pPr>
              <a:defRPr>
                <a:solidFill>
                  <a:srgbClr val="ECE8DD"/>
                </a:solidFill>
              </a:defRPr>
            </a:pPr>
          </a:p>
        </p:txBody>
      </p:sp>
      <p:sp>
        <p:nvSpPr>
          <p:cNvPr id="125" name="Text 3"/>
          <p:cNvSpPr txBox="1"/>
          <p:nvPr/>
        </p:nvSpPr>
        <p:spPr>
          <a:xfrm>
            <a:off x="1028700" y="3172371"/>
            <a:ext cx="2158365" cy="4165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000"/>
              </a:lnSpc>
              <a:defRPr sz="2200">
                <a:solidFill>
                  <a:schemeClr val="accent1"/>
                </a:solidFill>
                <a:latin typeface="JetBrains Mono"/>
                <a:ea typeface="JetBrains Mono"/>
                <a:cs typeface="JetBrains Mono"/>
                <a:sym typeface="JetBrains Mono"/>
              </a:defRPr>
            </a:lvl1pPr>
          </a:lstStyle>
          <a:p>
            <a:pPr/>
            <a:r>
              <a:t>BM25</a:t>
            </a:r>
          </a:p>
        </p:txBody>
      </p:sp>
      <p:sp>
        <p:nvSpPr>
          <p:cNvPr id="126" name="Text 4"/>
          <p:cNvSpPr txBox="1"/>
          <p:nvPr/>
        </p:nvSpPr>
        <p:spPr>
          <a:xfrm>
            <a:off x="1028700" y="3639691"/>
            <a:ext cx="2158365" cy="2895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600">
                <a:solidFill>
                  <a:schemeClr val="accent2"/>
                </a:solidFill>
              </a:defRPr>
            </a:lvl1pPr>
          </a:lstStyle>
          <a:p>
            <a:pPr/>
            <a:r>
              <a:t>words, per record</a:t>
            </a:r>
          </a:p>
        </p:txBody>
      </p:sp>
      <p:sp>
        <p:nvSpPr>
          <p:cNvPr id="127" name="Shape 5"/>
          <p:cNvSpPr/>
          <p:nvPr/>
        </p:nvSpPr>
        <p:spPr>
          <a:xfrm>
            <a:off x="3498850" y="2962821"/>
            <a:ext cx="2514600" cy="1414662"/>
          </a:xfrm>
          <a:prstGeom prst="roundRect">
            <a:avLst>
              <a:gd name="adj" fmla="val 4938"/>
            </a:avLst>
          </a:prstGeom>
          <a:ln w="12700">
            <a:solidFill>
              <a:schemeClr val="accent4"/>
            </a:solidFill>
          </a:ln>
        </p:spPr>
        <p:txBody>
          <a:bodyPr lIns="45719" rIns="45719"/>
          <a:lstStyle/>
          <a:p>
            <a:pPr>
              <a:defRPr>
                <a:solidFill>
                  <a:srgbClr val="ECE8DD"/>
                </a:solidFill>
              </a:defRPr>
            </a:pPr>
          </a:p>
        </p:txBody>
      </p:sp>
      <p:sp>
        <p:nvSpPr>
          <p:cNvPr id="128" name="Text 6"/>
          <p:cNvSpPr txBox="1"/>
          <p:nvPr/>
        </p:nvSpPr>
        <p:spPr>
          <a:xfrm>
            <a:off x="3708400" y="3172371"/>
            <a:ext cx="2158365" cy="4165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000"/>
              </a:lnSpc>
              <a:defRPr sz="2200">
                <a:solidFill>
                  <a:schemeClr val="accent1"/>
                </a:solidFill>
                <a:latin typeface="JetBrains Mono"/>
                <a:ea typeface="JetBrains Mono"/>
                <a:cs typeface="JetBrains Mono"/>
                <a:sym typeface="JetBrains Mono"/>
              </a:defRPr>
            </a:lvl1pPr>
          </a:lstStyle>
          <a:p>
            <a:pPr/>
            <a:r>
              <a:t>Embeddings</a:t>
            </a:r>
          </a:p>
        </p:txBody>
      </p:sp>
      <p:sp>
        <p:nvSpPr>
          <p:cNvPr id="129" name="Text 7"/>
          <p:cNvSpPr txBox="1"/>
          <p:nvPr/>
        </p:nvSpPr>
        <p:spPr>
          <a:xfrm>
            <a:off x="3708400" y="3639691"/>
            <a:ext cx="2158365" cy="2895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600">
                <a:solidFill>
                  <a:schemeClr val="accent2"/>
                </a:solidFill>
              </a:defRPr>
            </a:lvl1pPr>
          </a:lstStyle>
          <a:p>
            <a:pPr/>
            <a:r>
              <a:t>meaning, per chunk</a:t>
            </a:r>
          </a:p>
        </p:txBody>
      </p:sp>
      <p:sp>
        <p:nvSpPr>
          <p:cNvPr id="130" name="Shape 8"/>
          <p:cNvSpPr/>
          <p:nvPr/>
        </p:nvSpPr>
        <p:spPr>
          <a:xfrm>
            <a:off x="6178550" y="2962821"/>
            <a:ext cx="2514600" cy="1414662"/>
          </a:xfrm>
          <a:prstGeom prst="roundRect">
            <a:avLst>
              <a:gd name="adj" fmla="val 4938"/>
            </a:avLst>
          </a:prstGeom>
          <a:ln w="12700">
            <a:solidFill>
              <a:schemeClr val="accent4"/>
            </a:solidFill>
          </a:ln>
        </p:spPr>
        <p:txBody>
          <a:bodyPr lIns="45719" rIns="45719"/>
          <a:lstStyle/>
          <a:p>
            <a:pPr>
              <a:defRPr>
                <a:solidFill>
                  <a:srgbClr val="ECE8DD"/>
                </a:solidFill>
              </a:defRPr>
            </a:pPr>
          </a:p>
        </p:txBody>
      </p:sp>
      <p:sp>
        <p:nvSpPr>
          <p:cNvPr id="131" name="Text 9"/>
          <p:cNvSpPr txBox="1"/>
          <p:nvPr/>
        </p:nvSpPr>
        <p:spPr>
          <a:xfrm>
            <a:off x="6388100" y="3172371"/>
            <a:ext cx="2158365" cy="4165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000"/>
              </a:lnSpc>
              <a:defRPr sz="2200">
                <a:solidFill>
                  <a:schemeClr val="accent1"/>
                </a:solidFill>
                <a:latin typeface="JetBrains Mono"/>
                <a:ea typeface="JetBrains Mono"/>
                <a:cs typeface="JetBrains Mono"/>
                <a:sym typeface="JetBrains Mono"/>
              </a:defRPr>
            </a:lvl1pPr>
          </a:lstStyle>
          <a:p>
            <a:pPr/>
            <a:r>
              <a:t>RRF</a:t>
            </a:r>
          </a:p>
        </p:txBody>
      </p:sp>
      <p:sp>
        <p:nvSpPr>
          <p:cNvPr id="132" name="Text 10"/>
          <p:cNvSpPr txBox="1"/>
          <p:nvPr/>
        </p:nvSpPr>
        <p:spPr>
          <a:xfrm>
            <a:off x="6388100" y="3639691"/>
            <a:ext cx="2158365" cy="2895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600">
                <a:solidFill>
                  <a:schemeClr val="accent2"/>
                </a:solidFill>
              </a:defRPr>
            </a:lvl1pPr>
          </a:lstStyle>
          <a:p>
            <a:pPr/>
            <a:r>
              <a:t>glue the two lists</a:t>
            </a:r>
          </a:p>
        </p:txBody>
      </p:sp>
      <p:sp>
        <p:nvSpPr>
          <p:cNvPr id="133" name="Shape 11"/>
          <p:cNvSpPr/>
          <p:nvPr/>
        </p:nvSpPr>
        <p:spPr>
          <a:xfrm>
            <a:off x="8858250" y="2962821"/>
            <a:ext cx="2514600" cy="1414662"/>
          </a:xfrm>
          <a:prstGeom prst="roundRect">
            <a:avLst>
              <a:gd name="adj" fmla="val 4938"/>
            </a:avLst>
          </a:prstGeom>
          <a:ln w="12700">
            <a:solidFill>
              <a:schemeClr val="accent4"/>
            </a:solidFill>
          </a:ln>
        </p:spPr>
        <p:txBody>
          <a:bodyPr lIns="45719" rIns="45719"/>
          <a:lstStyle/>
          <a:p>
            <a:pPr>
              <a:defRPr>
                <a:solidFill>
                  <a:srgbClr val="ECE8DD"/>
                </a:solidFill>
              </a:defRPr>
            </a:pPr>
          </a:p>
        </p:txBody>
      </p:sp>
      <p:sp>
        <p:nvSpPr>
          <p:cNvPr id="134" name="Text 12"/>
          <p:cNvSpPr txBox="1"/>
          <p:nvPr/>
        </p:nvSpPr>
        <p:spPr>
          <a:xfrm>
            <a:off x="9067800" y="3172371"/>
            <a:ext cx="2158365" cy="4165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000"/>
              </a:lnSpc>
              <a:defRPr sz="2200">
                <a:solidFill>
                  <a:schemeClr val="accent1"/>
                </a:solidFill>
                <a:latin typeface="JetBrains Mono"/>
                <a:ea typeface="JetBrains Mono"/>
                <a:cs typeface="JetBrains Mono"/>
                <a:sym typeface="JetBrains Mono"/>
              </a:defRPr>
            </a:lvl1pPr>
          </a:lstStyle>
          <a:p>
            <a:pPr/>
            <a:r>
              <a:t>Reranker</a:t>
            </a:r>
          </a:p>
        </p:txBody>
      </p:sp>
      <p:sp>
        <p:nvSpPr>
          <p:cNvPr id="135" name="Text 13"/>
          <p:cNvSpPr txBox="1"/>
          <p:nvPr/>
        </p:nvSpPr>
        <p:spPr>
          <a:xfrm>
            <a:off x="9067800" y="3639691"/>
            <a:ext cx="2158365" cy="5536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600">
                <a:solidFill>
                  <a:schemeClr val="accent2"/>
                </a:solidFill>
              </a:defRPr>
            </a:lvl1pPr>
          </a:lstStyle>
          <a:p>
            <a:pPr/>
            <a:r>
              <a:t>a model to undo the damage</a:t>
            </a:r>
          </a:p>
        </p:txBody>
      </p:sp>
      <p:sp>
        <p:nvSpPr>
          <p:cNvPr id="136" name="Text 14"/>
          <p:cNvSpPr txBox="1"/>
          <p:nvPr/>
        </p:nvSpPr>
        <p:spPr>
          <a:xfrm>
            <a:off x="812800" y="4688632"/>
            <a:ext cx="981075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600"/>
              </a:lnSpc>
              <a:defRPr sz="2000">
                <a:solidFill>
                  <a:srgbClr val="ECE8DD"/>
                </a:solidFill>
              </a:defRPr>
            </a:lvl1pPr>
          </a:lstStyle>
          <a:p>
            <a:pPr/>
            <a:r>
              <a:t>Each stage exists because the stage before it threw structure away.</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0" name="Text 0"/>
          <p:cNvSpPr txBox="1"/>
          <p:nvPr/>
        </p:nvSpPr>
        <p:spPr>
          <a:xfrm>
            <a:off x="812799" y="7112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THE PROBLEM - OUR CONJECTURE</a:t>
            </a:r>
          </a:p>
        </p:txBody>
      </p:sp>
      <p:sp>
        <p:nvSpPr>
          <p:cNvPr id="141" name="Text 1"/>
          <p:cNvSpPr txBox="1"/>
          <p:nvPr>
            <p:ph type="title"/>
          </p:nvPr>
        </p:nvSpPr>
        <p:spPr>
          <a:xfrm>
            <a:off x="812799" y="1264890"/>
            <a:ext cx="10203182" cy="1412181"/>
          </a:xfrm>
          <a:prstGeom prst="rect">
            <a:avLst/>
          </a:prstGeom>
        </p:spPr>
        <p:txBody>
          <a:bodyPr/>
          <a:lstStyle>
            <a:lvl1pPr>
              <a:lnSpc>
                <a:spcPts val="5400"/>
              </a:lnSpc>
            </a:lvl1pPr>
          </a:lstStyle>
          <a:p>
            <a:pPr/>
            <a:r>
              <a:t>Retrieval is viewed as one shot. Agents need a conversation.</a:t>
            </a:r>
          </a:p>
        </p:txBody>
      </p:sp>
      <p:sp>
        <p:nvSpPr>
          <p:cNvPr id="142" name="Text 2"/>
          <p:cNvSpPr txBox="1"/>
          <p:nvPr/>
        </p:nvSpPr>
        <p:spPr>
          <a:xfrm>
            <a:off x="812800" y="2956471"/>
            <a:ext cx="5016564"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3"/>
                </a:solidFill>
              </a:defRPr>
            </a:lvl1pPr>
          </a:lstStyle>
          <a:p>
            <a:pPr/>
            <a:r>
              <a:t>TODAY</a:t>
            </a:r>
          </a:p>
        </p:txBody>
      </p:sp>
      <p:sp>
        <p:nvSpPr>
          <p:cNvPr id="143" name="Text 3"/>
          <p:cNvSpPr txBox="1"/>
          <p:nvPr/>
        </p:nvSpPr>
        <p:spPr>
          <a:xfrm>
            <a:off x="812800" y="3332360"/>
            <a:ext cx="5016564" cy="34925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500"/>
              </a:lnSpc>
              <a:defRPr sz="1700">
                <a:solidFill>
                  <a:schemeClr val="accent2"/>
                </a:solidFill>
                <a:latin typeface="JetBrains Mono"/>
                <a:ea typeface="JetBrains Mono"/>
                <a:cs typeface="JetBrains Mono"/>
                <a:sym typeface="JetBrains Mono"/>
              </a:defRPr>
            </a:lvl1pPr>
          </a:lstStyle>
          <a:p>
            <a:pPr/>
            <a:r>
              <a:t>query → top-k chunks → LLM</a:t>
            </a:r>
          </a:p>
        </p:txBody>
      </p:sp>
      <p:sp>
        <p:nvSpPr>
          <p:cNvPr id="144" name="Text 4"/>
          <p:cNvSpPr txBox="1"/>
          <p:nvPr/>
        </p:nvSpPr>
        <p:spPr>
          <a:xfrm>
            <a:off x="812800" y="3783210"/>
            <a:ext cx="5016564" cy="6425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a:solidFill>
                  <a:srgbClr val="ECE8DD"/>
                </a:solidFill>
              </a:defRPr>
            </a:lvl1pPr>
          </a:lstStyle>
          <a:p>
            <a:pPr/>
            <a:r>
              <a:t>The model can’t say “narrow it to the claims” or “only 1988”. It can only ask again, in words.</a:t>
            </a:r>
          </a:p>
        </p:txBody>
      </p:sp>
      <p:sp>
        <p:nvSpPr>
          <p:cNvPr id="145" name="Shape 5"/>
          <p:cNvSpPr/>
          <p:nvPr/>
        </p:nvSpPr>
        <p:spPr>
          <a:xfrm>
            <a:off x="6089650" y="2956471"/>
            <a:ext cx="12700" cy="1443882"/>
          </a:xfrm>
          <a:prstGeom prst="rect">
            <a:avLst/>
          </a:prstGeom>
          <a:solidFill>
            <a:schemeClr val="accent4"/>
          </a:solidFill>
          <a:ln w="12700">
            <a:miter lim="400000"/>
          </a:ln>
        </p:spPr>
        <p:txBody>
          <a:bodyPr lIns="45719" rIns="45719"/>
          <a:lstStyle/>
          <a:p>
            <a:pPr>
              <a:defRPr>
                <a:solidFill>
                  <a:srgbClr val="ECE8DD"/>
                </a:solidFill>
              </a:defRPr>
            </a:pPr>
          </a:p>
        </p:txBody>
      </p:sp>
      <p:sp>
        <p:nvSpPr>
          <p:cNvPr id="146" name="Text 6"/>
          <p:cNvSpPr txBox="1"/>
          <p:nvPr/>
        </p:nvSpPr>
        <p:spPr>
          <a:xfrm>
            <a:off x="6508750" y="2956471"/>
            <a:ext cx="5016564"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WHAT AN AGENT NEEDS</a:t>
            </a:r>
          </a:p>
        </p:txBody>
      </p:sp>
      <p:sp>
        <p:nvSpPr>
          <p:cNvPr id="147" name="Text 7"/>
          <p:cNvSpPr txBox="1"/>
          <p:nvPr/>
        </p:nvSpPr>
        <p:spPr>
          <a:xfrm>
            <a:off x="6508750" y="3332360"/>
            <a:ext cx="5016564" cy="34925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500"/>
              </a:lnSpc>
              <a:defRPr sz="1700">
                <a:solidFill>
                  <a:srgbClr val="ECE8DD"/>
                </a:solidFill>
                <a:latin typeface="JetBrains Mono"/>
                <a:ea typeface="JetBrains Mono"/>
                <a:cs typeface="JetBrains Mono"/>
                <a:sym typeface="JetBrains Mono"/>
              </a:defRPr>
            </a:lvl1pPr>
          </a:lstStyle>
          <a:p>
            <a:pPr/>
            <a:r>
              <a:t>search → narrow → widen → follow</a:t>
            </a:r>
          </a:p>
        </p:txBody>
      </p:sp>
      <p:sp>
        <p:nvSpPr>
          <p:cNvPr id="148" name="Text 8"/>
          <p:cNvSpPr txBox="1"/>
          <p:nvPr/>
        </p:nvSpPr>
        <p:spPr>
          <a:xfrm>
            <a:off x="6508750" y="3783210"/>
            <a:ext cx="5016564" cy="6425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a:solidFill>
                  <a:srgbClr val="ECE8DD"/>
                </a:solidFill>
              </a:defRPr>
            </a:lvl1pPr>
          </a:lstStyle>
          <a:p>
            <a:pPr/>
            <a:r>
              <a:t>With an algebraic language it can compose, with answers that come back places it can go next.</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Text 0"/>
          <p:cNvSpPr txBox="1"/>
          <p:nvPr/>
        </p:nvSpPr>
        <p:spPr>
          <a:xfrm>
            <a:off x="812799" y="7112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THE PROBLEM</a:t>
            </a:r>
          </a:p>
        </p:txBody>
      </p:sp>
      <p:sp>
        <p:nvSpPr>
          <p:cNvPr id="153" name="Text 1"/>
          <p:cNvSpPr txBox="1"/>
          <p:nvPr>
            <p:ph type="title"/>
          </p:nvPr>
        </p:nvSpPr>
        <p:spPr>
          <a:xfrm>
            <a:off x="812799" y="1264890"/>
            <a:ext cx="10203182" cy="1412181"/>
          </a:xfrm>
          <a:prstGeom prst="rect">
            <a:avLst/>
          </a:prstGeom>
        </p:spPr>
        <p:txBody>
          <a:bodyPr/>
          <a:lstStyle>
            <a:lvl1pPr>
              <a:lnSpc>
                <a:spcPts val="5400"/>
              </a:lnSpc>
            </a:lvl1pPr>
          </a:lstStyle>
          <a:p>
            <a:pPr/>
            <a:r>
              <a:t>Rewriting the query is a patch on the index.</a:t>
            </a:r>
          </a:p>
        </p:txBody>
      </p:sp>
      <p:sp>
        <p:nvSpPr>
          <p:cNvPr id="154" name="Text 2"/>
          <p:cNvSpPr txBox="1"/>
          <p:nvPr/>
        </p:nvSpPr>
        <p:spPr>
          <a:xfrm>
            <a:off x="812800" y="2962821"/>
            <a:ext cx="1701800" cy="3454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500"/>
              </a:lnSpc>
              <a:defRPr>
                <a:solidFill>
                  <a:schemeClr val="accent1"/>
                </a:solidFill>
                <a:latin typeface="JetBrains Mono"/>
                <a:ea typeface="JetBrains Mono"/>
                <a:cs typeface="JetBrains Mono"/>
                <a:sym typeface="JetBrains Mono"/>
              </a:defRPr>
            </a:lvl1pPr>
          </a:lstStyle>
          <a:p>
            <a:pPr/>
            <a:r>
              <a:t>HyDE</a:t>
            </a:r>
          </a:p>
        </p:txBody>
      </p:sp>
      <p:sp>
        <p:nvSpPr>
          <p:cNvPr id="155" name="Text 3"/>
          <p:cNvSpPr txBox="1"/>
          <p:nvPr/>
        </p:nvSpPr>
        <p:spPr>
          <a:xfrm>
            <a:off x="2667000" y="2956471"/>
            <a:ext cx="8796278" cy="33908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sz="1900">
                <a:solidFill>
                  <a:srgbClr val="ECE8DD"/>
                </a:solidFill>
              </a:defRPr>
            </a:lvl1pPr>
          </a:lstStyle>
          <a:p>
            <a:pPr/>
            <a:r>
              <a:t>An LLM writes a fake answer so the vector lands nearer the real one.</a:t>
            </a:r>
          </a:p>
        </p:txBody>
      </p:sp>
      <p:sp>
        <p:nvSpPr>
          <p:cNvPr id="156" name="Text 4"/>
          <p:cNvSpPr txBox="1"/>
          <p:nvPr/>
        </p:nvSpPr>
        <p:spPr>
          <a:xfrm>
            <a:off x="812800" y="3467001"/>
            <a:ext cx="1701800" cy="6654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500"/>
              </a:lnSpc>
              <a:defRPr>
                <a:solidFill>
                  <a:schemeClr val="accent1"/>
                </a:solidFill>
                <a:latin typeface="JetBrains Mono"/>
                <a:ea typeface="JetBrains Mono"/>
                <a:cs typeface="JetBrains Mono"/>
                <a:sym typeface="JetBrains Mono"/>
              </a:defRPr>
            </a:lvl1pPr>
          </a:lstStyle>
          <a:p>
            <a:pPr/>
            <a:r>
              <a:t>Query rewrite</a:t>
            </a:r>
          </a:p>
        </p:txBody>
      </p:sp>
      <p:sp>
        <p:nvSpPr>
          <p:cNvPr id="157" name="Text 5"/>
          <p:cNvSpPr txBox="1"/>
          <p:nvPr/>
        </p:nvSpPr>
        <p:spPr>
          <a:xfrm>
            <a:off x="2666999" y="3460651"/>
            <a:ext cx="7581842" cy="33908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sz="1900">
                <a:solidFill>
                  <a:srgbClr val="ECE8DD"/>
                </a:solidFill>
              </a:defRPr>
            </a:lvl1pPr>
          </a:lstStyle>
          <a:p>
            <a:pPr/>
            <a:r>
              <a:t>An LLM guesses the words the document might have used.</a:t>
            </a:r>
          </a:p>
        </p:txBody>
      </p:sp>
      <p:sp>
        <p:nvSpPr>
          <p:cNvPr id="158" name="Text 6"/>
          <p:cNvSpPr txBox="1"/>
          <p:nvPr/>
        </p:nvSpPr>
        <p:spPr>
          <a:xfrm>
            <a:off x="812800" y="4291210"/>
            <a:ext cx="1701800" cy="3454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500"/>
              </a:lnSpc>
              <a:defRPr>
                <a:solidFill>
                  <a:schemeClr val="accent1"/>
                </a:solidFill>
                <a:latin typeface="JetBrains Mono"/>
                <a:ea typeface="JetBrains Mono"/>
                <a:cs typeface="JetBrains Mono"/>
                <a:sym typeface="JetBrains Mono"/>
              </a:defRPr>
            </a:lvl1pPr>
          </a:lstStyle>
          <a:p>
            <a:pPr/>
            <a:r>
              <a:t>Reranker</a:t>
            </a:r>
          </a:p>
        </p:txBody>
      </p:sp>
      <p:sp>
        <p:nvSpPr>
          <p:cNvPr id="159" name="Text 7"/>
          <p:cNvSpPr txBox="1"/>
          <p:nvPr/>
        </p:nvSpPr>
        <p:spPr>
          <a:xfrm>
            <a:off x="2667000" y="4284860"/>
            <a:ext cx="7244537" cy="33908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sz="1900">
                <a:solidFill>
                  <a:srgbClr val="ECE8DD"/>
                </a:solidFill>
              </a:defRPr>
            </a:lvl1pPr>
          </a:lstStyle>
          <a:p>
            <a:pPr/>
            <a:r>
              <a:t>A cross-encoder re-reads the candidates it was handed.</a:t>
            </a:r>
          </a:p>
        </p:txBody>
      </p:sp>
      <p:sp>
        <p:nvSpPr>
          <p:cNvPr id="160" name="Text 8"/>
          <p:cNvSpPr txBox="1"/>
          <p:nvPr/>
        </p:nvSpPr>
        <p:spPr>
          <a:xfrm>
            <a:off x="812800" y="4916041"/>
            <a:ext cx="9810750" cy="685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600"/>
              </a:lnSpc>
              <a:defRPr sz="2000">
                <a:solidFill>
                  <a:schemeClr val="accent2"/>
                </a:solidFill>
              </a:defRPr>
            </a:lvl1pPr>
          </a:lstStyle>
          <a:p>
            <a:pPr/>
            <a:r>
              <a:t>Every patch costs a model call, and none of them can reach a part of a record the index never kept track of.</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Text 0"/>
          <p:cNvSpPr txBox="1"/>
          <p:nvPr/>
        </p:nvSpPr>
        <p:spPr>
          <a:xfrm>
            <a:off x="812799" y="6604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HOW WE MEASURE</a:t>
            </a:r>
          </a:p>
        </p:txBody>
      </p:sp>
      <p:sp>
        <p:nvSpPr>
          <p:cNvPr id="165" name="Text 1"/>
          <p:cNvSpPr txBox="1"/>
          <p:nvPr>
            <p:ph type="title"/>
          </p:nvPr>
        </p:nvSpPr>
        <p:spPr>
          <a:xfrm>
            <a:off x="812799" y="1137890"/>
            <a:ext cx="10203182" cy="1358901"/>
          </a:xfrm>
          <a:prstGeom prst="rect">
            <a:avLst/>
          </a:prstGeom>
        </p:spPr>
        <p:txBody>
          <a:bodyPr/>
          <a:lstStyle>
            <a:lvl1pPr>
              <a:lnSpc>
                <a:spcPts val="5200"/>
              </a:lnSpc>
              <a:defRPr sz="5000"/>
            </a:lvl1pPr>
          </a:lstStyle>
          <a:p>
            <a:pPr/>
            <a:r>
              <a:t>The lesson everyone took from BEIR: BM25 beats embeddings.</a:t>
            </a:r>
          </a:p>
        </p:txBody>
      </p:sp>
      <p:sp>
        <p:nvSpPr>
          <p:cNvPr id="166" name="Shape 2"/>
          <p:cNvSpPr/>
          <p:nvPr/>
        </p:nvSpPr>
        <p:spPr>
          <a:xfrm flipH="1">
            <a:off x="831849" y="2699990"/>
            <a:ext cx="1" cy="1412777"/>
          </a:xfrm>
          <a:prstGeom prst="line">
            <a:avLst/>
          </a:prstGeom>
          <a:ln w="38100">
            <a:solidFill>
              <a:schemeClr val="accent1"/>
            </a:solidFill>
          </a:ln>
        </p:spPr>
        <p:txBody>
          <a:bodyPr lIns="45719" rIns="45719"/>
          <a:lstStyle/>
          <a:p>
            <a:pPr>
              <a:defRPr>
                <a:solidFill>
                  <a:srgbClr val="ECE8DD"/>
                </a:solidFill>
              </a:defRPr>
            </a:pPr>
          </a:p>
        </p:txBody>
      </p:sp>
      <p:sp>
        <p:nvSpPr>
          <p:cNvPr id="167" name="Text 3"/>
          <p:cNvSpPr txBox="1"/>
          <p:nvPr/>
        </p:nvSpPr>
        <p:spPr>
          <a:xfrm>
            <a:off x="1130300" y="2750790"/>
            <a:ext cx="9483725" cy="1105447"/>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859536">
              <a:lnSpc>
                <a:spcPts val="2600"/>
              </a:lnSpc>
              <a:defRPr i="1" sz="1974">
                <a:solidFill>
                  <a:srgbClr val="ECE8DD"/>
                </a:solidFill>
                <a:latin typeface="EB Garamond"/>
                <a:ea typeface="EB Garamond"/>
                <a:cs typeface="EB Garamond"/>
                <a:sym typeface="EB Garamond"/>
              </a:defRPr>
            </a:lvl1pPr>
          </a:lstStyle>
          <a:p>
            <a:pPr/>
            <a:r>
              <a:t>“Fine-tuned semantic vector models excel on in-domain data, but their performance drastically degrades in zero-shot environments … the classic lexical baseline (BM25) systematically beat state-of-the-art dense vector models due to semantic drift.”</a:t>
            </a:r>
          </a:p>
        </p:txBody>
      </p:sp>
      <p:sp>
        <p:nvSpPr>
          <p:cNvPr id="168" name="Text 4"/>
          <p:cNvSpPr txBox="1"/>
          <p:nvPr/>
        </p:nvSpPr>
        <p:spPr>
          <a:xfrm>
            <a:off x="1130300" y="3830835"/>
            <a:ext cx="9483725"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sz="1300">
                <a:solidFill>
                  <a:schemeClr val="accent3"/>
                </a:solidFill>
              </a:defRPr>
            </a:pPr>
            <a:r>
              <a:t>The usual retelling of Thakur, Reimers, Rücklé, Srivastava &amp; Gurevych, </a:t>
            </a:r>
            <a:r>
              <a:rPr i="1"/>
              <a:t>BEIR</a:t>
            </a:r>
            <a:r>
              <a:t> (2021), arXiv:2104.08663</a:t>
            </a:r>
          </a:p>
        </p:txBody>
      </p:sp>
      <p:sp>
        <p:nvSpPr>
          <p:cNvPr id="169" name="Text 5"/>
          <p:cNvSpPr txBox="1"/>
          <p:nvPr/>
        </p:nvSpPr>
        <p:spPr>
          <a:xfrm>
            <a:off x="812800" y="4341366"/>
            <a:ext cx="9810750" cy="3225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300"/>
              </a:lnSpc>
              <a:defRPr>
                <a:solidFill>
                  <a:schemeClr val="accent2"/>
                </a:solidFill>
              </a:defRPr>
            </a:lvl1pPr>
          </a:lstStyle>
          <a:p>
            <a:pPr/>
            <a:r>
              <a:t>Repeated until “beats” sounds like a measurement.</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Text 0"/>
          <p:cNvSpPr txBox="1"/>
          <p:nvPr/>
        </p:nvSpPr>
        <p:spPr>
          <a:xfrm>
            <a:off x="812799" y="6604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HOW WE MEASURE</a:t>
            </a:r>
          </a:p>
        </p:txBody>
      </p:sp>
      <p:sp>
        <p:nvSpPr>
          <p:cNvPr id="174" name="Text 1"/>
          <p:cNvSpPr txBox="1"/>
          <p:nvPr>
            <p:ph type="title"/>
          </p:nvPr>
        </p:nvSpPr>
        <p:spPr>
          <a:xfrm>
            <a:off x="812799" y="1137890"/>
            <a:ext cx="10203182" cy="692151"/>
          </a:xfrm>
          <a:prstGeom prst="rect">
            <a:avLst/>
          </a:prstGeom>
        </p:spPr>
        <p:txBody>
          <a:bodyPr/>
          <a:lstStyle>
            <a:lvl1pPr>
              <a:lnSpc>
                <a:spcPts val="5200"/>
              </a:lnSpc>
              <a:defRPr sz="5000"/>
            </a:lvl1pPr>
          </a:lstStyle>
          <a:p>
            <a:pPr/>
            <a:r>
              <a:t>There is no “beats”.</a:t>
            </a:r>
          </a:p>
        </p:txBody>
      </p:sp>
      <p:sp>
        <p:nvSpPr>
          <p:cNvPr id="175" name="Text 2"/>
          <p:cNvSpPr txBox="1"/>
          <p:nvPr/>
        </p:nvSpPr>
        <p:spPr>
          <a:xfrm>
            <a:off x="812800" y="2033240"/>
            <a:ext cx="5386817"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pc="100" sz="1300">
                <a:solidFill>
                  <a:schemeClr val="accent3"/>
                </a:solidFill>
              </a:defRPr>
            </a:lvl1pPr>
          </a:lstStyle>
          <a:p>
            <a:pPr/>
            <a:r>
              <a:t>UNJUDGED RESULTS IN THE TOP 10 (BEIR §6)</a:t>
            </a:r>
          </a:p>
        </p:txBody>
      </p:sp>
      <p:sp>
        <p:nvSpPr>
          <p:cNvPr id="176" name="Text 3"/>
          <p:cNvSpPr txBox="1"/>
          <p:nvPr/>
        </p:nvSpPr>
        <p:spPr>
          <a:xfrm>
            <a:off x="812800" y="2379910"/>
            <a:ext cx="1257300"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sz="1400">
                <a:solidFill>
                  <a:schemeClr val="accent2"/>
                </a:solidFill>
                <a:latin typeface="JetBrains Mono"/>
                <a:ea typeface="JetBrains Mono"/>
                <a:cs typeface="JetBrains Mono"/>
                <a:sym typeface="JetBrains Mono"/>
              </a:defRPr>
            </a:lvl1pPr>
          </a:lstStyle>
          <a:p>
            <a:pPr/>
            <a:r>
              <a:t>BM25</a:t>
            </a:r>
          </a:p>
        </p:txBody>
      </p:sp>
      <p:sp>
        <p:nvSpPr>
          <p:cNvPr id="177" name="Shape 4"/>
          <p:cNvSpPr/>
          <p:nvPr/>
        </p:nvSpPr>
        <p:spPr>
          <a:xfrm>
            <a:off x="2146300" y="2364680"/>
            <a:ext cx="387350" cy="279401"/>
          </a:xfrm>
          <a:prstGeom prst="roundRect">
            <a:avLst>
              <a:gd name="adj" fmla="val 9091"/>
            </a:avLst>
          </a:prstGeom>
          <a:solidFill>
            <a:schemeClr val="accent1"/>
          </a:solidFill>
          <a:ln w="12700">
            <a:miter lim="400000"/>
          </a:ln>
        </p:spPr>
        <p:txBody>
          <a:bodyPr lIns="45719" rIns="45719"/>
          <a:lstStyle/>
          <a:p>
            <a:pPr>
              <a:defRPr>
                <a:solidFill>
                  <a:srgbClr val="ECE8DD"/>
                </a:solidFill>
              </a:defRPr>
            </a:pPr>
          </a:p>
        </p:txBody>
      </p:sp>
      <p:sp>
        <p:nvSpPr>
          <p:cNvPr id="178" name="Text 5"/>
          <p:cNvSpPr txBox="1"/>
          <p:nvPr/>
        </p:nvSpPr>
        <p:spPr>
          <a:xfrm>
            <a:off x="2660650" y="2353269"/>
            <a:ext cx="621805" cy="3276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300"/>
              </a:lnSpc>
              <a:defRPr sz="1700">
                <a:solidFill>
                  <a:srgbClr val="ECE8DD"/>
                </a:solidFill>
                <a:latin typeface="JetBrains Mono"/>
                <a:ea typeface="JetBrains Mono"/>
                <a:cs typeface="JetBrains Mono"/>
                <a:sym typeface="JetBrains Mono"/>
              </a:defRPr>
            </a:lvl1pPr>
          </a:lstStyle>
          <a:p>
            <a:pPr/>
            <a:r>
              <a:t>6.4%</a:t>
            </a:r>
          </a:p>
        </p:txBody>
      </p:sp>
      <p:sp>
        <p:nvSpPr>
          <p:cNvPr id="179" name="Text 6"/>
          <p:cNvSpPr txBox="1"/>
          <p:nvPr/>
        </p:nvSpPr>
        <p:spPr>
          <a:xfrm>
            <a:off x="812800" y="2758331"/>
            <a:ext cx="1257300"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sz="1400">
                <a:solidFill>
                  <a:schemeClr val="accent2"/>
                </a:solidFill>
                <a:latin typeface="JetBrains Mono"/>
                <a:ea typeface="JetBrains Mono"/>
                <a:cs typeface="JetBrains Mono"/>
                <a:sym typeface="JetBrains Mono"/>
              </a:defRPr>
            </a:lvl1pPr>
          </a:lstStyle>
          <a:p>
            <a:pPr/>
            <a:r>
              <a:t>ANCE</a:t>
            </a:r>
          </a:p>
        </p:txBody>
      </p:sp>
      <p:sp>
        <p:nvSpPr>
          <p:cNvPr id="180" name="Shape 7"/>
          <p:cNvSpPr/>
          <p:nvPr/>
        </p:nvSpPr>
        <p:spPr>
          <a:xfrm>
            <a:off x="2146300" y="2743100"/>
            <a:ext cx="876300" cy="279401"/>
          </a:xfrm>
          <a:prstGeom prst="roundRect">
            <a:avLst>
              <a:gd name="adj" fmla="val 9091"/>
            </a:avLst>
          </a:prstGeom>
          <a:solidFill>
            <a:schemeClr val="accent4"/>
          </a:solidFill>
          <a:ln w="12700">
            <a:miter lim="400000"/>
          </a:ln>
        </p:spPr>
        <p:txBody>
          <a:bodyPr lIns="45719" rIns="45719"/>
          <a:lstStyle/>
          <a:p>
            <a:pPr>
              <a:defRPr>
                <a:solidFill>
                  <a:srgbClr val="ECE8DD"/>
                </a:solidFill>
              </a:defRPr>
            </a:pPr>
          </a:p>
        </p:txBody>
      </p:sp>
      <p:sp>
        <p:nvSpPr>
          <p:cNvPr id="181" name="Text 8"/>
          <p:cNvSpPr txBox="1"/>
          <p:nvPr/>
        </p:nvSpPr>
        <p:spPr>
          <a:xfrm>
            <a:off x="3149600" y="2731691"/>
            <a:ext cx="777241" cy="3276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300"/>
              </a:lnSpc>
              <a:defRPr sz="1700">
                <a:solidFill>
                  <a:srgbClr val="ECE8DD"/>
                </a:solidFill>
                <a:latin typeface="JetBrains Mono"/>
                <a:ea typeface="JetBrains Mono"/>
                <a:cs typeface="JetBrains Mono"/>
                <a:sym typeface="JetBrains Mono"/>
              </a:defRPr>
            </a:lvl1pPr>
          </a:lstStyle>
          <a:p>
            <a:pPr/>
            <a:r>
              <a:t>14.4%</a:t>
            </a:r>
          </a:p>
        </p:txBody>
      </p:sp>
      <p:sp>
        <p:nvSpPr>
          <p:cNvPr id="182" name="Text 9"/>
          <p:cNvSpPr txBox="1"/>
          <p:nvPr/>
        </p:nvSpPr>
        <p:spPr>
          <a:xfrm>
            <a:off x="812800" y="3136750"/>
            <a:ext cx="1257300"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sz="1400">
                <a:solidFill>
                  <a:schemeClr val="accent2"/>
                </a:solidFill>
                <a:latin typeface="JetBrains Mono"/>
                <a:ea typeface="JetBrains Mono"/>
                <a:cs typeface="JetBrains Mono"/>
                <a:sym typeface="JetBrains Mono"/>
              </a:defRPr>
            </a:lvl1pPr>
          </a:lstStyle>
          <a:p>
            <a:pPr/>
            <a:r>
              <a:t>TAS-B</a:t>
            </a:r>
          </a:p>
        </p:txBody>
      </p:sp>
      <p:sp>
        <p:nvSpPr>
          <p:cNvPr id="183" name="Shape 10"/>
          <p:cNvSpPr/>
          <p:nvPr/>
        </p:nvSpPr>
        <p:spPr>
          <a:xfrm>
            <a:off x="2146300" y="3121521"/>
            <a:ext cx="1936750" cy="279401"/>
          </a:xfrm>
          <a:prstGeom prst="roundRect">
            <a:avLst>
              <a:gd name="adj" fmla="val 9091"/>
            </a:avLst>
          </a:prstGeom>
          <a:solidFill>
            <a:schemeClr val="accent4"/>
          </a:solidFill>
          <a:ln w="12700">
            <a:miter lim="400000"/>
          </a:ln>
        </p:spPr>
        <p:txBody>
          <a:bodyPr lIns="45719" rIns="45719"/>
          <a:lstStyle/>
          <a:p>
            <a:pPr>
              <a:defRPr>
                <a:solidFill>
                  <a:srgbClr val="ECE8DD"/>
                </a:solidFill>
              </a:defRPr>
            </a:pPr>
          </a:p>
        </p:txBody>
      </p:sp>
      <p:sp>
        <p:nvSpPr>
          <p:cNvPr id="184" name="Text 11"/>
          <p:cNvSpPr txBox="1"/>
          <p:nvPr/>
        </p:nvSpPr>
        <p:spPr>
          <a:xfrm>
            <a:off x="4210050" y="3110110"/>
            <a:ext cx="777241" cy="3276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300"/>
              </a:lnSpc>
              <a:defRPr sz="1700">
                <a:solidFill>
                  <a:srgbClr val="ECE8DD"/>
                </a:solidFill>
                <a:latin typeface="JetBrains Mono"/>
                <a:ea typeface="JetBrains Mono"/>
                <a:cs typeface="JetBrains Mono"/>
                <a:sym typeface="JetBrains Mono"/>
              </a:defRPr>
            </a:lvl1pPr>
          </a:lstStyle>
          <a:p>
            <a:pPr/>
            <a:r>
              <a:t>31.8%</a:t>
            </a:r>
          </a:p>
        </p:txBody>
      </p:sp>
      <p:sp>
        <p:nvSpPr>
          <p:cNvPr id="185" name="Text 12"/>
          <p:cNvSpPr txBox="1"/>
          <p:nvPr/>
        </p:nvSpPr>
        <p:spPr>
          <a:xfrm>
            <a:off x="812800" y="3501230"/>
            <a:ext cx="5386817" cy="5054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chemeClr val="accent2"/>
                </a:solidFill>
              </a:defRPr>
            </a:lvl1pPr>
          </a:lstStyle>
          <a:p>
            <a:pPr/>
            <a:r>
              <a:t>Unjudged counts as wrong. In the authors’ words, this can give “an unfair disadvantage to non-lexical approaches.”</a:t>
            </a:r>
          </a:p>
        </p:txBody>
      </p:sp>
      <p:sp>
        <p:nvSpPr>
          <p:cNvPr id="186" name="Shape 13"/>
          <p:cNvSpPr/>
          <p:nvPr/>
        </p:nvSpPr>
        <p:spPr>
          <a:xfrm>
            <a:off x="6398319" y="2045940"/>
            <a:ext cx="4980881" cy="1"/>
          </a:xfrm>
          <a:prstGeom prst="line">
            <a:avLst/>
          </a:prstGeom>
          <a:ln w="25400">
            <a:solidFill>
              <a:schemeClr val="accent4"/>
            </a:solidFill>
          </a:ln>
        </p:spPr>
        <p:txBody>
          <a:bodyPr lIns="45719" rIns="45719"/>
          <a:lstStyle/>
          <a:p>
            <a:pPr>
              <a:defRPr>
                <a:solidFill>
                  <a:srgbClr val="ECE8DD"/>
                </a:solidFill>
              </a:defRPr>
            </a:pPr>
          </a:p>
        </p:txBody>
      </p:sp>
      <p:sp>
        <p:nvSpPr>
          <p:cNvPr id="187" name="Text 14"/>
          <p:cNvSpPr txBox="1"/>
          <p:nvPr/>
        </p:nvSpPr>
        <p:spPr>
          <a:xfrm>
            <a:off x="6398319" y="2160240"/>
            <a:ext cx="5130308" cy="2844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b="1" sz="1700">
                <a:solidFill>
                  <a:srgbClr val="ECE8DD"/>
                </a:solidFill>
              </a:defRPr>
            </a:lvl1pPr>
          </a:lstStyle>
          <a:p>
            <a:pPr/>
            <a:r>
              <a:t>The abstract’s winner isn’t BM25.</a:t>
            </a:r>
          </a:p>
        </p:txBody>
      </p:sp>
      <p:sp>
        <p:nvSpPr>
          <p:cNvPr id="188" name="Text 15"/>
          <p:cNvSpPr txBox="1"/>
          <p:nvPr/>
        </p:nvSpPr>
        <p:spPr>
          <a:xfrm>
            <a:off x="6398319" y="2419300"/>
            <a:ext cx="5130308" cy="5054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chemeClr val="accent2"/>
                </a:solidFill>
              </a:defRPr>
            </a:lvl1pPr>
          </a:lstStyle>
          <a:p>
            <a:pPr/>
            <a:r>
              <a:t>Re-ranking and late-interaction models score best on average, at high computational cost. BM25 is “a robust baseline”.</a:t>
            </a:r>
          </a:p>
        </p:txBody>
      </p:sp>
      <p:sp>
        <p:nvSpPr>
          <p:cNvPr id="189" name="Shape 16"/>
          <p:cNvSpPr/>
          <p:nvPr/>
        </p:nvSpPr>
        <p:spPr>
          <a:xfrm>
            <a:off x="6398319" y="3077121"/>
            <a:ext cx="4980881" cy="1"/>
          </a:xfrm>
          <a:prstGeom prst="line">
            <a:avLst/>
          </a:prstGeom>
          <a:ln w="25400">
            <a:solidFill>
              <a:schemeClr val="accent4"/>
            </a:solidFill>
          </a:ln>
        </p:spPr>
        <p:txBody>
          <a:bodyPr lIns="45719" rIns="45719"/>
          <a:lstStyle/>
          <a:p>
            <a:pPr>
              <a:defRPr>
                <a:solidFill>
                  <a:srgbClr val="ECE8DD"/>
                </a:solidFill>
              </a:defRPr>
            </a:pPr>
          </a:p>
        </p:txBody>
      </p:sp>
      <p:sp>
        <p:nvSpPr>
          <p:cNvPr id="190" name="Text 17"/>
          <p:cNvSpPr txBox="1"/>
          <p:nvPr/>
        </p:nvSpPr>
        <p:spPr>
          <a:xfrm>
            <a:off x="6398319" y="3191421"/>
            <a:ext cx="5130308" cy="2844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b="1" sz="1700">
                <a:solidFill>
                  <a:srgbClr val="ECE8DD"/>
                </a:solidFill>
              </a:defRPr>
            </a:lvl1pPr>
          </a:lstStyle>
          <a:p>
            <a:pPr/>
            <a:r>
              <a:t>Robust is not better.</a:t>
            </a:r>
          </a:p>
        </p:txBody>
      </p:sp>
      <p:sp>
        <p:nvSpPr>
          <p:cNvPr id="191" name="Text 18"/>
          <p:cNvSpPr txBox="1"/>
          <p:nvPr/>
        </p:nvSpPr>
        <p:spPr>
          <a:xfrm>
            <a:off x="6398319" y="3450480"/>
            <a:ext cx="5130308" cy="5054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chemeClr val="accent2"/>
                </a:solidFill>
              </a:defRPr>
            </a:lvl1pPr>
          </a:lstStyle>
          <a:p>
            <a:pPr/>
            <a:r>
              <a:t>A tuned model leaves its domain. BM25 never had one to leave.</a:t>
            </a:r>
          </a:p>
        </p:txBody>
      </p:sp>
      <p:sp>
        <p:nvSpPr>
          <p:cNvPr id="192" name="Shape 19"/>
          <p:cNvSpPr/>
          <p:nvPr/>
        </p:nvSpPr>
        <p:spPr>
          <a:xfrm>
            <a:off x="6398319" y="4108301"/>
            <a:ext cx="4980881" cy="1"/>
          </a:xfrm>
          <a:prstGeom prst="line">
            <a:avLst/>
          </a:prstGeom>
          <a:ln w="25400">
            <a:solidFill>
              <a:schemeClr val="accent1"/>
            </a:solidFill>
          </a:ln>
        </p:spPr>
        <p:txBody>
          <a:bodyPr lIns="45719" rIns="45719"/>
          <a:lstStyle/>
          <a:p>
            <a:pPr>
              <a:defRPr>
                <a:solidFill>
                  <a:srgbClr val="ECE8DD"/>
                </a:solidFill>
              </a:defRPr>
            </a:pPr>
          </a:p>
        </p:txBody>
      </p:sp>
      <p:sp>
        <p:nvSpPr>
          <p:cNvPr id="193" name="Text 20"/>
          <p:cNvSpPr txBox="1"/>
          <p:nvPr/>
        </p:nvSpPr>
        <p:spPr>
          <a:xfrm>
            <a:off x="6398319" y="4222601"/>
            <a:ext cx="5130308" cy="2844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b="1" sz="1700">
                <a:solidFill>
                  <a:srgbClr val="ECE8DD"/>
                </a:solidFill>
              </a:defRPr>
            </a:lvl1pPr>
          </a:lstStyle>
          <a:p>
            <a:pPr/>
            <a:r>
              <a:t>Words and meaning are different evidence.</a:t>
            </a:r>
          </a:p>
        </p:txBody>
      </p:sp>
      <p:sp>
        <p:nvSpPr>
          <p:cNvPr id="194" name="Text 21"/>
          <p:cNvSpPr txBox="1"/>
          <p:nvPr/>
        </p:nvSpPr>
        <p:spPr>
          <a:xfrm>
            <a:off x="6398319" y="4481660"/>
            <a:ext cx="5130308" cy="26541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chemeClr val="accent2"/>
                </a:solidFill>
              </a:defRPr>
            </a:lvl1pPr>
          </a:lstStyle>
          <a:p>
            <a:pPr/>
            <a:r>
              <a:t>Ask what each one tells you, not which one wins.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Text 0"/>
          <p:cNvSpPr txBox="1"/>
          <p:nvPr/>
        </p:nvSpPr>
        <p:spPr>
          <a:xfrm>
            <a:off x="812799" y="7112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HOW WE MEASURE</a:t>
            </a:r>
          </a:p>
        </p:txBody>
      </p:sp>
      <p:sp>
        <p:nvSpPr>
          <p:cNvPr id="199" name="Text 1"/>
          <p:cNvSpPr txBox="1"/>
          <p:nvPr>
            <p:ph type="title"/>
          </p:nvPr>
        </p:nvSpPr>
        <p:spPr>
          <a:xfrm>
            <a:off x="812799" y="1264890"/>
            <a:ext cx="10203182" cy="1412181"/>
          </a:xfrm>
          <a:prstGeom prst="rect">
            <a:avLst/>
          </a:prstGeom>
        </p:spPr>
        <p:txBody>
          <a:bodyPr/>
          <a:lstStyle>
            <a:lvl1pPr>
              <a:lnSpc>
                <a:spcPts val="5400"/>
              </a:lnSpc>
            </a:lvl1pPr>
          </a:lstStyle>
          <a:p>
            <a:pPr/>
            <a:r>
              <a:t>The benchmark rewards the stack it was built around.</a:t>
            </a:r>
          </a:p>
        </p:txBody>
      </p:sp>
      <p:sp>
        <p:nvSpPr>
          <p:cNvPr id="200" name="Shape 2"/>
          <p:cNvSpPr/>
          <p:nvPr/>
        </p:nvSpPr>
        <p:spPr>
          <a:xfrm>
            <a:off x="812800" y="2969171"/>
            <a:ext cx="3352800" cy="1"/>
          </a:xfrm>
          <a:prstGeom prst="line">
            <a:avLst/>
          </a:prstGeom>
          <a:ln w="25400">
            <a:solidFill>
              <a:schemeClr val="accent1"/>
            </a:solidFill>
          </a:ln>
        </p:spPr>
        <p:txBody>
          <a:bodyPr lIns="45719" rIns="45719"/>
          <a:lstStyle/>
          <a:p>
            <a:pPr>
              <a:defRPr>
                <a:solidFill>
                  <a:srgbClr val="ECE8DD"/>
                </a:solidFill>
              </a:defRPr>
            </a:pPr>
          </a:p>
        </p:txBody>
      </p:sp>
      <p:sp>
        <p:nvSpPr>
          <p:cNvPr id="201" name="Text 3"/>
          <p:cNvSpPr txBox="1"/>
          <p:nvPr/>
        </p:nvSpPr>
        <p:spPr>
          <a:xfrm>
            <a:off x="812799" y="3159671"/>
            <a:ext cx="3453386" cy="4165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000"/>
              </a:lnSpc>
              <a:defRPr b="1" sz="2200">
                <a:solidFill>
                  <a:srgbClr val="ECE8DD"/>
                </a:solidFill>
              </a:defRPr>
            </a:lvl1pPr>
          </a:lstStyle>
          <a:p>
            <a:pPr/>
            <a:r>
              <a:t>Pooled judgments</a:t>
            </a:r>
          </a:p>
        </p:txBody>
      </p:sp>
      <p:sp>
        <p:nvSpPr>
          <p:cNvPr id="202" name="Text 4"/>
          <p:cNvSpPr txBox="1"/>
          <p:nvPr/>
        </p:nvSpPr>
        <p:spPr>
          <a:xfrm>
            <a:off x="812799" y="3639691"/>
            <a:ext cx="3453386" cy="112256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600">
                <a:solidFill>
                  <a:schemeClr val="accent2"/>
                </a:solidFill>
              </a:defRPr>
            </a:lvl1pPr>
          </a:lstStyle>
          <a:p>
            <a:pPr/>
            <a:r>
              <a:t>Only documents some system already returned were ever judged. A method that finds something new is scored as wrong.</a:t>
            </a:r>
          </a:p>
        </p:txBody>
      </p:sp>
      <p:sp>
        <p:nvSpPr>
          <p:cNvPr id="203" name="Shape 5"/>
          <p:cNvSpPr/>
          <p:nvPr/>
        </p:nvSpPr>
        <p:spPr>
          <a:xfrm>
            <a:off x="4419600" y="2969171"/>
            <a:ext cx="3352800" cy="1"/>
          </a:xfrm>
          <a:prstGeom prst="line">
            <a:avLst/>
          </a:prstGeom>
          <a:ln w="25400">
            <a:solidFill>
              <a:schemeClr val="accent1"/>
            </a:solidFill>
          </a:ln>
        </p:spPr>
        <p:txBody>
          <a:bodyPr lIns="45719" rIns="45719"/>
          <a:lstStyle/>
          <a:p>
            <a:pPr>
              <a:defRPr>
                <a:solidFill>
                  <a:srgbClr val="ECE8DD"/>
                </a:solidFill>
              </a:defRPr>
            </a:pPr>
          </a:p>
        </p:txBody>
      </p:sp>
      <p:sp>
        <p:nvSpPr>
          <p:cNvPr id="204" name="Text 6"/>
          <p:cNvSpPr txBox="1"/>
          <p:nvPr/>
        </p:nvSpPr>
        <p:spPr>
          <a:xfrm>
            <a:off x="4419600" y="3159671"/>
            <a:ext cx="3453385" cy="4165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000"/>
              </a:lnSpc>
              <a:defRPr b="1" sz="2200">
                <a:solidFill>
                  <a:srgbClr val="ECE8DD"/>
                </a:solidFill>
              </a:defRPr>
            </a:lvl1pPr>
          </a:lstStyle>
          <a:p>
            <a:pPr/>
            <a:r>
              <a:t>Flattened schema</a:t>
            </a:r>
          </a:p>
        </p:txBody>
      </p:sp>
      <p:sp>
        <p:nvSpPr>
          <p:cNvPr id="205" name="Text 7"/>
          <p:cNvSpPr txBox="1"/>
          <p:nvPr/>
        </p:nvSpPr>
        <p:spPr>
          <a:xfrm>
            <a:off x="4419600" y="3639691"/>
            <a:ext cx="3453385" cy="84827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600">
                <a:solidFill>
                  <a:schemeClr val="accent2"/>
                </a:solidFill>
              </a:defRPr>
            </a:lvl1pPr>
          </a:lstStyle>
          <a:p>
            <a:pPr/>
            <a:r>
              <a:t>Title and text become one string. Fields, structure and hierarchy are not part of the task.</a:t>
            </a:r>
          </a:p>
        </p:txBody>
      </p:sp>
      <p:sp>
        <p:nvSpPr>
          <p:cNvPr id="206" name="Shape 8"/>
          <p:cNvSpPr/>
          <p:nvPr/>
        </p:nvSpPr>
        <p:spPr>
          <a:xfrm>
            <a:off x="8026400" y="2969171"/>
            <a:ext cx="3352800" cy="1"/>
          </a:xfrm>
          <a:prstGeom prst="line">
            <a:avLst/>
          </a:prstGeom>
          <a:ln w="25400">
            <a:solidFill>
              <a:schemeClr val="accent1"/>
            </a:solidFill>
          </a:ln>
        </p:spPr>
        <p:txBody>
          <a:bodyPr lIns="45719" rIns="45719"/>
          <a:lstStyle/>
          <a:p>
            <a:pPr>
              <a:defRPr>
                <a:solidFill>
                  <a:srgbClr val="ECE8DD"/>
                </a:solidFill>
              </a:defRPr>
            </a:pPr>
          </a:p>
        </p:txBody>
      </p:sp>
      <p:sp>
        <p:nvSpPr>
          <p:cNvPr id="207" name="Text 9"/>
          <p:cNvSpPr txBox="1"/>
          <p:nvPr/>
        </p:nvSpPr>
        <p:spPr>
          <a:xfrm>
            <a:off x="8026400" y="3159671"/>
            <a:ext cx="3453385" cy="8076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000"/>
              </a:lnSpc>
              <a:defRPr b="1" sz="2200">
                <a:solidFill>
                  <a:srgbClr val="ECE8DD"/>
                </a:solidFill>
              </a:defRPr>
            </a:lvl1pPr>
          </a:lstStyle>
          <a:p>
            <a:pPr/>
            <a:r>
              <a:t>Encoder-sized documents</a:t>
            </a:r>
          </a:p>
        </p:txBody>
      </p:sp>
      <p:sp>
        <p:nvSpPr>
          <p:cNvPr id="208" name="Text 10"/>
          <p:cNvSpPr txBox="1"/>
          <p:nvPr/>
        </p:nvSpPr>
        <p:spPr>
          <a:xfrm>
            <a:off x="8026400" y="4030810"/>
            <a:ext cx="3453385" cy="84827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600">
                <a:solidFill>
                  <a:schemeClr val="accent2"/>
                </a:solidFill>
              </a:defRPr>
            </a:lvl1pPr>
          </a:lstStyle>
          <a:p>
            <a:pPr/>
            <a:r>
              <a:t>Inputs fit a 512-token window, so long records are not what is being tested.</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Structure defines meaning"/>
          <p:cNvSpPr txBox="1"/>
          <p:nvPr>
            <p:ph type="title"/>
          </p:nvPr>
        </p:nvSpPr>
        <p:spPr>
          <a:xfrm>
            <a:off x="787024" y="324445"/>
            <a:ext cx="9906001" cy="1333501"/>
          </a:xfrm>
          <a:prstGeom prst="rect">
            <a:avLst/>
          </a:prstGeom>
        </p:spPr>
        <p:txBody>
          <a:bodyPr/>
          <a:lstStyle/>
          <a:p>
            <a:pPr/>
            <a:r>
              <a:t>Structure defines meaning</a:t>
            </a:r>
          </a:p>
        </p:txBody>
      </p:sp>
      <p:sp>
        <p:nvSpPr>
          <p:cNvPr id="213" name="&quot;Nur der Satz hat Sinn; nur im Zusammenhange des Satzes hat ein Name Bedeutung.”…"/>
          <p:cNvSpPr txBox="1"/>
          <p:nvPr>
            <p:ph type="body" idx="1"/>
          </p:nvPr>
        </p:nvSpPr>
        <p:spPr>
          <a:xfrm>
            <a:off x="812800" y="1432728"/>
            <a:ext cx="10566401" cy="4805792"/>
          </a:xfrm>
          <a:prstGeom prst="rect">
            <a:avLst/>
          </a:prstGeom>
        </p:spPr>
        <p:txBody>
          <a:bodyPr/>
          <a:lstStyle/>
          <a:p>
            <a:pPr defTabSz="868680">
              <a:defRPr sz="1994"/>
            </a:pPr>
            <a:r>
              <a:t>"Nur der Satz hat Sinn; nur im Zusammenhange des Satzes hat ein Name Bedeutung.”</a:t>
            </a:r>
          </a:p>
          <a:p>
            <a:pPr defTabSz="868680">
              <a:defRPr sz="1994"/>
            </a:pPr>
            <a:r>
              <a:t>"Only the proposition has sense; only in the context of a proposition has a name meaning."</a:t>
            </a:r>
          </a:p>
          <a:p>
            <a:pPr defTabSz="434340">
              <a:lnSpc>
                <a:spcPct val="100000"/>
              </a:lnSpc>
              <a:spcBef>
                <a:spcPts val="0"/>
              </a:spcBef>
              <a:defRPr i="1" sz="1994">
                <a:solidFill>
                  <a:srgbClr val="000000"/>
                </a:solidFill>
              </a:defRPr>
            </a:pPr>
            <a:r>
              <a:rPr i="0"/>
              <a:t>—</a:t>
            </a:r>
            <a:r>
              <a:rPr i="0">
                <a:solidFill>
                  <a:srgbClr val="FFFFFF"/>
                </a:solidFill>
              </a:rPr>
              <a:t> </a:t>
            </a:r>
            <a:r>
              <a:rPr>
                <a:solidFill>
                  <a:srgbClr val="FFFFFF"/>
                </a:solidFill>
              </a:rPr>
              <a:t>Tractatus Logico-Philosophicus, 3.3 </a:t>
            </a:r>
            <a:endParaRPr>
              <a:solidFill>
                <a:srgbClr val="FFFFFF"/>
              </a:solidFill>
            </a:endParaRPr>
          </a:p>
          <a:p>
            <a:pPr defTabSz="434340">
              <a:lnSpc>
                <a:spcPct val="100000"/>
              </a:lnSpc>
              <a:spcBef>
                <a:spcPts val="0"/>
              </a:spcBef>
              <a:defRPr i="1" sz="1994">
                <a:solidFill>
                  <a:srgbClr val="000000"/>
                </a:solidFill>
              </a:defRPr>
            </a:pPr>
            <a:endParaRPr>
              <a:solidFill>
                <a:srgbClr val="FFFFFF"/>
              </a:solidFill>
            </a:endParaRPr>
          </a:p>
          <a:p>
            <a:pPr defTabSz="434340">
              <a:lnSpc>
                <a:spcPct val="100000"/>
              </a:lnSpc>
              <a:spcBef>
                <a:spcPts val="0"/>
              </a:spcBef>
              <a:defRPr i="1" sz="1994">
                <a:solidFill>
                  <a:srgbClr val="000000"/>
                </a:solidFill>
              </a:defRPr>
            </a:pPr>
            <a:r>
              <a:rPr>
                <a:solidFill>
                  <a:srgbClr val="FFFFFF"/>
                </a:solidFill>
              </a:rPr>
              <a:t>"Das Satzzeichen besteht darin, daß sich seine Elemente, die Wörter, in ihm auf eine bestimmte Art und Weise zueinander verhalten.” — 3.14. </a:t>
            </a:r>
            <a:endParaRPr>
              <a:solidFill>
                <a:srgbClr val="FFFFFF"/>
              </a:solidFill>
            </a:endParaRPr>
          </a:p>
          <a:p>
            <a:pPr defTabSz="434340">
              <a:lnSpc>
                <a:spcPct val="100000"/>
              </a:lnSpc>
              <a:spcBef>
                <a:spcPts val="0"/>
              </a:spcBef>
              <a:defRPr i="1" sz="1994">
                <a:solidFill>
                  <a:srgbClr val="000000"/>
                </a:solidFill>
              </a:defRPr>
            </a:pPr>
            <a:endParaRPr>
              <a:solidFill>
                <a:srgbClr val="FFFFFF"/>
              </a:solidFill>
            </a:endParaRPr>
          </a:p>
          <a:p>
            <a:pPr defTabSz="434340">
              <a:lnSpc>
                <a:spcPct val="100000"/>
              </a:lnSpc>
              <a:spcBef>
                <a:spcPts val="0"/>
              </a:spcBef>
              <a:defRPr i="1" sz="1994">
                <a:solidFill>
                  <a:srgbClr val="000000"/>
                </a:solidFill>
              </a:defRPr>
            </a:pPr>
            <a:r>
              <a:rPr>
                <a:solidFill>
                  <a:srgbClr val="FFFFFF"/>
                </a:solidFill>
              </a:rPr>
              <a:t>“</a:t>
            </a:r>
            <a:r>
              <a:t>"</a:t>
            </a:r>
            <a:r>
              <a:rPr>
                <a:solidFill>
                  <a:srgbClr val="FFFFFF"/>
                </a:solidFill>
              </a:rPr>
              <a:t>A propositional sign consists in the fact that its elements—the words—stand in a determinate relation to one another in it.” — 3.14</a:t>
            </a:r>
            <a:endParaRPr>
              <a:solidFill>
                <a:srgbClr val="FFFFFF"/>
              </a:solidFill>
            </a:endParaRPr>
          </a:p>
          <a:p>
            <a:pPr defTabSz="434340">
              <a:lnSpc>
                <a:spcPct val="100000"/>
              </a:lnSpc>
              <a:spcBef>
                <a:spcPts val="0"/>
              </a:spcBef>
              <a:defRPr i="1" sz="1994">
                <a:solidFill>
                  <a:srgbClr val="000000"/>
                </a:solidFill>
              </a:defRPr>
            </a:pPr>
            <a:endParaRPr>
              <a:solidFill>
                <a:srgbClr val="FFFFFF"/>
              </a:solidFill>
            </a:endParaRPr>
          </a:p>
          <a:p>
            <a:pPr defTabSz="434340">
              <a:lnSpc>
                <a:spcPct val="100000"/>
              </a:lnSpc>
              <a:spcBef>
                <a:spcPts val="0"/>
              </a:spcBef>
              <a:defRPr i="1" sz="1994">
                <a:solidFill>
                  <a:srgbClr val="000000"/>
                </a:solidFill>
              </a:defRPr>
            </a:pPr>
          </a:p>
        </p:txBody>
      </p:sp>
      <p:pic>
        <p:nvPicPr>
          <p:cNvPr id="214" name="Unknown.jpeg" descr="Unknown.jpeg"/>
          <p:cNvPicPr>
            <a:picLocks noChangeAspect="1"/>
          </p:cNvPicPr>
          <p:nvPr/>
        </p:nvPicPr>
        <p:blipFill>
          <a:blip r:embed="rId2">
            <a:extLst/>
          </a:blip>
          <a:stretch>
            <a:fillRect/>
          </a:stretch>
        </p:blipFill>
        <p:spPr>
          <a:xfrm>
            <a:off x="812800" y="1432728"/>
            <a:ext cx="1266186" cy="1171223"/>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6" name="image_f722cae8.jpeg" descr="image_f722cae8.jpeg"/>
          <p:cNvPicPr>
            <a:picLocks noChangeAspect="1"/>
          </p:cNvPicPr>
          <p:nvPr/>
        </p:nvPicPr>
        <p:blipFill>
          <a:blip r:embed="rId2">
            <a:extLst/>
          </a:blip>
          <a:stretch>
            <a:fillRect/>
          </a:stretch>
        </p:blipFill>
        <p:spPr>
          <a:xfrm>
            <a:off x="143529" y="211392"/>
            <a:ext cx="12192001" cy="6650183"/>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18" name="Meaning (Semantics) is not divorced from the VISUAL FORM INTO WHICH IT IS ENCODED.  CONTEXT IS PINNED TO STRUCTURAL CONSTRUCTS."/>
          <p:cNvSpPr txBox="1"/>
          <p:nvPr>
            <p:ph type="body" sz="half" idx="1"/>
          </p:nvPr>
        </p:nvSpPr>
        <p:spPr>
          <a:xfrm>
            <a:off x="603250" y="2091613"/>
            <a:ext cx="10985500" cy="2044702"/>
          </a:xfrm>
          <a:prstGeom prst="rect">
            <a:avLst/>
          </a:prstGeom>
        </p:spPr>
        <p:txBody>
          <a:bodyPr/>
          <a:lstStyle>
            <a:lvl1pPr defTabSz="829055">
              <a:defRPr spc="-49" sz="4000">
                <a:solidFill>
                  <a:srgbClr val="FFFFFF"/>
                </a:solidFill>
                <a:latin typeface="Phosphate Inline"/>
                <a:ea typeface="Phosphate Inline"/>
                <a:cs typeface="Phosphate Inline"/>
                <a:sym typeface="Phosphate Inline"/>
              </a:defRPr>
            </a:lvl1pPr>
          </a:lstStyle>
          <a:p>
            <a:pPr/>
            <a:r>
              <a:t>Meaning (Semantics) is not divorced from the VISUAL FORM INTO WHICH IT IS ENCODED.  CONTEXT IS PINNED TO STRUCTURAL CONSTRUCTS.</a:t>
            </a:r>
          </a:p>
        </p:txBody>
      </p:sp>
      <p:pic>
        <p:nvPicPr>
          <p:cNvPr id="219" name="Unknown.jpeg" descr="Unknown.jpeg"/>
          <p:cNvPicPr>
            <a:picLocks noChangeAspect="1"/>
          </p:cNvPicPr>
          <p:nvPr/>
        </p:nvPicPr>
        <p:blipFill>
          <a:blip r:embed="rId3">
            <a:extLst/>
          </a:blip>
          <a:stretch>
            <a:fillRect/>
          </a:stretch>
        </p:blipFill>
        <p:spPr>
          <a:xfrm>
            <a:off x="159888" y="199745"/>
            <a:ext cx="11830972" cy="6458510"/>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19"/>
                                        </p:tgtEl>
                                        <p:attrNameLst>
                                          <p:attrName>style.visibility</p:attrName>
                                        </p:attrNameLst>
                                      </p:cBhvr>
                                      <p:to>
                                        <p:strVal val="visible"/>
                                      </p:to>
                                    </p:set>
                                    <p:animEffect filter="fade" transition="in">
                                      <p:cBhvr>
                                        <p:cTn id="7" dur="1500"/>
                                        <p:tgtEl>
                                          <p:spTgt spid="2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19" grpId="1"/>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0000"/>
        </a:solidFill>
      </p:bgPr>
    </p:bg>
    <p:spTree>
      <p:nvGrpSpPr>
        <p:cNvPr id="1" name=""/>
        <p:cNvGrpSpPr/>
        <p:nvPr/>
      </p:nvGrpSpPr>
      <p:grpSpPr>
        <a:xfrm>
          <a:off x="0" y="0"/>
          <a:ext cx="0" cy="0"/>
          <a:chOff x="0" y="0"/>
          <a:chExt cx="0" cy="0"/>
        </a:xfrm>
      </p:grpSpPr>
      <p:sp>
        <p:nvSpPr>
          <p:cNvPr id="221" name="Structure"/>
          <p:cNvSpPr txBox="1"/>
          <p:nvPr>
            <p:ph type="body" sz="half" idx="1"/>
          </p:nvPr>
        </p:nvSpPr>
        <p:spPr>
          <a:prstGeom prst="rect">
            <a:avLst/>
          </a:prstGeom>
        </p:spPr>
        <p:txBody>
          <a:bodyPr/>
          <a:lstStyle>
            <a:lvl1pPr>
              <a:defRPr spc="-100">
                <a:solidFill>
                  <a:srgbClr val="FFFFFF"/>
                </a:solidFill>
                <a:latin typeface="Phosphate Inline"/>
                <a:ea typeface="Phosphate Inline"/>
                <a:cs typeface="Phosphate Inline"/>
                <a:sym typeface="Phosphate Inline"/>
              </a:defRPr>
            </a:lvl1pPr>
          </a:lstStyle>
          <a:p>
            <a:pPr/>
            <a:r>
              <a:t>Structure</a:t>
            </a:r>
          </a:p>
        </p:txBody>
      </p:sp>
      <p:pic>
        <p:nvPicPr>
          <p:cNvPr id="222" name="O9g4m.jpg" descr="O9g4m.jpg"/>
          <p:cNvPicPr>
            <a:picLocks noChangeAspect="1"/>
          </p:cNvPicPr>
          <p:nvPr/>
        </p:nvPicPr>
        <p:blipFill>
          <a:blip r:embed="rId2">
            <a:extLst/>
          </a:blip>
          <a:stretch>
            <a:fillRect/>
          </a:stretch>
        </p:blipFill>
        <p:spPr>
          <a:xfrm>
            <a:off x="6715963" y="213619"/>
            <a:ext cx="4737656" cy="6692353"/>
          </a:xfrm>
          <a:prstGeom prst="rect">
            <a:avLst/>
          </a:prstGeom>
          <a:ln w="12700">
            <a:miter lim="400000"/>
          </a:ln>
        </p:spPr>
      </p:pic>
      <p:pic>
        <p:nvPicPr>
          <p:cNvPr id="223" name="Derridaglas.jpg" descr="Derridaglas.jpg"/>
          <p:cNvPicPr>
            <a:picLocks noChangeAspect="1"/>
          </p:cNvPicPr>
          <p:nvPr/>
        </p:nvPicPr>
        <p:blipFill>
          <a:blip r:embed="rId3">
            <a:extLst/>
          </a:blip>
          <a:stretch>
            <a:fillRect/>
          </a:stretch>
        </p:blipFill>
        <p:spPr>
          <a:xfrm>
            <a:off x="556493" y="708859"/>
            <a:ext cx="5287276" cy="5440282"/>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23"/>
                                        </p:tgtEl>
                                        <p:attrNameLst>
                                          <p:attrName>style.visibility</p:attrName>
                                        </p:attrNameLst>
                                      </p:cBhvr>
                                      <p:to>
                                        <p:strVal val="visible"/>
                                      </p:to>
                                    </p:set>
                                    <p:animEffect filter="fade" transition="in">
                                      <p:cBhvr>
                                        <p:cTn id="7" dur="1500"/>
                                        <p:tgtEl>
                                          <p:spTgt spid="223"/>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 grpId="2" fill="hold">
                                  <p:stCondLst>
                                    <p:cond delay="0"/>
                                  </p:stCondLst>
                                  <p:iterate type="el" backwards="0">
                                    <p:tmAbs val="0"/>
                                  </p:iterate>
                                  <p:childTnLst>
                                    <p:set>
                                      <p:cBhvr>
                                        <p:cTn id="11" fill="hold"/>
                                        <p:tgtEl>
                                          <p:spTgt spid="222"/>
                                        </p:tgtEl>
                                        <p:attrNameLst>
                                          <p:attrName>style.visibility</p:attrName>
                                        </p:attrNameLst>
                                      </p:cBhvr>
                                      <p:to>
                                        <p:strVal val="visible"/>
                                      </p:to>
                                    </p:set>
                                    <p:anim calcmode="lin" valueType="num">
                                      <p:cBhvr>
                                        <p:cTn id="12" dur="1000" fill="hold"/>
                                        <p:tgtEl>
                                          <p:spTgt spid="222"/>
                                        </p:tgtEl>
                                        <p:attrNameLst>
                                          <p:attrName>ppt_x</p:attrName>
                                        </p:attrNameLst>
                                      </p:cBhvr>
                                      <p:tavLst>
                                        <p:tav tm="0">
                                          <p:val>
                                            <p:strVal val="0-#ppt_w/2"/>
                                          </p:val>
                                        </p:tav>
                                        <p:tav tm="100000">
                                          <p:val>
                                            <p:strVal val="#ppt_x"/>
                                          </p:val>
                                        </p:tav>
                                      </p:tavLst>
                                    </p:anim>
                                    <p:anim calcmode="lin" valueType="num">
                                      <p:cBhvr>
                                        <p:cTn id="13" dur="1000" fill="hold"/>
                                        <p:tgtEl>
                                          <p:spTgt spid="2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22" grpId="2"/>
      <p:bldP build="whole" bldLvl="1" animBg="1" rev="0" advAuto="0" spid="223" grpId="1"/>
    </p:bld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5" name="Text 0"/>
          <p:cNvSpPr txBox="1"/>
          <p:nvPr/>
        </p:nvSpPr>
        <p:spPr>
          <a:xfrm>
            <a:off x="812799" y="7112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THE IDEA</a:t>
            </a:r>
          </a:p>
        </p:txBody>
      </p:sp>
      <p:sp>
        <p:nvSpPr>
          <p:cNvPr id="226" name="Text 1"/>
          <p:cNvSpPr txBox="1"/>
          <p:nvPr>
            <p:ph type="title"/>
          </p:nvPr>
        </p:nvSpPr>
        <p:spPr>
          <a:xfrm>
            <a:off x="812799" y="1214090"/>
            <a:ext cx="10203182" cy="1412181"/>
          </a:xfrm>
          <a:prstGeom prst="rect">
            <a:avLst/>
          </a:prstGeom>
        </p:spPr>
        <p:txBody>
          <a:bodyPr/>
          <a:lstStyle>
            <a:lvl1pPr>
              <a:lnSpc>
                <a:spcPts val="5400"/>
              </a:lnSpc>
            </a:lvl1pPr>
          </a:lstStyle>
          <a:p>
            <a:pPr/>
            <a:r>
              <a:t>One address space. Everything else is a span.</a:t>
            </a:r>
          </a:p>
        </p:txBody>
      </p:sp>
      <p:pic>
        <p:nvPicPr>
          <p:cNvPr id="227" name="Image 0" descr="Image 0"/>
          <p:cNvPicPr>
            <a:picLocks noChangeAspect="1"/>
          </p:cNvPicPr>
          <p:nvPr/>
        </p:nvPicPr>
        <p:blipFill>
          <a:blip r:embed="rId3">
            <a:extLst/>
          </a:blip>
          <a:stretch>
            <a:fillRect/>
          </a:stretch>
        </p:blipFill>
        <p:spPr>
          <a:xfrm>
            <a:off x="812800" y="2855269"/>
            <a:ext cx="10566400" cy="2094705"/>
          </a:xfrm>
          <a:prstGeom prst="rect">
            <a:avLst/>
          </a:prstGeom>
          <a:ln w="12700">
            <a:miter lim="400000"/>
          </a:ln>
        </p:spPr>
      </p:pic>
      <p:sp>
        <p:nvSpPr>
          <p:cNvPr id="228" name="Text 2"/>
          <p:cNvSpPr txBox="1"/>
          <p:nvPr/>
        </p:nvSpPr>
        <p:spPr>
          <a:xfrm>
            <a:off x="812800" y="5204371"/>
            <a:ext cx="981075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600"/>
              </a:lnSpc>
              <a:defRPr sz="2000">
                <a:solidFill>
                  <a:schemeClr val="accent2"/>
                </a:solidFill>
              </a:defRPr>
            </a:lvl1pPr>
          </a:lstStyle>
          <a:p>
            <a:pPr/>
            <a:r>
              <a:t>Structure is arithmetic on intervals. A vector hit is just another interval.</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Text 0"/>
          <p:cNvSpPr txBox="1"/>
          <p:nvPr/>
        </p:nvSpPr>
        <p:spPr>
          <a:xfrm>
            <a:off x="812799" y="7112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THE IDEA</a:t>
            </a:r>
          </a:p>
        </p:txBody>
      </p:sp>
      <p:sp>
        <p:nvSpPr>
          <p:cNvPr id="233" name="Text 1"/>
          <p:cNvSpPr txBox="1"/>
          <p:nvPr>
            <p:ph type="title"/>
          </p:nvPr>
        </p:nvSpPr>
        <p:spPr>
          <a:xfrm>
            <a:off x="812799" y="1264890"/>
            <a:ext cx="10203182" cy="718791"/>
          </a:xfrm>
          <a:prstGeom prst="rect">
            <a:avLst/>
          </a:prstGeom>
        </p:spPr>
        <p:txBody>
          <a:bodyPr/>
          <a:lstStyle>
            <a:lvl1pPr>
              <a:lnSpc>
                <a:spcPts val="5400"/>
              </a:lnSpc>
            </a:lvl1pPr>
          </a:lstStyle>
          <a:p>
            <a:pPr/>
            <a:r>
              <a:t>An old idea, continued.</a:t>
            </a:r>
          </a:p>
        </p:txBody>
      </p:sp>
      <p:sp>
        <p:nvSpPr>
          <p:cNvPr id="234" name="Shape 2"/>
          <p:cNvSpPr/>
          <p:nvPr/>
        </p:nvSpPr>
        <p:spPr>
          <a:xfrm>
            <a:off x="812800" y="2851050"/>
            <a:ext cx="9906000" cy="1"/>
          </a:xfrm>
          <a:prstGeom prst="line">
            <a:avLst/>
          </a:prstGeom>
          <a:ln w="6350">
            <a:solidFill>
              <a:schemeClr val="accent4"/>
            </a:solidFill>
          </a:ln>
        </p:spPr>
        <p:txBody>
          <a:bodyPr lIns="45719" rIns="45719"/>
          <a:lstStyle/>
          <a:p>
            <a:pPr>
              <a:defRPr>
                <a:solidFill>
                  <a:srgbClr val="ECE8DD"/>
                </a:solidFill>
              </a:defRPr>
            </a:pPr>
          </a:p>
        </p:txBody>
      </p:sp>
      <p:sp>
        <p:nvSpPr>
          <p:cNvPr id="235" name="Text 3"/>
          <p:cNvSpPr txBox="1"/>
          <p:nvPr/>
        </p:nvSpPr>
        <p:spPr>
          <a:xfrm>
            <a:off x="812800" y="2405955"/>
            <a:ext cx="1447800" cy="3276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300"/>
              </a:lnSpc>
              <a:defRPr sz="1700">
                <a:solidFill>
                  <a:schemeClr val="accent1"/>
                </a:solidFill>
                <a:latin typeface="JetBrains Mono"/>
                <a:ea typeface="JetBrains Mono"/>
                <a:cs typeface="JetBrains Mono"/>
                <a:sym typeface="JetBrains Mono"/>
              </a:defRPr>
            </a:lvl1pPr>
          </a:lstStyle>
          <a:p>
            <a:pPr/>
            <a:r>
              <a:t>PAT arrays</a:t>
            </a:r>
          </a:p>
        </p:txBody>
      </p:sp>
      <p:sp>
        <p:nvSpPr>
          <p:cNvPr id="236" name="Text 4"/>
          <p:cNvSpPr txBox="1"/>
          <p:nvPr/>
        </p:nvSpPr>
        <p:spPr>
          <a:xfrm>
            <a:off x="2463800" y="2402780"/>
            <a:ext cx="8255000" cy="3225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300"/>
              </a:lnSpc>
              <a:defRPr>
                <a:solidFill>
                  <a:srgbClr val="ECE8DD"/>
                </a:solidFill>
              </a:defRPr>
            </a:lvl1pPr>
          </a:lstStyle>
          <a:p>
            <a:pPr/>
            <a:r>
              <a:t>Gonnet: index every text position, search by prefix on the raw string.</a:t>
            </a:r>
          </a:p>
        </p:txBody>
      </p:sp>
      <p:sp>
        <p:nvSpPr>
          <p:cNvPr id="237" name="Shape 5"/>
          <p:cNvSpPr/>
          <p:nvPr/>
        </p:nvSpPr>
        <p:spPr>
          <a:xfrm>
            <a:off x="812800" y="3744416"/>
            <a:ext cx="9906000" cy="1"/>
          </a:xfrm>
          <a:prstGeom prst="line">
            <a:avLst/>
          </a:prstGeom>
          <a:ln w="6350">
            <a:solidFill>
              <a:schemeClr val="accent4"/>
            </a:solidFill>
          </a:ln>
        </p:spPr>
        <p:txBody>
          <a:bodyPr lIns="45719" rIns="45719"/>
          <a:lstStyle/>
          <a:p>
            <a:pPr>
              <a:defRPr>
                <a:solidFill>
                  <a:srgbClr val="ECE8DD"/>
                </a:solidFill>
              </a:defRPr>
            </a:pPr>
          </a:p>
        </p:txBody>
      </p:sp>
      <p:sp>
        <p:nvSpPr>
          <p:cNvPr id="238" name="Text 6"/>
          <p:cNvSpPr txBox="1"/>
          <p:nvPr/>
        </p:nvSpPr>
        <p:spPr>
          <a:xfrm>
            <a:off x="812800" y="2997100"/>
            <a:ext cx="1447800" cy="6298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300"/>
              </a:lnSpc>
              <a:defRPr sz="1700">
                <a:solidFill>
                  <a:schemeClr val="accent1"/>
                </a:solidFill>
                <a:latin typeface="JetBrains Mono"/>
                <a:ea typeface="JetBrains Mono"/>
                <a:cs typeface="JetBrains Mono"/>
                <a:sym typeface="JetBrains Mono"/>
              </a:defRPr>
            </a:lvl1pPr>
          </a:lstStyle>
          <a:p>
            <a:pPr/>
            <a:r>
              <a:t>Region algebras</a:t>
            </a:r>
          </a:p>
        </p:txBody>
      </p:sp>
      <p:sp>
        <p:nvSpPr>
          <p:cNvPr id="239" name="Text 7"/>
          <p:cNvSpPr txBox="1"/>
          <p:nvPr/>
        </p:nvSpPr>
        <p:spPr>
          <a:xfrm>
            <a:off x="2463799" y="2993925"/>
            <a:ext cx="8100122" cy="3225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300"/>
              </a:lnSpc>
              <a:defRPr>
                <a:solidFill>
                  <a:srgbClr val="ECE8DD"/>
                </a:solidFill>
              </a:defRPr>
            </a:lvl1pPr>
          </a:lstStyle>
          <a:p>
            <a:pPr/>
            <a:r>
              <a:t>Queries as operations on intervals: inside, containing, followed by.</a:t>
            </a:r>
          </a:p>
        </p:txBody>
      </p:sp>
      <p:sp>
        <p:nvSpPr>
          <p:cNvPr id="240" name="Shape 8"/>
          <p:cNvSpPr/>
          <p:nvPr/>
        </p:nvSpPr>
        <p:spPr>
          <a:xfrm>
            <a:off x="812800" y="4335562"/>
            <a:ext cx="9906000" cy="1"/>
          </a:xfrm>
          <a:prstGeom prst="line">
            <a:avLst/>
          </a:prstGeom>
          <a:ln w="6350">
            <a:solidFill>
              <a:schemeClr val="accent4"/>
            </a:solidFill>
          </a:ln>
        </p:spPr>
        <p:txBody>
          <a:bodyPr lIns="45719" rIns="45719"/>
          <a:lstStyle/>
          <a:p>
            <a:pPr>
              <a:defRPr>
                <a:solidFill>
                  <a:srgbClr val="ECE8DD"/>
                </a:solidFill>
              </a:defRPr>
            </a:pPr>
          </a:p>
        </p:txBody>
      </p:sp>
      <p:sp>
        <p:nvSpPr>
          <p:cNvPr id="241" name="Text 9"/>
          <p:cNvSpPr txBox="1"/>
          <p:nvPr/>
        </p:nvSpPr>
        <p:spPr>
          <a:xfrm>
            <a:off x="812800" y="3890466"/>
            <a:ext cx="1447800" cy="3276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300"/>
              </a:lnSpc>
              <a:defRPr sz="1700">
                <a:solidFill>
                  <a:schemeClr val="accent1"/>
                </a:solidFill>
                <a:latin typeface="JetBrains Mono"/>
                <a:ea typeface="JetBrains Mono"/>
                <a:cs typeface="JetBrains Mono"/>
                <a:sym typeface="JetBrains Mono"/>
              </a:defRPr>
            </a:lvl1pPr>
          </a:lstStyle>
          <a:p>
            <a:pPr/>
            <a:r>
              <a:t>HyTime</a:t>
            </a:r>
          </a:p>
        </p:txBody>
      </p:sp>
      <p:sp>
        <p:nvSpPr>
          <p:cNvPr id="242" name="Text 10"/>
          <p:cNvSpPr txBox="1"/>
          <p:nvPr/>
        </p:nvSpPr>
        <p:spPr>
          <a:xfrm>
            <a:off x="2463800" y="3887291"/>
            <a:ext cx="5795844" cy="3225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300"/>
              </a:lnSpc>
              <a:defRPr>
                <a:solidFill>
                  <a:srgbClr val="ECE8DD"/>
                </a:solidFill>
              </a:defRPr>
            </a:lvl1pPr>
          </a:lstStyle>
          <a:p>
            <a:pPr/>
            <a:r>
              <a:t>Addressing by location, not by copying content.</a:t>
            </a:r>
          </a:p>
        </p:txBody>
      </p:sp>
      <p:sp>
        <p:nvSpPr>
          <p:cNvPr id="243" name="Text 11"/>
          <p:cNvSpPr txBox="1"/>
          <p:nvPr/>
        </p:nvSpPr>
        <p:spPr>
          <a:xfrm>
            <a:off x="812800" y="4481612"/>
            <a:ext cx="1447800" cy="3276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300"/>
              </a:lnSpc>
              <a:defRPr sz="1700">
                <a:solidFill>
                  <a:schemeClr val="accent1"/>
                </a:solidFill>
                <a:latin typeface="JetBrains Mono"/>
                <a:ea typeface="JetBrains Mono"/>
                <a:cs typeface="JetBrains Mono"/>
                <a:sym typeface="JetBrains Mono"/>
              </a:defRPr>
            </a:lvl1pPr>
          </a:lstStyle>
          <a:p>
            <a:pPr/>
            <a:r>
              <a:t>CoreQuarry</a:t>
            </a:r>
          </a:p>
        </p:txBody>
      </p:sp>
      <p:sp>
        <p:nvSpPr>
          <p:cNvPr id="244" name="Text 12"/>
          <p:cNvSpPr txBox="1"/>
          <p:nvPr/>
        </p:nvSpPr>
        <p:spPr>
          <a:xfrm>
            <a:off x="2463800" y="4478437"/>
            <a:ext cx="8502650" cy="619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300"/>
              </a:lnSpc>
              <a:defRPr>
                <a:solidFill>
                  <a:srgbClr val="ECE8DD"/>
                </a:solidFill>
              </a:defRPr>
            </a:lvl1pPr>
          </a:lstStyle>
          <a:p>
            <a:pPr/>
            <a:r>
              <a:t>One global address space, fields as spans, vector hits as spans, on commodity hardware.</a:t>
            </a:r>
          </a:p>
        </p:txBody>
      </p:sp>
      <p:sp>
        <p:nvSpPr>
          <p:cNvPr id="245" name="&quot;Dynamic units of retrieval: spans, evidence regions, and the algebra an agent actually needs.&quot;"/>
          <p:cNvSpPr txBox="1"/>
          <p:nvPr/>
        </p:nvSpPr>
        <p:spPr>
          <a:xfrm>
            <a:off x="1083766" y="5663902"/>
            <a:ext cx="9558136" cy="383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defTabSz="457200">
              <a:defRPr i="1" sz="1900">
                <a:solidFill>
                  <a:srgbClr val="FFFFFF"/>
                </a:solidFill>
                <a:latin typeface="Times Roman"/>
                <a:ea typeface="Times Roman"/>
                <a:cs typeface="Times Roman"/>
                <a:sym typeface="Times Roman"/>
              </a:defRPr>
            </a:lvl1pPr>
          </a:lstStyle>
          <a:p>
            <a:pPr/>
            <a:r>
              <a:t>"Dynamic units of retrieval: spans, evidence regions, and the algebra an agent actually needs."</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0000"/>
        </a:solidFill>
      </p:bgPr>
    </p:bg>
    <p:spTree>
      <p:nvGrpSpPr>
        <p:cNvPr id="1" name=""/>
        <p:cNvGrpSpPr/>
        <p:nvPr/>
      </p:nvGrpSpPr>
      <p:grpSpPr>
        <a:xfrm>
          <a:off x="0" y="0"/>
          <a:ext cx="0" cy="0"/>
          <a:chOff x="0" y="0"/>
          <a:chExt cx="0" cy="0"/>
        </a:xfrm>
      </p:grpSpPr>
      <p:sp>
        <p:nvSpPr>
          <p:cNvPr id="249" name="At its core is Re-Isearch"/>
          <p:cNvSpPr txBox="1"/>
          <p:nvPr>
            <p:ph type="title"/>
          </p:nvPr>
        </p:nvSpPr>
        <p:spPr>
          <a:xfrm>
            <a:off x="603250" y="520164"/>
            <a:ext cx="10985500" cy="1048403"/>
          </a:xfrm>
          <a:prstGeom prst="rect">
            <a:avLst/>
          </a:prstGeom>
        </p:spPr>
        <p:txBody>
          <a:bodyPr/>
          <a:lstStyle>
            <a:lvl1pPr>
              <a:defRPr b="0" spc="-148" sz="4800">
                <a:solidFill>
                  <a:srgbClr val="FFFFFF"/>
                </a:solidFill>
                <a:latin typeface="Marker Felt"/>
                <a:ea typeface="Marker Felt"/>
                <a:cs typeface="Marker Felt"/>
                <a:sym typeface="Marker Felt"/>
              </a:defRPr>
            </a:lvl1pPr>
          </a:lstStyle>
          <a:p>
            <a:pPr/>
            <a:r>
              <a:t>Patricia Arrays</a:t>
            </a:r>
          </a:p>
        </p:txBody>
      </p:sp>
      <p:sp>
        <p:nvSpPr>
          <p:cNvPr id="250" name="Re-Isearch is a 100% open source (Apache 2.0) novel multimodal search and retrieval engine using mathematical models and algorithms different from the all-too-common inverted index. It is a kind of hybrid between full-text, XML, object and graph noSQL-db"/>
          <p:cNvSpPr txBox="1"/>
          <p:nvPr>
            <p:ph type="body" idx="1"/>
          </p:nvPr>
        </p:nvSpPr>
        <p:spPr>
          <a:xfrm>
            <a:off x="603249" y="1781732"/>
            <a:ext cx="10985502" cy="4643658"/>
          </a:xfrm>
          <a:prstGeom prst="rect">
            <a:avLst/>
          </a:prstGeom>
        </p:spPr>
        <p:txBody>
          <a:bodyPr/>
          <a:lstStyle/>
          <a:p>
            <a:pPr marL="297179" indent="-297179" defTabSz="225107">
              <a:lnSpc>
                <a:spcPct val="120000"/>
              </a:lnSpc>
              <a:spcBef>
                <a:spcPts val="700"/>
              </a:spcBef>
              <a:buSzPct val="100000"/>
              <a:buChar char="•"/>
              <a:defRPr b="0" sz="2900">
                <a:solidFill>
                  <a:srgbClr val="FFFFFF"/>
                </a:solidFill>
                <a:latin typeface="+mn-lt"/>
                <a:ea typeface="+mn-ea"/>
                <a:cs typeface="+mn-cs"/>
                <a:sym typeface="IBM Plex Sans"/>
              </a:defRPr>
            </a:pPr>
            <a:r>
              <a:t>Gonnet, G. H., Baeza-Yates, R., &amp; Snider, T. (1992). New indices for text: PAT trees and PAT arrays. In Information Retrieval: Data Structures &amp; Algorithms (pp. 66-82). Prentice-Hall, Inc.</a:t>
            </a:r>
          </a:p>
          <a:p>
            <a:pPr marL="297179" indent="-297179" defTabSz="225107">
              <a:lnSpc>
                <a:spcPct val="120000"/>
              </a:lnSpc>
              <a:spcBef>
                <a:spcPts val="700"/>
              </a:spcBef>
              <a:buSzPct val="100000"/>
              <a:buChar char="•"/>
              <a:defRPr b="0" sz="2900">
                <a:solidFill>
                  <a:srgbClr val="FFFFFF"/>
                </a:solidFill>
                <a:latin typeface="+mn-lt"/>
                <a:ea typeface="+mn-ea"/>
                <a:cs typeface="+mn-cs"/>
                <a:sym typeface="IBM Plex Sans"/>
              </a:defRPr>
            </a:pPr>
            <a:r>
              <a:t>Baeza-Yates, R., Barbosa, E. F., &amp; Ziviani, N. (1996). Hierarchies of indices for text searching. Information Systems, 21(6), 497-514.</a:t>
            </a:r>
            <a:r>
              <a:rPr>
                <a:solidFill>
                  <a:srgbClr val="000000"/>
                </a:solidFill>
              </a:rPr>
              <a:t> </a:t>
            </a:r>
            <a:r>
              <a:rPr u="sng">
                <a:solidFill>
                  <a:srgbClr val="DDDDDD"/>
                </a:solidFill>
                <a:uFill>
                  <a:solidFill>
                    <a:srgbClr val="0000FF"/>
                  </a:solidFill>
                </a:uFill>
                <a:hlinkClick r:id="rId2" invalidUrl="" action="" tgtFrame="" tooltip="" history="1" highlightClick="0" endSnd="0"/>
              </a:rPr>
              <a:t>https://doi.org/10.1016/0306-4379(96)00025-7</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50">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250">
                                            <p:txEl>
                                              <p:pRg st="0" end="0"/>
                                            </p:txEl>
                                          </p:spTgt>
                                        </p:tgtEl>
                                        <p:attrNameLst>
                                          <p:attrName>style.visibility</p:attrName>
                                        </p:attrNameLst>
                                      </p:cBhvr>
                                      <p:to>
                                        <p:strVal val="visible"/>
                                      </p:to>
                                    </p:set>
                                  </p:childTnLst>
                                </p:cTn>
                              </p:par>
                            </p:childTnLst>
                          </p:cTn>
                        </p:par>
                        <p:par>
                          <p:cTn id="9" fill="hold">
                            <p:stCondLst>
                              <p:cond delay="0"/>
                            </p:stCondLst>
                            <p:childTnLst>
                              <p:par>
                                <p:cTn id="10" presetClass="entr" nodeType="afterEffect" presetSubtype="0" presetID="1" grpId="1" fill="hold">
                                  <p:stCondLst>
                                    <p:cond delay="0"/>
                                  </p:stCondLst>
                                  <p:iterate type="el" backwards="0">
                                    <p:tmAbs val="0"/>
                                  </p:iterate>
                                  <p:childTnLst>
                                    <p:set>
                                      <p:cBhvr>
                                        <p:cTn id="11" fill="hold"/>
                                        <p:tgtEl>
                                          <p:spTgt spid="250">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250" grpId="1"/>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0000"/>
        </a:solidFill>
      </p:bgPr>
    </p:bg>
    <p:spTree>
      <p:nvGrpSpPr>
        <p:cNvPr id="1" name=""/>
        <p:cNvGrpSpPr/>
        <p:nvPr/>
      </p:nvGrpSpPr>
      <p:grpSpPr>
        <a:xfrm>
          <a:off x="0" y="0"/>
          <a:ext cx="0" cy="0"/>
          <a:chOff x="0" y="0"/>
          <a:chExt cx="0" cy="0"/>
        </a:xfrm>
      </p:grpSpPr>
      <p:sp>
        <p:nvSpPr>
          <p:cNvPr id="252" name="At its core is Re-Isearch"/>
          <p:cNvSpPr txBox="1"/>
          <p:nvPr>
            <p:ph type="title"/>
          </p:nvPr>
        </p:nvSpPr>
        <p:spPr>
          <a:xfrm>
            <a:off x="603250" y="529421"/>
            <a:ext cx="10985500" cy="1048404"/>
          </a:xfrm>
          <a:prstGeom prst="rect">
            <a:avLst/>
          </a:prstGeom>
        </p:spPr>
        <p:txBody>
          <a:bodyPr/>
          <a:lstStyle>
            <a:lvl1pPr>
              <a:defRPr b="0" spc="-148" sz="4800">
                <a:solidFill>
                  <a:srgbClr val="FFFFFF"/>
                </a:solidFill>
                <a:latin typeface="Marker Felt"/>
                <a:ea typeface="Marker Felt"/>
                <a:cs typeface="Marker Felt"/>
                <a:sym typeface="Marker Felt"/>
              </a:defRPr>
            </a:lvl1pPr>
          </a:lstStyle>
          <a:p>
            <a:pPr/>
            <a:r>
              <a:t>Patricia Arrays: Basic Idea</a:t>
            </a:r>
          </a:p>
        </p:txBody>
      </p:sp>
      <p:sp>
        <p:nvSpPr>
          <p:cNvPr id="253" name="Re-Isearch is a 100% open source (Apache 2.0) novel multimodal search and retrieval engine using mathematical models and algorithms different from the all-too-common inverted index. It is a kind of hybrid between full-text, XML, object and graph noSQL-db"/>
          <p:cNvSpPr txBox="1"/>
          <p:nvPr>
            <p:ph type="body" idx="1"/>
          </p:nvPr>
        </p:nvSpPr>
        <p:spPr>
          <a:xfrm>
            <a:off x="603249" y="1781732"/>
            <a:ext cx="10985502" cy="4643658"/>
          </a:xfrm>
          <a:prstGeom prst="rect">
            <a:avLst/>
          </a:prstGeom>
        </p:spPr>
        <p:txBody>
          <a:bodyPr/>
          <a:lstStyle/>
          <a:p>
            <a:pPr defTabSz="225107">
              <a:lnSpc>
                <a:spcPct val="120000"/>
              </a:lnSpc>
              <a:spcBef>
                <a:spcPts val="700"/>
              </a:spcBef>
              <a:defRPr b="0" sz="1700">
                <a:solidFill>
                  <a:srgbClr val="FFFFFF"/>
                </a:solidFill>
                <a:latin typeface="Academy Engraved LET Plain:1.0"/>
                <a:ea typeface="Academy Engraved LET Plain:1.0"/>
                <a:cs typeface="Academy Engraved LET Plain:1.0"/>
                <a:sym typeface="Academy Engraved LET Plain:1.0"/>
              </a:defRPr>
            </a:pPr>
          </a:p>
          <a:p>
            <a:pPr defTabSz="225107">
              <a:lnSpc>
                <a:spcPct val="120000"/>
              </a:lnSpc>
              <a:spcBef>
                <a:spcPts val="700"/>
              </a:spcBef>
              <a:defRPr b="0" sz="1600">
                <a:solidFill>
                  <a:srgbClr val="FFFFFF"/>
                </a:solidFill>
                <a:latin typeface="American Typewriter"/>
                <a:ea typeface="American Typewriter"/>
                <a:cs typeface="American Typewriter"/>
                <a:sym typeface="American Typewriter"/>
              </a:defRPr>
            </a:pPr>
            <a:r>
              <a:t>Byte Address:  |  0  |  1  |  2  |  3  |  4  |  5  |  6  |  7  |  8  |  9  | 10  | 11  | 12  | 13  | 14  | 15  | 16  | 17  | 18  |</a:t>
            </a:r>
          </a:p>
          <a:p>
            <a:pPr defTabSz="225107">
              <a:lnSpc>
                <a:spcPct val="120000"/>
              </a:lnSpc>
              <a:spcBef>
                <a:spcPts val="700"/>
              </a:spcBef>
              <a:defRPr b="0" sz="1600">
                <a:solidFill>
                  <a:srgbClr val="FFFFFF"/>
                </a:solidFill>
                <a:latin typeface="American Typewriter"/>
                <a:ea typeface="American Typewriter"/>
                <a:cs typeface="American Typewriter"/>
                <a:sym typeface="American Typewriter"/>
              </a:defRPr>
            </a:pPr>
            <a:r>
              <a:t>Character:        |  l   |  o   |  c  |  a  |  l    | [ ] |  s  |  e  |  a   |  r   |  c   |  h   | [ ]   |  e    |  n   |  g    |  i    |  n    |  e   |</a:t>
            </a:r>
          </a:p>
          <a:p>
            <a:pPr defTabSz="225107">
              <a:lnSpc>
                <a:spcPct val="120000"/>
              </a:lnSpc>
              <a:spcBef>
                <a:spcPts val="700"/>
              </a:spcBef>
              <a:defRPr b="0" sz="1600">
                <a:solidFill>
                  <a:srgbClr val="FFFFFF"/>
                </a:solidFill>
                <a:latin typeface="American Typewriter"/>
                <a:ea typeface="American Typewriter"/>
                <a:cs typeface="American Typewriter"/>
                <a:sym typeface="American Typewriter"/>
              </a:defRPr>
            </a:pPr>
            <a:r>
              <a:t>Tokenization:    \______ "local" ________/     \__________ "search" ________/      \_________ "engine" ____________/</a:t>
            </a:r>
            <a:endParaRPr sz="1400"/>
          </a:p>
          <a:p>
            <a:pPr defTabSz="225107">
              <a:lnSpc>
                <a:spcPct val="120000"/>
              </a:lnSpc>
              <a:spcBef>
                <a:spcPts val="700"/>
              </a:spcBef>
              <a:defRPr b="0" sz="1400">
                <a:solidFill>
                  <a:srgbClr val="FFFFFF"/>
                </a:solidFill>
                <a:latin typeface="American Typewriter"/>
                <a:ea typeface="American Typewriter"/>
                <a:cs typeface="American Typewriter"/>
                <a:sym typeface="American Typewriter"/>
              </a:defRPr>
            </a:pPr>
          </a:p>
          <a:p>
            <a:pPr defTabSz="225107">
              <a:lnSpc>
                <a:spcPct val="120000"/>
              </a:lnSpc>
              <a:spcBef>
                <a:spcPts val="700"/>
              </a:spcBef>
              <a:defRPr b="0" sz="2300">
                <a:solidFill>
                  <a:srgbClr val="FFFFFF"/>
                </a:solidFill>
                <a:latin typeface="+mn-lt"/>
                <a:ea typeface="+mn-ea"/>
                <a:cs typeface="+mn-cs"/>
                <a:sym typeface="IBM Plex Sans"/>
              </a:defRPr>
            </a:pPr>
            <a:r>
              <a:t>A "Semi-Infinite String" is simply a pointer to a starting byte address, viewing the data from that byte all the way to the end of the buffer.</a:t>
            </a:r>
          </a:p>
          <a:p>
            <a:pPr defTabSz="225107">
              <a:lnSpc>
                <a:spcPct val="120000"/>
              </a:lnSpc>
              <a:spcBef>
                <a:spcPts val="700"/>
              </a:spcBef>
              <a:defRPr b="0" sz="2000">
                <a:solidFill>
                  <a:srgbClr val="FFFFFF"/>
                </a:solidFill>
                <a:latin typeface="Academy Engraved LET Plain:1.0"/>
                <a:ea typeface="Academy Engraved LET Plain:1.0"/>
                <a:cs typeface="Academy Engraved LET Plain:1.0"/>
                <a:sym typeface="Academy Engraved LET Plain:1.0"/>
              </a:defRPr>
            </a:pPr>
          </a:p>
          <a:p>
            <a:pPr defTabSz="225107">
              <a:lnSpc>
                <a:spcPct val="120000"/>
              </a:lnSpc>
              <a:spcBef>
                <a:spcPts val="700"/>
              </a:spcBef>
              <a:defRPr b="0" sz="2800">
                <a:solidFill>
                  <a:srgbClr val="FFFFFF"/>
                </a:solidFill>
                <a:latin typeface="Marker Felt"/>
                <a:ea typeface="Marker Felt"/>
                <a:cs typeface="Marker Felt"/>
                <a:sym typeface="Marker Felt"/>
              </a:defRPr>
            </a:pPr>
            <a:r>
              <a:t>The array of addresses is then sorted alphabetically. </a:t>
            </a:r>
          </a:p>
        </p:txBody>
      </p:sp>
    </p:spTree>
  </p:cSld>
  <p:clrMapOvr>
    <a:masterClrMapping/>
  </p:clrMapOvr>
  <mc:AlternateContent xmlns:mc="http://schemas.openxmlformats.org/markup-compatibility/2006">
    <mc:Choice xmlns:p14="http://schemas.microsoft.com/office/powerpoint/2010/main" Requires="p14">
      <p:transition spd="slow" advClick="1" p14:dur="1200">
        <p:pull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253">
                                            <p:bg/>
                                          </p:spTgt>
                                        </p:tgtEl>
                                        <p:attrNameLst>
                                          <p:attrName>style.visibility</p:attrName>
                                        </p:attrNameLst>
                                      </p:cBhvr>
                                      <p:to>
                                        <p:strVal val="visible"/>
                                      </p:to>
                                    </p:set>
                                    <p:anim calcmode="lin" valueType="num">
                                      <p:cBhvr>
                                        <p:cTn id="7" dur="1000" fill="hold"/>
                                        <p:tgtEl>
                                          <p:spTgt spid="253">
                                            <p:bg/>
                                          </p:spTgt>
                                        </p:tgtEl>
                                        <p:attrNameLst>
                                          <p:attrName>ppt_x</p:attrName>
                                        </p:attrNameLst>
                                      </p:cBhvr>
                                      <p:tavLst>
                                        <p:tav tm="0">
                                          <p:val>
                                            <p:strVal val="0-#ppt_w/2"/>
                                          </p:val>
                                        </p:tav>
                                        <p:tav tm="100000">
                                          <p:val>
                                            <p:strVal val="#ppt_x"/>
                                          </p:val>
                                        </p:tav>
                                      </p:tavLst>
                                    </p:anim>
                                    <p:anim calcmode="lin" valueType="num">
                                      <p:cBhvr>
                                        <p:cTn id="8" dur="1000" fill="hold"/>
                                        <p:tgtEl>
                                          <p:spTgt spid="253">
                                            <p:bg/>
                                          </p:spTgt>
                                        </p:tgtEl>
                                        <p:attrNameLst>
                                          <p:attrName>ppt_y</p:attrName>
                                        </p:attrNameLst>
                                      </p:cBhvr>
                                      <p:tavLst>
                                        <p:tav tm="0">
                                          <p:val>
                                            <p:strVal val="#ppt_y"/>
                                          </p:val>
                                        </p:tav>
                                        <p:tav tm="100000">
                                          <p:val>
                                            <p:strVal val="#ppt_y"/>
                                          </p:val>
                                        </p:tav>
                                      </p:tavLst>
                                    </p:anim>
                                  </p:childTnLst>
                                </p:cTn>
                              </p:par>
                              <p:par>
                                <p:cTn id="9" presetClass="entr" nodeType="withEffect" presetSubtype="8" presetID="2" grpId="1" fill="hold">
                                  <p:stCondLst>
                                    <p:cond delay="0"/>
                                  </p:stCondLst>
                                  <p:iterate type="el" backwards="0">
                                    <p:tmAbs val="0"/>
                                  </p:iterate>
                                  <p:childTnLst>
                                    <p:set>
                                      <p:cBhvr>
                                        <p:cTn id="10" fill="hold"/>
                                        <p:tgtEl>
                                          <p:spTgt spid="253">
                                            <p:txEl>
                                              <p:pRg st="0" end="0"/>
                                            </p:txEl>
                                          </p:spTgt>
                                        </p:tgtEl>
                                        <p:attrNameLst>
                                          <p:attrName>style.visibility</p:attrName>
                                        </p:attrNameLst>
                                      </p:cBhvr>
                                      <p:to>
                                        <p:strVal val="visible"/>
                                      </p:to>
                                    </p:set>
                                    <p:anim calcmode="lin" valueType="num">
                                      <p:cBhvr>
                                        <p:cTn id="11" dur="1000" fill="hold"/>
                                        <p:tgtEl>
                                          <p:spTgt spid="253">
                                            <p:txEl>
                                              <p:pRg st="0" end="0"/>
                                            </p:txEl>
                                          </p:spTgt>
                                        </p:tgtEl>
                                        <p:attrNameLst>
                                          <p:attrName>ppt_x</p:attrName>
                                        </p:attrNameLst>
                                      </p:cBhvr>
                                      <p:tavLst>
                                        <p:tav tm="0">
                                          <p:val>
                                            <p:strVal val="0-#ppt_w/2"/>
                                          </p:val>
                                        </p:tav>
                                        <p:tav tm="100000">
                                          <p:val>
                                            <p:strVal val="#ppt_x"/>
                                          </p:val>
                                        </p:tav>
                                      </p:tavLst>
                                    </p:anim>
                                    <p:anim calcmode="lin" valueType="num">
                                      <p:cBhvr>
                                        <p:cTn id="12" dur="1000" fill="hold"/>
                                        <p:tgtEl>
                                          <p:spTgt spid="253">
                                            <p:txEl>
                                              <p:pRg st="0" end="0"/>
                                            </p:txEl>
                                          </p:spTgt>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Class="entr" nodeType="afterEffect" presetSubtype="8" presetID="2" grpId="1" fill="hold">
                                  <p:stCondLst>
                                    <p:cond delay="0"/>
                                  </p:stCondLst>
                                  <p:iterate type="el" backwards="0">
                                    <p:tmAbs val="0"/>
                                  </p:iterate>
                                  <p:childTnLst>
                                    <p:set>
                                      <p:cBhvr>
                                        <p:cTn id="15" fill="hold"/>
                                        <p:tgtEl>
                                          <p:spTgt spid="253">
                                            <p:txEl>
                                              <p:pRg st="1" end="1"/>
                                            </p:txEl>
                                          </p:spTgt>
                                        </p:tgtEl>
                                        <p:attrNameLst>
                                          <p:attrName>style.visibility</p:attrName>
                                        </p:attrNameLst>
                                      </p:cBhvr>
                                      <p:to>
                                        <p:strVal val="visible"/>
                                      </p:to>
                                    </p:set>
                                    <p:anim calcmode="lin" valueType="num">
                                      <p:cBhvr>
                                        <p:cTn id="16" dur="1000" fill="hold"/>
                                        <p:tgtEl>
                                          <p:spTgt spid="253">
                                            <p:txEl>
                                              <p:pRg st="1" end="1"/>
                                            </p:txEl>
                                          </p:spTgt>
                                        </p:tgtEl>
                                        <p:attrNameLst>
                                          <p:attrName>ppt_x</p:attrName>
                                        </p:attrNameLst>
                                      </p:cBhvr>
                                      <p:tavLst>
                                        <p:tav tm="0">
                                          <p:val>
                                            <p:strVal val="0-#ppt_w/2"/>
                                          </p:val>
                                        </p:tav>
                                        <p:tav tm="100000">
                                          <p:val>
                                            <p:strVal val="#ppt_x"/>
                                          </p:val>
                                        </p:tav>
                                      </p:tavLst>
                                    </p:anim>
                                    <p:anim calcmode="lin" valueType="num">
                                      <p:cBhvr>
                                        <p:cTn id="17" dur="1000" fill="hold"/>
                                        <p:tgtEl>
                                          <p:spTgt spid="25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8" presetID="2" grpId="1" fill="hold">
                                  <p:stCondLst>
                                    <p:cond delay="0"/>
                                  </p:stCondLst>
                                  <p:iterate type="el" backwards="0">
                                    <p:tmAbs val="0"/>
                                  </p:iterate>
                                  <p:childTnLst>
                                    <p:set>
                                      <p:cBhvr>
                                        <p:cTn id="21" fill="hold"/>
                                        <p:tgtEl>
                                          <p:spTgt spid="253">
                                            <p:txEl>
                                              <p:pRg st="2" end="2"/>
                                            </p:txEl>
                                          </p:spTgt>
                                        </p:tgtEl>
                                        <p:attrNameLst>
                                          <p:attrName>style.visibility</p:attrName>
                                        </p:attrNameLst>
                                      </p:cBhvr>
                                      <p:to>
                                        <p:strVal val="visible"/>
                                      </p:to>
                                    </p:set>
                                    <p:anim calcmode="lin" valueType="num">
                                      <p:cBhvr>
                                        <p:cTn id="22" dur="1000" fill="hold"/>
                                        <p:tgtEl>
                                          <p:spTgt spid="253">
                                            <p:txEl>
                                              <p:pRg st="2" end="2"/>
                                            </p:txEl>
                                          </p:spTgt>
                                        </p:tgtEl>
                                        <p:attrNameLst>
                                          <p:attrName>ppt_x</p:attrName>
                                        </p:attrNameLst>
                                      </p:cBhvr>
                                      <p:tavLst>
                                        <p:tav tm="0">
                                          <p:val>
                                            <p:strVal val="0-#ppt_w/2"/>
                                          </p:val>
                                        </p:tav>
                                        <p:tav tm="100000">
                                          <p:val>
                                            <p:strVal val="#ppt_x"/>
                                          </p:val>
                                        </p:tav>
                                      </p:tavLst>
                                    </p:anim>
                                    <p:anim calcmode="lin" valueType="num">
                                      <p:cBhvr>
                                        <p:cTn id="23" dur="1000" fill="hold"/>
                                        <p:tgtEl>
                                          <p:spTgt spid="25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Class="entr" nodeType="clickEffect" presetSubtype="8" presetID="2" grpId="1" fill="hold">
                                  <p:stCondLst>
                                    <p:cond delay="0"/>
                                  </p:stCondLst>
                                  <p:iterate type="el" backwards="0">
                                    <p:tmAbs val="0"/>
                                  </p:iterate>
                                  <p:childTnLst>
                                    <p:set>
                                      <p:cBhvr>
                                        <p:cTn id="27" fill="hold"/>
                                        <p:tgtEl>
                                          <p:spTgt spid="253">
                                            <p:txEl>
                                              <p:pRg st="3" end="3"/>
                                            </p:txEl>
                                          </p:spTgt>
                                        </p:tgtEl>
                                        <p:attrNameLst>
                                          <p:attrName>style.visibility</p:attrName>
                                        </p:attrNameLst>
                                      </p:cBhvr>
                                      <p:to>
                                        <p:strVal val="visible"/>
                                      </p:to>
                                    </p:set>
                                    <p:anim calcmode="lin" valueType="num">
                                      <p:cBhvr>
                                        <p:cTn id="28" dur="1000" fill="hold"/>
                                        <p:tgtEl>
                                          <p:spTgt spid="253">
                                            <p:txEl>
                                              <p:pRg st="3" end="3"/>
                                            </p:txEl>
                                          </p:spTgt>
                                        </p:tgtEl>
                                        <p:attrNameLst>
                                          <p:attrName>ppt_x</p:attrName>
                                        </p:attrNameLst>
                                      </p:cBhvr>
                                      <p:tavLst>
                                        <p:tav tm="0">
                                          <p:val>
                                            <p:strVal val="0-#ppt_w/2"/>
                                          </p:val>
                                        </p:tav>
                                        <p:tav tm="100000">
                                          <p:val>
                                            <p:strVal val="#ppt_x"/>
                                          </p:val>
                                        </p:tav>
                                      </p:tavLst>
                                    </p:anim>
                                    <p:anim calcmode="lin" valueType="num">
                                      <p:cBhvr>
                                        <p:cTn id="29" dur="1000" fill="hold"/>
                                        <p:tgtEl>
                                          <p:spTgt spid="25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Class="entr" nodeType="clickEffect" presetSubtype="8" presetID="2" grpId="1" fill="hold">
                                  <p:stCondLst>
                                    <p:cond delay="0"/>
                                  </p:stCondLst>
                                  <p:iterate type="el" backwards="0">
                                    <p:tmAbs val="0"/>
                                  </p:iterate>
                                  <p:childTnLst>
                                    <p:set>
                                      <p:cBhvr>
                                        <p:cTn id="33" fill="hold"/>
                                        <p:tgtEl>
                                          <p:spTgt spid="253">
                                            <p:txEl>
                                              <p:pRg st="4" end="4"/>
                                            </p:txEl>
                                          </p:spTgt>
                                        </p:tgtEl>
                                        <p:attrNameLst>
                                          <p:attrName>style.visibility</p:attrName>
                                        </p:attrNameLst>
                                      </p:cBhvr>
                                      <p:to>
                                        <p:strVal val="visible"/>
                                      </p:to>
                                    </p:set>
                                    <p:anim calcmode="lin" valueType="num">
                                      <p:cBhvr>
                                        <p:cTn id="34" dur="1000" fill="hold"/>
                                        <p:tgtEl>
                                          <p:spTgt spid="253">
                                            <p:txEl>
                                              <p:pRg st="4" end="4"/>
                                            </p:txEl>
                                          </p:spTgt>
                                        </p:tgtEl>
                                        <p:attrNameLst>
                                          <p:attrName>ppt_x</p:attrName>
                                        </p:attrNameLst>
                                      </p:cBhvr>
                                      <p:tavLst>
                                        <p:tav tm="0">
                                          <p:val>
                                            <p:strVal val="0-#ppt_w/2"/>
                                          </p:val>
                                        </p:tav>
                                        <p:tav tm="100000">
                                          <p:val>
                                            <p:strVal val="#ppt_x"/>
                                          </p:val>
                                        </p:tav>
                                      </p:tavLst>
                                    </p:anim>
                                    <p:anim calcmode="lin" valueType="num">
                                      <p:cBhvr>
                                        <p:cTn id="35" dur="1000" fill="hold"/>
                                        <p:tgtEl>
                                          <p:spTgt spid="25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Class="entr" nodeType="clickEffect" presetSubtype="8" presetID="2" grpId="1" fill="hold">
                                  <p:stCondLst>
                                    <p:cond delay="0"/>
                                  </p:stCondLst>
                                  <p:iterate type="el" backwards="0">
                                    <p:tmAbs val="0"/>
                                  </p:iterate>
                                  <p:childTnLst>
                                    <p:set>
                                      <p:cBhvr>
                                        <p:cTn id="39" fill="hold"/>
                                        <p:tgtEl>
                                          <p:spTgt spid="253">
                                            <p:txEl>
                                              <p:pRg st="5" end="5"/>
                                            </p:txEl>
                                          </p:spTgt>
                                        </p:tgtEl>
                                        <p:attrNameLst>
                                          <p:attrName>style.visibility</p:attrName>
                                        </p:attrNameLst>
                                      </p:cBhvr>
                                      <p:to>
                                        <p:strVal val="visible"/>
                                      </p:to>
                                    </p:set>
                                    <p:anim calcmode="lin" valueType="num">
                                      <p:cBhvr>
                                        <p:cTn id="40" dur="1000" fill="hold"/>
                                        <p:tgtEl>
                                          <p:spTgt spid="253">
                                            <p:txEl>
                                              <p:pRg st="5" end="5"/>
                                            </p:txEl>
                                          </p:spTgt>
                                        </p:tgtEl>
                                        <p:attrNameLst>
                                          <p:attrName>ppt_x</p:attrName>
                                        </p:attrNameLst>
                                      </p:cBhvr>
                                      <p:tavLst>
                                        <p:tav tm="0">
                                          <p:val>
                                            <p:strVal val="0-#ppt_w/2"/>
                                          </p:val>
                                        </p:tav>
                                        <p:tav tm="100000">
                                          <p:val>
                                            <p:strVal val="#ppt_x"/>
                                          </p:val>
                                        </p:tav>
                                      </p:tavLst>
                                    </p:anim>
                                    <p:anim calcmode="lin" valueType="num">
                                      <p:cBhvr>
                                        <p:cTn id="41" dur="1000" fill="hold"/>
                                        <p:tgtEl>
                                          <p:spTgt spid="25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Class="entr" nodeType="clickEffect" presetSubtype="8" presetID="2" grpId="1" fill="hold">
                                  <p:stCondLst>
                                    <p:cond delay="0"/>
                                  </p:stCondLst>
                                  <p:iterate type="el" backwards="0">
                                    <p:tmAbs val="0"/>
                                  </p:iterate>
                                  <p:childTnLst>
                                    <p:set>
                                      <p:cBhvr>
                                        <p:cTn id="45" fill="hold"/>
                                        <p:tgtEl>
                                          <p:spTgt spid="253">
                                            <p:txEl>
                                              <p:pRg st="6" end="6"/>
                                            </p:txEl>
                                          </p:spTgt>
                                        </p:tgtEl>
                                        <p:attrNameLst>
                                          <p:attrName>style.visibility</p:attrName>
                                        </p:attrNameLst>
                                      </p:cBhvr>
                                      <p:to>
                                        <p:strVal val="visible"/>
                                      </p:to>
                                    </p:set>
                                    <p:anim calcmode="lin" valueType="num">
                                      <p:cBhvr>
                                        <p:cTn id="46" dur="1000" fill="hold"/>
                                        <p:tgtEl>
                                          <p:spTgt spid="253">
                                            <p:txEl>
                                              <p:pRg st="6" end="6"/>
                                            </p:txEl>
                                          </p:spTgt>
                                        </p:tgtEl>
                                        <p:attrNameLst>
                                          <p:attrName>ppt_x</p:attrName>
                                        </p:attrNameLst>
                                      </p:cBhvr>
                                      <p:tavLst>
                                        <p:tav tm="0">
                                          <p:val>
                                            <p:strVal val="0-#ppt_w/2"/>
                                          </p:val>
                                        </p:tav>
                                        <p:tav tm="100000">
                                          <p:val>
                                            <p:strVal val="#ppt_x"/>
                                          </p:val>
                                        </p:tav>
                                      </p:tavLst>
                                    </p:anim>
                                    <p:anim calcmode="lin" valueType="num">
                                      <p:cBhvr>
                                        <p:cTn id="47" dur="1000" fill="hold"/>
                                        <p:tgtEl>
                                          <p:spTgt spid="25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Class="entr" nodeType="clickEffect" presetSubtype="8" presetID="2" grpId="1" fill="hold">
                                  <p:stCondLst>
                                    <p:cond delay="0"/>
                                  </p:stCondLst>
                                  <p:iterate type="el" backwards="0">
                                    <p:tmAbs val="0"/>
                                  </p:iterate>
                                  <p:childTnLst>
                                    <p:set>
                                      <p:cBhvr>
                                        <p:cTn id="51" fill="hold"/>
                                        <p:tgtEl>
                                          <p:spTgt spid="253">
                                            <p:txEl>
                                              <p:pRg st="7" end="7"/>
                                            </p:txEl>
                                          </p:spTgt>
                                        </p:tgtEl>
                                        <p:attrNameLst>
                                          <p:attrName>style.visibility</p:attrName>
                                        </p:attrNameLst>
                                      </p:cBhvr>
                                      <p:to>
                                        <p:strVal val="visible"/>
                                      </p:to>
                                    </p:set>
                                    <p:anim calcmode="lin" valueType="num">
                                      <p:cBhvr>
                                        <p:cTn id="52" dur="1000" fill="hold"/>
                                        <p:tgtEl>
                                          <p:spTgt spid="253">
                                            <p:txEl>
                                              <p:pRg st="7" end="7"/>
                                            </p:txEl>
                                          </p:spTgt>
                                        </p:tgtEl>
                                        <p:attrNameLst>
                                          <p:attrName>ppt_x</p:attrName>
                                        </p:attrNameLst>
                                      </p:cBhvr>
                                      <p:tavLst>
                                        <p:tav tm="0">
                                          <p:val>
                                            <p:strVal val="0-#ppt_w/2"/>
                                          </p:val>
                                        </p:tav>
                                        <p:tav tm="100000">
                                          <p:val>
                                            <p:strVal val="#ppt_x"/>
                                          </p:val>
                                        </p:tav>
                                      </p:tavLst>
                                    </p:anim>
                                    <p:anim calcmode="lin" valueType="num">
                                      <p:cBhvr>
                                        <p:cTn id="53" dur="1000" fill="hold"/>
                                        <p:tgtEl>
                                          <p:spTgt spid="253">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253" grpId="1"/>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55" name="corequarry-inverted-indexes-pat-arrays.png" descr="corequarry-inverted-indexes-pat-arrays.png"/>
          <p:cNvPicPr>
            <a:picLocks noChangeAspect="1"/>
          </p:cNvPicPr>
          <p:nvPr/>
        </p:nvPicPr>
        <p:blipFill>
          <a:blip r:embed="rId2">
            <a:extLst/>
          </a:blip>
          <a:stretch>
            <a:fillRect/>
          </a:stretch>
        </p:blipFill>
        <p:spPr>
          <a:xfrm>
            <a:off x="0" y="0"/>
            <a:ext cx="12192000" cy="6858000"/>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57" name="corequarry-allen-interval-algebra.png" descr="corequarry-allen-interval-algebra.png"/>
          <p:cNvPicPr>
            <a:picLocks noChangeAspect="1"/>
          </p:cNvPicPr>
          <p:nvPr/>
        </p:nvPicPr>
        <p:blipFill>
          <a:blip r:embed="rId2">
            <a:extLst/>
          </a:blip>
          <a:stretch>
            <a:fillRect/>
          </a:stretch>
        </p:blipFill>
        <p:spPr>
          <a:xfrm>
            <a:off x="0" y="0"/>
            <a:ext cx="12192000" cy="6858000"/>
          </a:xfrm>
          <a:prstGeom prst="rect">
            <a:avLst/>
          </a:prstGeom>
          <a:ln w="12700">
            <a:miter lim="400000"/>
          </a:ln>
        </p:spPr>
      </p:pic>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0000"/>
        </a:solidFill>
      </p:bgPr>
    </p:bg>
    <p:spTree>
      <p:nvGrpSpPr>
        <p:cNvPr id="1" name=""/>
        <p:cNvGrpSpPr/>
        <p:nvPr/>
      </p:nvGrpSpPr>
      <p:grpSpPr>
        <a:xfrm>
          <a:off x="0" y="0"/>
          <a:ext cx="0" cy="0"/>
          <a:chOff x="0" y="0"/>
          <a:chExt cx="0" cy="0"/>
        </a:xfrm>
      </p:grpSpPr>
      <p:sp>
        <p:nvSpPr>
          <p:cNvPr id="259" name="Re-Isearch is a 100% open source (Apache 2.0) novel multimodal search and retrieval engine using mathematical models and algorithms different from the all-too-common inverted index. It is a kind of hybrid between full-text, XML, object and graph noSQL-db"/>
          <p:cNvSpPr txBox="1"/>
          <p:nvPr>
            <p:ph type="body" idx="1"/>
          </p:nvPr>
        </p:nvSpPr>
        <p:spPr>
          <a:xfrm>
            <a:off x="603249" y="441867"/>
            <a:ext cx="10985502" cy="5974266"/>
          </a:xfrm>
          <a:prstGeom prst="rect">
            <a:avLst/>
          </a:prstGeom>
        </p:spPr>
        <p:txBody>
          <a:bodyPr/>
          <a:lstStyle/>
          <a:p>
            <a:pPr defTabSz="153072">
              <a:lnSpc>
                <a:spcPct val="120000"/>
              </a:lnSpc>
              <a:spcBef>
                <a:spcPts val="400"/>
              </a:spcBef>
              <a:defRPr b="0" sz="2300">
                <a:solidFill>
                  <a:srgbClr val="FFFFFF"/>
                </a:solidFill>
                <a:latin typeface="+mn-lt"/>
                <a:ea typeface="+mn-ea"/>
                <a:cs typeface="+mn-cs"/>
                <a:sym typeface="IBM Plex Sans"/>
              </a:defRPr>
            </a:pPr>
            <a:r>
              <a:t>Patricia Trees and Pat Arrays Fell Out of Favor in the 1990s because of hardware:</a:t>
            </a:r>
          </a:p>
          <a:p>
            <a:pPr marL="207963" indent="-207963" defTabSz="153072">
              <a:lnSpc>
                <a:spcPct val="120000"/>
              </a:lnSpc>
              <a:spcBef>
                <a:spcPts val="400"/>
              </a:spcBef>
              <a:buSzPct val="100000"/>
              <a:buChar char="•"/>
              <a:defRPr b="0" sz="2400">
                <a:solidFill>
                  <a:srgbClr val="FFFFFF"/>
                </a:solidFill>
                <a:latin typeface="+mn-lt"/>
                <a:ea typeface="+mn-ea"/>
                <a:cs typeface="+mn-cs"/>
                <a:sym typeface="IBM Plex Sans"/>
              </a:defRPr>
            </a:pPr>
            <a:r>
              <a:t>Pointer chasing is catastrophically cache-unfriendly— every node traversal is a potential cache miss.</a:t>
            </a:r>
          </a:p>
          <a:p>
            <a:pPr marL="207963" indent="-207963" defTabSz="153072">
              <a:lnSpc>
                <a:spcPct val="120000"/>
              </a:lnSpc>
              <a:spcBef>
                <a:spcPts val="400"/>
              </a:spcBef>
              <a:buSzPct val="100000"/>
              <a:buChar char="•"/>
              <a:defRPr b="0" sz="2400">
                <a:solidFill>
                  <a:srgbClr val="FFFFFF"/>
                </a:solidFill>
                <a:latin typeface="+mn-lt"/>
                <a:ea typeface="+mn-ea"/>
                <a:cs typeface="+mn-cs"/>
                <a:sym typeface="IBM Plex Sans"/>
              </a:defRPr>
            </a:pPr>
            <a:r>
              <a:t>On 1990s hardware, a cache miss meant going to main memory at 60–80ns, and with tiny caches (L1 was 8–16KB) misses were constant.</a:t>
            </a:r>
          </a:p>
          <a:p>
            <a:pPr marL="207963" indent="-207963" defTabSz="153072">
              <a:lnSpc>
                <a:spcPct val="120000"/>
              </a:lnSpc>
              <a:spcBef>
                <a:spcPts val="400"/>
              </a:spcBef>
              <a:buSzPct val="100000"/>
              <a:buChar char="•"/>
              <a:defRPr b="0" sz="2400">
                <a:solidFill>
                  <a:srgbClr val="FFFFFF"/>
                </a:solidFill>
                <a:latin typeface="+mn-lt"/>
                <a:ea typeface="+mn-ea"/>
                <a:cs typeface="+mn-cs"/>
                <a:sym typeface="IBM Plex Sans"/>
              </a:defRPr>
            </a:pPr>
            <a:r>
              <a:t>The inverted index, despite its bulk, had more predictable, sequential access patterns that could be optimized with careful disk layout.</a:t>
            </a:r>
          </a:p>
          <a:p>
            <a:pPr marL="207963" indent="-207963" defTabSz="153072">
              <a:lnSpc>
                <a:spcPct val="120000"/>
              </a:lnSpc>
              <a:spcBef>
                <a:spcPts val="400"/>
              </a:spcBef>
              <a:buSzPct val="100000"/>
              <a:buChar char="•"/>
              <a:defRPr b="0" sz="2400">
                <a:solidFill>
                  <a:srgbClr val="FFFFFF"/>
                </a:solidFill>
                <a:latin typeface="+mn-lt"/>
                <a:ea typeface="+mn-ea"/>
                <a:cs typeface="+mn-cs"/>
                <a:sym typeface="IBM Plex Sans"/>
              </a:defRPr>
            </a:pPr>
            <a:r>
              <a:t>Patricia trees also consumed significant RAM for pointers — precious in an era of $50,000/GB RAM. </a:t>
            </a:r>
          </a:p>
          <a:p>
            <a:pPr marL="207963" indent="-207963" defTabSz="153072">
              <a:lnSpc>
                <a:spcPct val="120000"/>
              </a:lnSpc>
              <a:spcBef>
                <a:spcPts val="400"/>
              </a:spcBef>
              <a:buSzPct val="100000"/>
              <a:buChar char="•"/>
              <a:defRPr b="0" sz="2400">
                <a:solidFill>
                  <a:srgbClr val="FFFFFF"/>
                </a:solidFill>
                <a:latin typeface="+mn-lt"/>
                <a:ea typeface="+mn-ea"/>
                <a:cs typeface="+mn-cs"/>
                <a:sym typeface="IBM Plex Sans"/>
              </a:defRPr>
            </a:pPr>
            <a:r>
              <a:t>Worst case pointer density: a tree over a million terms might have millions of pointer pairs, each potentially a cache miss during traversal</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59">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259">
                                            <p:txEl>
                                              <p:pRg st="0" end="0"/>
                                            </p:txEl>
                                          </p:spTgt>
                                        </p:tgtEl>
                                        <p:attrNameLst>
                                          <p:attrName>style.visibility</p:attrName>
                                        </p:attrNameLst>
                                      </p:cBhvr>
                                      <p:to>
                                        <p:strVal val="visible"/>
                                      </p:to>
                                    </p:set>
                                  </p:childTnLst>
                                </p:cTn>
                              </p:par>
                            </p:childTnLst>
                          </p:cTn>
                        </p:par>
                        <p:par>
                          <p:cTn id="9" fill="hold">
                            <p:stCondLst>
                              <p:cond delay="0"/>
                            </p:stCondLst>
                            <p:childTnLst>
                              <p:par>
                                <p:cTn id="10" presetClass="entr" nodeType="afterEffect" presetSubtype="0" presetID="1" grpId="1" fill="hold">
                                  <p:stCondLst>
                                    <p:cond delay="0"/>
                                  </p:stCondLst>
                                  <p:iterate type="el" backwards="0">
                                    <p:tmAbs val="0"/>
                                  </p:iterate>
                                  <p:childTnLst>
                                    <p:set>
                                      <p:cBhvr>
                                        <p:cTn id="11" fill="hold"/>
                                        <p:tgtEl>
                                          <p:spTgt spid="259">
                                            <p:txEl>
                                              <p:pRg st="1" end="1"/>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0" presetID="1" grpId="1" fill="hold">
                                  <p:stCondLst>
                                    <p:cond delay="0"/>
                                  </p:stCondLst>
                                  <p:iterate type="el" backwards="0">
                                    <p:tmAbs val="0"/>
                                  </p:iterate>
                                  <p:childTnLst>
                                    <p:set>
                                      <p:cBhvr>
                                        <p:cTn id="15" fill="hold"/>
                                        <p:tgtEl>
                                          <p:spTgt spid="259">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Class="entr" nodeType="clickEffect" presetSubtype="0" presetID="1" grpId="1" fill="hold">
                                  <p:stCondLst>
                                    <p:cond delay="0"/>
                                  </p:stCondLst>
                                  <p:iterate type="el" backwards="0">
                                    <p:tmAbs val="0"/>
                                  </p:iterate>
                                  <p:childTnLst>
                                    <p:set>
                                      <p:cBhvr>
                                        <p:cTn id="19" fill="hold"/>
                                        <p:tgtEl>
                                          <p:spTgt spid="259">
                                            <p:txEl>
                                              <p:pRg st="3" end="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Class="entr" nodeType="clickEffect" presetSubtype="0" presetID="1" grpId="1" fill="hold">
                                  <p:stCondLst>
                                    <p:cond delay="0"/>
                                  </p:stCondLst>
                                  <p:iterate type="el" backwards="0">
                                    <p:tmAbs val="0"/>
                                  </p:iterate>
                                  <p:childTnLst>
                                    <p:set>
                                      <p:cBhvr>
                                        <p:cTn id="23" fill="hold"/>
                                        <p:tgtEl>
                                          <p:spTgt spid="259">
                                            <p:txEl>
                                              <p:pRg st="4" end="4"/>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Class="entr" nodeType="clickEffect" presetSubtype="0" presetID="1" grpId="1" fill="hold">
                                  <p:stCondLst>
                                    <p:cond delay="0"/>
                                  </p:stCondLst>
                                  <p:iterate type="el" backwards="0">
                                    <p:tmAbs val="0"/>
                                  </p:iterate>
                                  <p:childTnLst>
                                    <p:set>
                                      <p:cBhvr>
                                        <p:cTn id="27" fill="hold"/>
                                        <p:tgtEl>
                                          <p:spTgt spid="259">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259" grpId="1"/>
    </p:bld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0000"/>
        </a:solidFill>
      </p:bgPr>
    </p:bg>
    <p:spTree>
      <p:nvGrpSpPr>
        <p:cNvPr id="1" name=""/>
        <p:cNvGrpSpPr/>
        <p:nvPr/>
      </p:nvGrpSpPr>
      <p:grpSpPr>
        <a:xfrm>
          <a:off x="0" y="0"/>
          <a:ext cx="0" cy="0"/>
          <a:chOff x="0" y="0"/>
          <a:chExt cx="0" cy="0"/>
        </a:xfrm>
      </p:grpSpPr>
      <p:sp>
        <p:nvSpPr>
          <p:cNvPr id="261" name="At its core is Re-Isearch"/>
          <p:cNvSpPr txBox="1"/>
          <p:nvPr>
            <p:ph type="title"/>
          </p:nvPr>
        </p:nvSpPr>
        <p:spPr>
          <a:xfrm>
            <a:off x="603250" y="538679"/>
            <a:ext cx="10985500" cy="1048404"/>
          </a:xfrm>
          <a:prstGeom prst="rect">
            <a:avLst/>
          </a:prstGeom>
        </p:spPr>
        <p:txBody>
          <a:bodyPr/>
          <a:lstStyle>
            <a:lvl1pPr defTabSz="755884">
              <a:defRPr b="0" spc="-100" sz="3000">
                <a:solidFill>
                  <a:srgbClr val="FFFFFF"/>
                </a:solidFill>
                <a:latin typeface="EB Garamond"/>
                <a:ea typeface="EB Garamond"/>
                <a:cs typeface="EB Garamond"/>
                <a:sym typeface="EB Garamond"/>
              </a:defRPr>
            </a:lvl1pPr>
          </a:lstStyle>
          <a:p>
            <a:pPr/>
            <a:r>
              <a:t>Its 2026. Not 1999. What Contemporary Hardware Means for Information Retrieval.</a:t>
            </a:r>
          </a:p>
        </p:txBody>
      </p:sp>
      <p:sp>
        <p:nvSpPr>
          <p:cNvPr id="262" name="Re-Isearch is a 100% open source (Apache 2.0) novel multimodal search and retrieval engine using mathematical models and algorithms different from the all-too-common inverted index. It is a kind of hybrid between full-text, XML, object and graph noSQL-db"/>
          <p:cNvSpPr txBox="1"/>
          <p:nvPr>
            <p:ph type="body" idx="1"/>
          </p:nvPr>
        </p:nvSpPr>
        <p:spPr>
          <a:xfrm>
            <a:off x="603249" y="1772475"/>
            <a:ext cx="10985502" cy="4643658"/>
          </a:xfrm>
          <a:prstGeom prst="rect">
            <a:avLst/>
          </a:prstGeom>
        </p:spPr>
        <p:txBody>
          <a:bodyPr/>
          <a:lstStyle/>
          <a:p>
            <a:pPr defTabSz="164328">
              <a:lnSpc>
                <a:spcPct val="120000"/>
              </a:lnSpc>
              <a:spcBef>
                <a:spcPts val="500"/>
              </a:spcBef>
              <a:defRPr b="0" sz="2000">
                <a:solidFill>
                  <a:srgbClr val="FFFFFF"/>
                </a:solidFill>
                <a:latin typeface="Academy Engraved LET Plain:1.0"/>
                <a:ea typeface="Academy Engraved LET Plain:1.0"/>
                <a:cs typeface="Academy Engraved LET Plain:1.0"/>
                <a:sym typeface="Academy Engraved LET Plain:1.0"/>
              </a:defRPr>
            </a:pPr>
            <a:r>
              <a:t>T</a:t>
            </a:r>
            <a:r>
              <a:rPr>
                <a:latin typeface="+mn-lt"/>
                <a:ea typeface="+mn-ea"/>
                <a:cs typeface="+mn-cs"/>
                <a:sym typeface="IBM Plex Sans"/>
              </a:rPr>
              <a:t>he most dramatic difference isn't raw speed — it's random I/O latency and IOPS, which is exactly what database queries and information retrieval hammers hardest.</a:t>
            </a:r>
            <a:endParaRPr>
              <a:latin typeface="+mn-lt"/>
              <a:ea typeface="+mn-ea"/>
              <a:cs typeface="+mn-cs"/>
              <a:sym typeface="IBM Plex Sans"/>
            </a:endParaRPr>
          </a:p>
          <a:p>
            <a:pPr marL="229456" indent="-229456" defTabSz="164328">
              <a:lnSpc>
                <a:spcPct val="120000"/>
              </a:lnSpc>
              <a:spcBef>
                <a:spcPts val="500"/>
              </a:spcBef>
              <a:buSzPct val="100000"/>
              <a:buChar char="•"/>
              <a:defRPr b="0" sz="2000">
                <a:solidFill>
                  <a:srgbClr val="FFFFFF"/>
                </a:solidFill>
                <a:latin typeface="+mn-lt"/>
                <a:ea typeface="+mn-ea"/>
                <a:cs typeface="+mn-cs"/>
                <a:sym typeface="IBM Plex Sans"/>
              </a:defRPr>
            </a:pPr>
            <a:r>
              <a:t>A full-table scan that took 10 minutes on a 90s SCSI array takes seconds on NVMe. </a:t>
            </a:r>
          </a:p>
          <a:p>
            <a:pPr marL="229456" indent="-229456" defTabSz="164328">
              <a:lnSpc>
                <a:spcPct val="120000"/>
              </a:lnSpc>
              <a:spcBef>
                <a:spcPts val="500"/>
              </a:spcBef>
              <a:buSzPct val="100000"/>
              <a:buChar char="•"/>
              <a:defRPr b="0" sz="2000">
                <a:solidFill>
                  <a:srgbClr val="FFFFFF"/>
                </a:solidFill>
                <a:latin typeface="+mn-lt"/>
                <a:ea typeface="+mn-ea"/>
                <a:cs typeface="+mn-cs"/>
                <a:sym typeface="IBM Plex Sans"/>
              </a:defRPr>
            </a:pPr>
            <a:r>
              <a:t>A database query requiring 10,000 random disk reads: 90s machine takes 80–120 seconds just in I/O wait; modern NVMe does it in ~10–50 milliseconds.</a:t>
            </a:r>
          </a:p>
          <a:p>
            <a:pPr marL="229456" indent="-229456" defTabSz="164328">
              <a:lnSpc>
                <a:spcPct val="120000"/>
              </a:lnSpc>
              <a:spcBef>
                <a:spcPts val="500"/>
              </a:spcBef>
              <a:buSzPct val="100000"/>
              <a:buChar char="•"/>
              <a:defRPr b="0" sz="2000">
                <a:solidFill>
                  <a:srgbClr val="FFFFFF"/>
                </a:solidFill>
                <a:latin typeface="+mn-lt"/>
                <a:ea typeface="+mn-ea"/>
                <a:cs typeface="+mn-cs"/>
                <a:sym typeface="IBM Plex Sans"/>
              </a:defRPr>
            </a:pPr>
            <a:r>
              <a:t>The entire working dataset that required careful buffer pool management in the 90s (because RAM was scarce) now fits entirely in RAM on a modern system — eliminating disk I/O almost entirely for hot data. </a:t>
            </a:r>
          </a:p>
          <a:p>
            <a:pPr marL="229456" indent="-229456" defTabSz="164328">
              <a:lnSpc>
                <a:spcPct val="120000"/>
              </a:lnSpc>
              <a:spcBef>
                <a:spcPts val="500"/>
              </a:spcBef>
              <a:buSzPct val="100000"/>
              <a:buChar char="•"/>
              <a:defRPr b="0" sz="2000">
                <a:solidFill>
                  <a:srgbClr val="FFFFFF"/>
                </a:solidFill>
                <a:latin typeface="+mn-lt"/>
                <a:ea typeface="+mn-ea"/>
                <a:cs typeface="+mn-cs"/>
                <a:sym typeface="IBM Plex Sans"/>
              </a:defRPr>
            </a:pPr>
            <a:r>
              <a:t>Memory bandwidth improvements mean in-memory analytics (columnar stores, etc.) can process data ~750× faster even if latency is similar.</a:t>
            </a:r>
          </a:p>
        </p:txBody>
      </p:sp>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262">
                                            <p:bg/>
                                          </p:spTgt>
                                        </p:tgtEl>
                                        <p:attrNameLst>
                                          <p:attrName>style.visibility</p:attrName>
                                        </p:attrNameLst>
                                      </p:cBhvr>
                                      <p:to>
                                        <p:strVal val="visible"/>
                                      </p:to>
                                    </p:set>
                                    <p:anim calcmode="lin" valueType="num">
                                      <p:cBhvr>
                                        <p:cTn id="7" dur="1000" fill="hold"/>
                                        <p:tgtEl>
                                          <p:spTgt spid="262">
                                            <p:bg/>
                                          </p:spTgt>
                                        </p:tgtEl>
                                        <p:attrNameLst>
                                          <p:attrName>ppt_x</p:attrName>
                                        </p:attrNameLst>
                                      </p:cBhvr>
                                      <p:tavLst>
                                        <p:tav tm="0">
                                          <p:val>
                                            <p:strVal val="0-#ppt_w/2"/>
                                          </p:val>
                                        </p:tav>
                                        <p:tav tm="100000">
                                          <p:val>
                                            <p:strVal val="#ppt_x"/>
                                          </p:val>
                                        </p:tav>
                                      </p:tavLst>
                                    </p:anim>
                                    <p:anim calcmode="lin" valueType="num">
                                      <p:cBhvr>
                                        <p:cTn id="8" dur="1000" fill="hold"/>
                                        <p:tgtEl>
                                          <p:spTgt spid="262">
                                            <p:bg/>
                                          </p:spTgt>
                                        </p:tgtEl>
                                        <p:attrNameLst>
                                          <p:attrName>ppt_y</p:attrName>
                                        </p:attrNameLst>
                                      </p:cBhvr>
                                      <p:tavLst>
                                        <p:tav tm="0">
                                          <p:val>
                                            <p:strVal val="#ppt_y"/>
                                          </p:val>
                                        </p:tav>
                                        <p:tav tm="100000">
                                          <p:val>
                                            <p:strVal val="#ppt_y"/>
                                          </p:val>
                                        </p:tav>
                                      </p:tavLst>
                                    </p:anim>
                                  </p:childTnLst>
                                </p:cTn>
                              </p:par>
                              <p:par>
                                <p:cTn id="9" presetClass="entr" nodeType="withEffect" presetSubtype="8" presetID="2" grpId="1" fill="hold">
                                  <p:stCondLst>
                                    <p:cond delay="0"/>
                                  </p:stCondLst>
                                  <p:iterate type="el" backwards="0">
                                    <p:tmAbs val="0"/>
                                  </p:iterate>
                                  <p:childTnLst>
                                    <p:set>
                                      <p:cBhvr>
                                        <p:cTn id="10" fill="hold"/>
                                        <p:tgtEl>
                                          <p:spTgt spid="262">
                                            <p:txEl>
                                              <p:pRg st="0" end="0"/>
                                            </p:txEl>
                                          </p:spTgt>
                                        </p:tgtEl>
                                        <p:attrNameLst>
                                          <p:attrName>style.visibility</p:attrName>
                                        </p:attrNameLst>
                                      </p:cBhvr>
                                      <p:to>
                                        <p:strVal val="visible"/>
                                      </p:to>
                                    </p:set>
                                    <p:anim calcmode="lin" valueType="num">
                                      <p:cBhvr>
                                        <p:cTn id="11" dur="1000" fill="hold"/>
                                        <p:tgtEl>
                                          <p:spTgt spid="262">
                                            <p:txEl>
                                              <p:pRg st="0" end="0"/>
                                            </p:txEl>
                                          </p:spTgt>
                                        </p:tgtEl>
                                        <p:attrNameLst>
                                          <p:attrName>ppt_x</p:attrName>
                                        </p:attrNameLst>
                                      </p:cBhvr>
                                      <p:tavLst>
                                        <p:tav tm="0">
                                          <p:val>
                                            <p:strVal val="0-#ppt_w/2"/>
                                          </p:val>
                                        </p:tav>
                                        <p:tav tm="100000">
                                          <p:val>
                                            <p:strVal val="#ppt_x"/>
                                          </p:val>
                                        </p:tav>
                                      </p:tavLst>
                                    </p:anim>
                                    <p:anim calcmode="lin" valueType="num">
                                      <p:cBhvr>
                                        <p:cTn id="12" dur="1000" fill="hold"/>
                                        <p:tgtEl>
                                          <p:spTgt spid="262">
                                            <p:txEl>
                                              <p:pRg st="0" end="0"/>
                                            </p:txEl>
                                          </p:spTgt>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Class="entr" nodeType="afterEffect" presetSubtype="8" presetID="2" grpId="1" fill="hold">
                                  <p:stCondLst>
                                    <p:cond delay="0"/>
                                  </p:stCondLst>
                                  <p:iterate type="el" backwards="0">
                                    <p:tmAbs val="0"/>
                                  </p:iterate>
                                  <p:childTnLst>
                                    <p:set>
                                      <p:cBhvr>
                                        <p:cTn id="15" fill="hold"/>
                                        <p:tgtEl>
                                          <p:spTgt spid="262">
                                            <p:txEl>
                                              <p:pRg st="1" end="1"/>
                                            </p:txEl>
                                          </p:spTgt>
                                        </p:tgtEl>
                                        <p:attrNameLst>
                                          <p:attrName>style.visibility</p:attrName>
                                        </p:attrNameLst>
                                      </p:cBhvr>
                                      <p:to>
                                        <p:strVal val="visible"/>
                                      </p:to>
                                    </p:set>
                                    <p:anim calcmode="lin" valueType="num">
                                      <p:cBhvr>
                                        <p:cTn id="16" dur="1000" fill="hold"/>
                                        <p:tgtEl>
                                          <p:spTgt spid="262">
                                            <p:txEl>
                                              <p:pRg st="1" end="1"/>
                                            </p:txEl>
                                          </p:spTgt>
                                        </p:tgtEl>
                                        <p:attrNameLst>
                                          <p:attrName>ppt_x</p:attrName>
                                        </p:attrNameLst>
                                      </p:cBhvr>
                                      <p:tavLst>
                                        <p:tav tm="0">
                                          <p:val>
                                            <p:strVal val="0-#ppt_w/2"/>
                                          </p:val>
                                        </p:tav>
                                        <p:tav tm="100000">
                                          <p:val>
                                            <p:strVal val="#ppt_x"/>
                                          </p:val>
                                        </p:tav>
                                      </p:tavLst>
                                    </p:anim>
                                    <p:anim calcmode="lin" valueType="num">
                                      <p:cBhvr>
                                        <p:cTn id="17" dur="1000" fill="hold"/>
                                        <p:tgtEl>
                                          <p:spTgt spid="26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8" presetID="2" grpId="1" fill="hold">
                                  <p:stCondLst>
                                    <p:cond delay="0"/>
                                  </p:stCondLst>
                                  <p:iterate type="el" backwards="0">
                                    <p:tmAbs val="0"/>
                                  </p:iterate>
                                  <p:childTnLst>
                                    <p:set>
                                      <p:cBhvr>
                                        <p:cTn id="21" fill="hold"/>
                                        <p:tgtEl>
                                          <p:spTgt spid="262">
                                            <p:txEl>
                                              <p:pRg st="2" end="2"/>
                                            </p:txEl>
                                          </p:spTgt>
                                        </p:tgtEl>
                                        <p:attrNameLst>
                                          <p:attrName>style.visibility</p:attrName>
                                        </p:attrNameLst>
                                      </p:cBhvr>
                                      <p:to>
                                        <p:strVal val="visible"/>
                                      </p:to>
                                    </p:set>
                                    <p:anim calcmode="lin" valueType="num">
                                      <p:cBhvr>
                                        <p:cTn id="22" dur="1000" fill="hold"/>
                                        <p:tgtEl>
                                          <p:spTgt spid="262">
                                            <p:txEl>
                                              <p:pRg st="2" end="2"/>
                                            </p:txEl>
                                          </p:spTgt>
                                        </p:tgtEl>
                                        <p:attrNameLst>
                                          <p:attrName>ppt_x</p:attrName>
                                        </p:attrNameLst>
                                      </p:cBhvr>
                                      <p:tavLst>
                                        <p:tav tm="0">
                                          <p:val>
                                            <p:strVal val="0-#ppt_w/2"/>
                                          </p:val>
                                        </p:tav>
                                        <p:tav tm="100000">
                                          <p:val>
                                            <p:strVal val="#ppt_x"/>
                                          </p:val>
                                        </p:tav>
                                      </p:tavLst>
                                    </p:anim>
                                    <p:anim calcmode="lin" valueType="num">
                                      <p:cBhvr>
                                        <p:cTn id="23" dur="1000" fill="hold"/>
                                        <p:tgtEl>
                                          <p:spTgt spid="26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Class="entr" nodeType="clickEffect" presetSubtype="8" presetID="2" grpId="1" fill="hold">
                                  <p:stCondLst>
                                    <p:cond delay="0"/>
                                  </p:stCondLst>
                                  <p:iterate type="el" backwards="0">
                                    <p:tmAbs val="0"/>
                                  </p:iterate>
                                  <p:childTnLst>
                                    <p:set>
                                      <p:cBhvr>
                                        <p:cTn id="27" fill="hold"/>
                                        <p:tgtEl>
                                          <p:spTgt spid="262">
                                            <p:txEl>
                                              <p:pRg st="3" end="3"/>
                                            </p:txEl>
                                          </p:spTgt>
                                        </p:tgtEl>
                                        <p:attrNameLst>
                                          <p:attrName>style.visibility</p:attrName>
                                        </p:attrNameLst>
                                      </p:cBhvr>
                                      <p:to>
                                        <p:strVal val="visible"/>
                                      </p:to>
                                    </p:set>
                                    <p:anim calcmode="lin" valueType="num">
                                      <p:cBhvr>
                                        <p:cTn id="28" dur="1000" fill="hold"/>
                                        <p:tgtEl>
                                          <p:spTgt spid="262">
                                            <p:txEl>
                                              <p:pRg st="3" end="3"/>
                                            </p:txEl>
                                          </p:spTgt>
                                        </p:tgtEl>
                                        <p:attrNameLst>
                                          <p:attrName>ppt_x</p:attrName>
                                        </p:attrNameLst>
                                      </p:cBhvr>
                                      <p:tavLst>
                                        <p:tav tm="0">
                                          <p:val>
                                            <p:strVal val="0-#ppt_w/2"/>
                                          </p:val>
                                        </p:tav>
                                        <p:tav tm="100000">
                                          <p:val>
                                            <p:strVal val="#ppt_x"/>
                                          </p:val>
                                        </p:tav>
                                      </p:tavLst>
                                    </p:anim>
                                    <p:anim calcmode="lin" valueType="num">
                                      <p:cBhvr>
                                        <p:cTn id="29" dur="1000" fill="hold"/>
                                        <p:tgtEl>
                                          <p:spTgt spid="26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Class="entr" nodeType="clickEffect" presetSubtype="8" presetID="2" grpId="1" fill="hold">
                                  <p:stCondLst>
                                    <p:cond delay="0"/>
                                  </p:stCondLst>
                                  <p:iterate type="el" backwards="0">
                                    <p:tmAbs val="0"/>
                                  </p:iterate>
                                  <p:childTnLst>
                                    <p:set>
                                      <p:cBhvr>
                                        <p:cTn id="33" fill="hold"/>
                                        <p:tgtEl>
                                          <p:spTgt spid="262">
                                            <p:txEl>
                                              <p:pRg st="4" end="4"/>
                                            </p:txEl>
                                          </p:spTgt>
                                        </p:tgtEl>
                                        <p:attrNameLst>
                                          <p:attrName>style.visibility</p:attrName>
                                        </p:attrNameLst>
                                      </p:cBhvr>
                                      <p:to>
                                        <p:strVal val="visible"/>
                                      </p:to>
                                    </p:set>
                                    <p:anim calcmode="lin" valueType="num">
                                      <p:cBhvr>
                                        <p:cTn id="34" dur="1000" fill="hold"/>
                                        <p:tgtEl>
                                          <p:spTgt spid="262">
                                            <p:txEl>
                                              <p:pRg st="4" end="4"/>
                                            </p:txEl>
                                          </p:spTgt>
                                        </p:tgtEl>
                                        <p:attrNameLst>
                                          <p:attrName>ppt_x</p:attrName>
                                        </p:attrNameLst>
                                      </p:cBhvr>
                                      <p:tavLst>
                                        <p:tav tm="0">
                                          <p:val>
                                            <p:strVal val="0-#ppt_w/2"/>
                                          </p:val>
                                        </p:tav>
                                        <p:tav tm="100000">
                                          <p:val>
                                            <p:strVal val="#ppt_x"/>
                                          </p:val>
                                        </p:tav>
                                      </p:tavLst>
                                    </p:anim>
                                    <p:anim calcmode="lin" valueType="num">
                                      <p:cBhvr>
                                        <p:cTn id="35" dur="1000" fill="hold"/>
                                        <p:tgtEl>
                                          <p:spTgt spid="262">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262" grpId="1"/>
    </p:bld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264" name="At its core is Re-Isearch"/>
          <p:cNvSpPr txBox="1"/>
          <p:nvPr>
            <p:ph type="title"/>
          </p:nvPr>
        </p:nvSpPr>
        <p:spPr>
          <a:xfrm>
            <a:off x="603250" y="538679"/>
            <a:ext cx="10985500" cy="1048404"/>
          </a:xfrm>
          <a:prstGeom prst="rect">
            <a:avLst/>
          </a:prstGeom>
        </p:spPr>
        <p:txBody>
          <a:bodyPr/>
          <a:lstStyle>
            <a:lvl1pPr>
              <a:defRPr b="0" spc="-148" sz="4800">
                <a:latin typeface="EB Garamond"/>
                <a:ea typeface="EB Garamond"/>
                <a:cs typeface="EB Garamond"/>
                <a:sym typeface="EB Garamond"/>
              </a:defRPr>
            </a:lvl1pPr>
          </a:lstStyle>
          <a:p>
            <a:pPr/>
            <a:r>
              <a:t>Cache hierarchies have transformed things</a:t>
            </a:r>
          </a:p>
        </p:txBody>
      </p:sp>
      <p:graphicFrame>
        <p:nvGraphicFramePr>
          <p:cNvPr id="265" name="Table 1"/>
          <p:cNvGraphicFramePr/>
          <p:nvPr/>
        </p:nvGraphicFramePr>
        <p:xfrm>
          <a:off x="965744" y="1614490"/>
          <a:ext cx="10657186" cy="4738194"/>
        </p:xfrm>
        <a:graphic xmlns:a="http://schemas.openxmlformats.org/drawingml/2006/main">
          <a:graphicData uri="http://schemas.openxmlformats.org/drawingml/2006/table">
            <a:tbl>
              <a:tblPr firstCol="1" firstRow="1" lastCol="0" lastRow="0" bandCol="0" bandRow="0" rtl="0">
                <a:tableStyleId>{4C3C2611-4C71-4FC5-86AE-919BDF0F9419}</a:tableStyleId>
              </a:tblPr>
              <a:tblGrid>
                <a:gridCol w="1537942"/>
                <a:gridCol w="2460659"/>
                <a:gridCol w="4418306"/>
                <a:gridCol w="2237102"/>
              </a:tblGrid>
              <a:tr h="947003">
                <a:tc>
                  <a:txBody>
                    <a:bodyPr/>
                    <a:lstStyle/>
                    <a:p>
                      <a:pPr algn="ctr" defTabSz="457200">
                        <a:defRPr b="0" sz="1800">
                          <a:solidFill>
                            <a:srgbClr val="000000"/>
                          </a:solidFill>
                        </a:defRPr>
                      </a:pPr>
                      <a:r>
                        <a:rPr sz="1600">
                          <a:latin typeface="Produkt Extralight"/>
                          <a:ea typeface="Produkt Extralight"/>
                          <a:cs typeface="Produkt Extralight"/>
                          <a:sym typeface="Produkt Extralight"/>
                        </a:rPr>
                        <a:t>Cache</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12700">
                      <a:solidFill>
                        <a:srgbClr val="000000"/>
                      </a:solidFill>
                      <a:miter lim="400000"/>
                    </a:lnB>
                    <a:solidFill>
                      <a:srgbClr val="FFFFFF"/>
                    </a:solidFill>
                  </a:tcPr>
                </a:tc>
                <a:tc>
                  <a:txBody>
                    <a:bodyPr/>
                    <a:lstStyle/>
                    <a:p>
                      <a:pPr algn="ctr" defTabSz="457200">
                        <a:defRPr b="0" sz="1800">
                          <a:solidFill>
                            <a:srgbClr val="000000"/>
                          </a:solidFill>
                        </a:defRPr>
                      </a:pPr>
                      <a:r>
                        <a:rPr sz="1600">
                          <a:latin typeface="Produkt Extralight"/>
                          <a:ea typeface="Produkt Extralight"/>
                          <a:cs typeface="Produkt Extralight"/>
                          <a:sym typeface="Produkt Extralight"/>
                        </a:rPr>
                        <a:t>High End 1996 Size</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12700">
                      <a:solidFill>
                        <a:srgbClr val="000000"/>
                      </a:solidFill>
                      <a:miter lim="400000"/>
                    </a:lnB>
                    <a:solidFill>
                      <a:srgbClr val="FFFFFF"/>
                    </a:solidFill>
                  </a:tcPr>
                </a:tc>
                <a:tc>
                  <a:txBody>
                    <a:bodyPr/>
                    <a:lstStyle/>
                    <a:p>
                      <a:pPr algn="ctr" defTabSz="457200">
                        <a:defRPr b="0" sz="1800">
                          <a:solidFill>
                            <a:srgbClr val="000000"/>
                          </a:solidFill>
                        </a:defRPr>
                      </a:pPr>
                      <a:r>
                        <a:rPr sz="1600">
                          <a:latin typeface="Produkt Extralight"/>
                          <a:ea typeface="Produkt Extralight"/>
                          <a:cs typeface="Produkt Extralight"/>
                          <a:sym typeface="Produkt Extralight"/>
                        </a:rPr>
                        <a:t>COTS 2026 Size</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12700">
                      <a:solidFill>
                        <a:srgbClr val="000000"/>
                      </a:solidFill>
                      <a:miter lim="400000"/>
                    </a:lnB>
                    <a:solidFill>
                      <a:srgbClr val="FFFFFF"/>
                    </a:solidFill>
                  </a:tcPr>
                </a:tc>
                <a:tc>
                  <a:txBody>
                    <a:bodyPr/>
                    <a:lstStyle/>
                    <a:p>
                      <a:pPr algn="ctr" defTabSz="457200">
                        <a:defRPr b="0" sz="1800">
                          <a:solidFill>
                            <a:srgbClr val="000000"/>
                          </a:solidFill>
                        </a:defRPr>
                      </a:pPr>
                      <a:r>
                        <a:rPr sz="1600">
                          <a:latin typeface="Produkt Extralight"/>
                          <a:ea typeface="Produkt Extralight"/>
                          <a:cs typeface="Produkt Extralight"/>
                          <a:sym typeface="Produkt Extralight"/>
                        </a:rPr>
                        <a:t>Improvement</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12700">
                      <a:solidFill>
                        <a:srgbClr val="000000"/>
                      </a:solidFill>
                      <a:miter lim="400000"/>
                    </a:lnB>
                    <a:solidFill>
                      <a:srgbClr val="FFFFFF"/>
                    </a:solidFill>
                  </a:tcPr>
                </a:tc>
              </a:tr>
              <a:tr h="947003">
                <a:tc>
                  <a:txBody>
                    <a:bodyPr/>
                    <a:lstStyle/>
                    <a:p>
                      <a:pPr algn="ctr" defTabSz="457200">
                        <a:defRPr b="0" sz="1800">
                          <a:solidFill>
                            <a:srgbClr val="000000"/>
                          </a:solidFill>
                        </a:defRPr>
                      </a:pPr>
                      <a:r>
                        <a:rPr sz="1600">
                          <a:latin typeface="Produkt Extralight"/>
                          <a:ea typeface="Produkt Extralight"/>
                          <a:cs typeface="Produkt Extralight"/>
                          <a:sym typeface="Produkt Extralight"/>
                        </a:rPr>
                        <a:t>L1</a:t>
                      </a:r>
                    </a:p>
                  </a:txBody>
                  <a:tcPr marL="50800" marR="50800" marT="50800" marB="50800" anchor="ctr" anchorCtr="0" horzOverflow="overflow">
                    <a:lnL w="3175">
                      <a:solidFill>
                        <a:srgbClr val="000000"/>
                      </a:solidFill>
                      <a:miter lim="400000"/>
                    </a:lnL>
                    <a:lnR w="12700">
                      <a:solidFill>
                        <a:srgbClr val="000000"/>
                      </a:solidFill>
                      <a:miter lim="400000"/>
                    </a:lnR>
                    <a:lnT w="12700">
                      <a:solidFill>
                        <a:srgbClr val="000000"/>
                      </a:solidFill>
                      <a:miter lim="400000"/>
                    </a:lnT>
                    <a:lnB w="3175">
                      <a:solidFill>
                        <a:srgbClr val="000000"/>
                      </a:solidFill>
                      <a:miter lim="400000"/>
                    </a:lnB>
                    <a:solidFill>
                      <a:srgbClr val="FFFFFF"/>
                    </a:solidFill>
                  </a:tcPr>
                </a:tc>
                <a:tc>
                  <a:txBody>
                    <a:bodyPr/>
                    <a:lstStyle/>
                    <a:p>
                      <a:pPr algn="ctr" defTabSz="457200">
                        <a:defRPr sz="1800">
                          <a:solidFill>
                            <a:srgbClr val="000000"/>
                          </a:solidFill>
                        </a:defRPr>
                      </a:pPr>
                      <a:r>
                        <a:rPr sz="1600">
                          <a:latin typeface="Produkt Extralight"/>
                          <a:ea typeface="Produkt Extralight"/>
                          <a:cs typeface="Produkt Extralight"/>
                          <a:sym typeface="Produkt Extralight"/>
                        </a:rPr>
                        <a:t>8–16 KB</a:t>
                      </a:r>
                    </a:p>
                  </a:txBody>
                  <a:tcPr marL="50800" marR="50800" marT="50800" marB="50800" anchor="ctr" anchorCtr="0" horzOverflow="overflow">
                    <a:lnL w="12700">
                      <a:solidFill>
                        <a:srgbClr val="000000"/>
                      </a:solidFill>
                      <a:miter lim="400000"/>
                    </a:lnL>
                    <a:lnR w="3175">
                      <a:solidFill>
                        <a:srgbClr val="000000"/>
                      </a:solidFill>
                      <a:miter lim="400000"/>
                    </a:lnR>
                    <a:lnT w="12700">
                      <a:solidFill>
                        <a:srgbClr val="000000"/>
                      </a:solidFill>
                      <a:miter lim="400000"/>
                    </a:lnT>
                    <a:lnB w="3175">
                      <a:solidFill>
                        <a:srgbClr val="000000"/>
                      </a:solidFill>
                      <a:miter lim="400000"/>
                    </a:lnB>
                    <a:solidFill>
                      <a:srgbClr val="FFFFFF"/>
                    </a:solidFill>
                  </a:tcPr>
                </a:tc>
                <a:tc>
                  <a:txBody>
                    <a:bodyPr/>
                    <a:lstStyle/>
                    <a:p>
                      <a:pPr algn="ctr" defTabSz="457200">
                        <a:defRPr sz="1800">
                          <a:solidFill>
                            <a:srgbClr val="000000"/>
                          </a:solidFill>
                        </a:defRPr>
                      </a:pPr>
                      <a:r>
                        <a:rPr sz="1600">
                          <a:latin typeface="Produkt Extralight"/>
                          <a:ea typeface="Produkt Extralight"/>
                          <a:cs typeface="Produkt Extralight"/>
                          <a:sym typeface="Produkt Extralight"/>
                        </a:rPr>
                        <a:t>32–64 KB</a:t>
                      </a:r>
                    </a:p>
                  </a:txBody>
                  <a:tcPr marL="50800" marR="50800" marT="50800" marB="50800" anchor="ctr" anchorCtr="0" horzOverflow="overflow">
                    <a:lnL w="3175">
                      <a:solidFill>
                        <a:srgbClr val="000000"/>
                      </a:solidFill>
                      <a:miter lim="400000"/>
                    </a:lnL>
                    <a:lnR w="3175">
                      <a:solidFill>
                        <a:srgbClr val="000000"/>
                      </a:solidFill>
                      <a:miter lim="400000"/>
                    </a:lnR>
                    <a:lnT w="12700">
                      <a:solidFill>
                        <a:srgbClr val="000000"/>
                      </a:solidFill>
                      <a:miter lim="400000"/>
                    </a:lnT>
                    <a:lnB w="3175">
                      <a:solidFill>
                        <a:srgbClr val="000000"/>
                      </a:solidFill>
                      <a:miter lim="400000"/>
                    </a:lnB>
                    <a:solidFill>
                      <a:srgbClr val="FFFFFF"/>
                    </a:solidFill>
                  </a:tcPr>
                </a:tc>
                <a:tc>
                  <a:txBody>
                    <a:bodyPr/>
                    <a:lstStyle/>
                    <a:p>
                      <a:pPr algn="ctr" defTabSz="457200">
                        <a:defRPr sz="1800">
                          <a:solidFill>
                            <a:srgbClr val="000000"/>
                          </a:solidFill>
                        </a:defRPr>
                      </a:pPr>
                      <a:r>
                        <a:rPr sz="1600">
                          <a:latin typeface="Produkt Extralight"/>
                          <a:ea typeface="Produkt Extralight"/>
                          <a:cs typeface="Produkt Extralight"/>
                          <a:sym typeface="Produkt Extralight"/>
                        </a:rPr>
                        <a:t>~4×</a:t>
                      </a:r>
                    </a:p>
                  </a:txBody>
                  <a:tcPr marL="50800" marR="50800" marT="50800" marB="50800" anchor="ctr" anchorCtr="0" horzOverflow="overflow">
                    <a:lnL w="3175">
                      <a:solidFill>
                        <a:srgbClr val="000000"/>
                      </a:solidFill>
                      <a:miter lim="400000"/>
                    </a:lnL>
                    <a:lnR w="3175">
                      <a:solidFill>
                        <a:srgbClr val="000000"/>
                      </a:solidFill>
                      <a:miter lim="400000"/>
                    </a:lnR>
                    <a:lnT w="12700">
                      <a:solidFill>
                        <a:srgbClr val="000000"/>
                      </a:solidFill>
                      <a:miter lim="400000"/>
                    </a:lnT>
                    <a:lnB w="3175">
                      <a:solidFill>
                        <a:srgbClr val="000000"/>
                      </a:solidFill>
                      <a:miter lim="400000"/>
                    </a:lnB>
                    <a:solidFill>
                      <a:srgbClr val="FFFFFF"/>
                    </a:solidFill>
                  </a:tcPr>
                </a:tc>
              </a:tr>
              <a:tr h="947003">
                <a:tc>
                  <a:txBody>
                    <a:bodyPr/>
                    <a:lstStyle/>
                    <a:p>
                      <a:pPr algn="ctr" defTabSz="457200">
                        <a:defRPr b="0" sz="1800">
                          <a:solidFill>
                            <a:srgbClr val="000000"/>
                          </a:solidFill>
                        </a:defRPr>
                      </a:pPr>
                      <a:r>
                        <a:rPr sz="1600">
                          <a:latin typeface="Produkt Extralight"/>
                          <a:ea typeface="Produkt Extralight"/>
                          <a:cs typeface="Produkt Extralight"/>
                          <a:sym typeface="Produkt Extralight"/>
                        </a:rPr>
                        <a:t>L2</a:t>
                      </a:r>
                    </a:p>
                  </a:txBody>
                  <a:tcPr marL="50800" marR="50800" marT="50800" marB="50800" anchor="ctr" anchorCtr="0" horzOverflow="overflow">
                    <a:lnL w="3175">
                      <a:solidFill>
                        <a:srgbClr val="000000"/>
                      </a:solidFill>
                      <a:miter lim="400000"/>
                    </a:lnL>
                    <a:lnR w="12700">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ctr" defTabSz="457200">
                        <a:defRPr sz="1800">
                          <a:solidFill>
                            <a:srgbClr val="000000"/>
                          </a:solidFill>
                        </a:defRPr>
                      </a:pPr>
                      <a:r>
                        <a:rPr sz="1600">
                          <a:latin typeface="Produkt Extralight"/>
                          <a:ea typeface="Produkt Extralight"/>
                          <a:cs typeface="Produkt Extralight"/>
                          <a:sym typeface="Produkt Extralight"/>
                        </a:rPr>
                        <a:t>256 KB (rare)</a:t>
                      </a:r>
                    </a:p>
                  </a:txBody>
                  <a:tcPr marL="50800" marR="50800" marT="50800" marB="50800" anchor="ctr" anchorCtr="0" horzOverflow="overflow">
                    <a:lnL w="12700">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ctr" defTabSz="457200">
                        <a:defRPr sz="1800">
                          <a:solidFill>
                            <a:srgbClr val="000000"/>
                          </a:solidFill>
                        </a:defRPr>
                      </a:pPr>
                      <a:r>
                        <a:rPr sz="1600">
                          <a:latin typeface="Produkt Extralight"/>
                          <a:ea typeface="Produkt Extralight"/>
                          <a:cs typeface="Produkt Extralight"/>
                          <a:sym typeface="Produkt Extralight"/>
                        </a:rPr>
                        <a:t>512 KB–1 MB per core</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ctr" defTabSz="457200">
                        <a:defRPr sz="1800">
                          <a:solidFill>
                            <a:srgbClr val="000000"/>
                          </a:solidFill>
                        </a:defRPr>
                      </a:pPr>
                      <a:r>
                        <a:rPr sz="1600">
                          <a:latin typeface="Produkt Extralight"/>
                          <a:ea typeface="Produkt Extralight"/>
                          <a:cs typeface="Produkt Extralight"/>
                          <a:sym typeface="Produkt Extralight"/>
                        </a:rPr>
                        <a:t>~4–8×</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r>
              <a:tr h="947003">
                <a:tc>
                  <a:txBody>
                    <a:bodyPr/>
                    <a:lstStyle/>
                    <a:p>
                      <a:pPr algn="ctr" defTabSz="457200">
                        <a:defRPr b="0" sz="1800">
                          <a:solidFill>
                            <a:srgbClr val="000000"/>
                          </a:solidFill>
                        </a:defRPr>
                      </a:pPr>
                      <a:r>
                        <a:rPr sz="1600">
                          <a:latin typeface="Produkt Extralight"/>
                          <a:ea typeface="Produkt Extralight"/>
                          <a:cs typeface="Produkt Extralight"/>
                          <a:sym typeface="Produkt Extralight"/>
                        </a:rPr>
                        <a:t>L3</a:t>
                      </a:r>
                    </a:p>
                  </a:txBody>
                  <a:tcPr marL="50800" marR="50800" marT="50800" marB="50800" anchor="ctr" anchorCtr="0" horzOverflow="overflow">
                    <a:lnL w="3175">
                      <a:solidFill>
                        <a:srgbClr val="000000"/>
                      </a:solidFill>
                      <a:miter lim="400000"/>
                    </a:lnL>
                    <a:lnR w="12700">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ctr" defTabSz="457200">
                        <a:defRPr sz="1800">
                          <a:solidFill>
                            <a:srgbClr val="000000"/>
                          </a:solidFill>
                        </a:defRPr>
                      </a:pPr>
                      <a:r>
                        <a:rPr sz="1600">
                          <a:latin typeface="Produkt Extralight"/>
                          <a:ea typeface="Produkt Extralight"/>
                          <a:cs typeface="Produkt Extralight"/>
                          <a:sym typeface="Produkt Extralight"/>
                        </a:rPr>
                        <a:t>Nonexistent/tiny</a:t>
                      </a:r>
                    </a:p>
                  </a:txBody>
                  <a:tcPr marL="50800" marR="50800" marT="50800" marB="50800" anchor="ctr" anchorCtr="0" horzOverflow="overflow">
                    <a:lnL w="12700">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ctr" defTabSz="457200">
                        <a:defRPr sz="1800">
                          <a:solidFill>
                            <a:srgbClr val="000000"/>
                          </a:solidFill>
                        </a:defRPr>
                      </a:pPr>
                      <a:r>
                        <a:rPr sz="1600">
                          <a:latin typeface="Produkt Extralight"/>
                          <a:ea typeface="Produkt Extralight"/>
                          <a:cs typeface="Produkt Extralight"/>
                          <a:sym typeface="Produkt Extralight"/>
                        </a:rPr>
                        <a:t>64–256 MB (Threadripper)</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ctr" defTabSz="457200">
                        <a:defRPr sz="1800">
                          <a:solidFill>
                            <a:srgbClr val="000000"/>
                          </a:solidFill>
                        </a:defRPr>
                      </a:pPr>
                      <a:r>
                        <a:rPr sz="1600">
                          <a:latin typeface="Produkt Extralight"/>
                          <a:ea typeface="Produkt Extralight"/>
                          <a:cs typeface="Produkt Extralight"/>
                          <a:sym typeface="Produkt Extralight"/>
                        </a:rPr>
                        <a:t>∞ → huge</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r>
              <a:tr h="947003">
                <a:tc>
                  <a:txBody>
                    <a:bodyPr/>
                    <a:lstStyle/>
                    <a:p>
                      <a:pPr algn="ctr" defTabSz="457200">
                        <a:defRPr b="0" sz="1800">
                          <a:solidFill>
                            <a:srgbClr val="000000"/>
                          </a:solidFill>
                        </a:defRPr>
                      </a:pPr>
                      <a:r>
                        <a:rPr sz="1600">
                          <a:latin typeface="Produkt Extralight"/>
                          <a:ea typeface="Produkt Extralight"/>
                          <a:cs typeface="Produkt Extralight"/>
                          <a:sym typeface="Produkt Extralight"/>
                        </a:rPr>
                        <a:t>RAM</a:t>
                      </a:r>
                    </a:p>
                  </a:txBody>
                  <a:tcPr marL="50800" marR="50800" marT="50800" marB="50800" anchor="ctr" anchorCtr="0" horzOverflow="overflow">
                    <a:lnL w="3175">
                      <a:solidFill>
                        <a:srgbClr val="000000"/>
                      </a:solidFill>
                      <a:miter lim="400000"/>
                    </a:lnL>
                    <a:lnR w="12700">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ctr" defTabSz="457200">
                        <a:defRPr sz="1800">
                          <a:solidFill>
                            <a:srgbClr val="000000"/>
                          </a:solidFill>
                        </a:defRPr>
                      </a:pPr>
                      <a:r>
                        <a:rPr sz="1600">
                          <a:latin typeface="Produkt Extralight"/>
                          <a:ea typeface="Produkt Extralight"/>
                          <a:cs typeface="Produkt Extralight"/>
                          <a:sym typeface="Produkt Extralight"/>
                        </a:rPr>
                        <a:t>256MB–4GB</a:t>
                      </a:r>
                    </a:p>
                  </a:txBody>
                  <a:tcPr marL="50800" marR="50800" marT="50800" marB="50800" anchor="ctr" anchorCtr="0" horzOverflow="overflow">
                    <a:lnL w="12700">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ctr" defTabSz="457200">
                        <a:defRPr sz="1800">
                          <a:solidFill>
                            <a:srgbClr val="000000"/>
                          </a:solidFill>
                        </a:defRPr>
                      </a:pPr>
                      <a:r>
                        <a:rPr sz="1600">
                          <a:latin typeface="Produkt Extralight"/>
                          <a:ea typeface="Produkt Extralight"/>
                          <a:cs typeface="Produkt Extralight"/>
                          <a:sym typeface="Produkt Extralight"/>
                        </a:rPr>
                        <a:t>128GB–2TB</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ctr" defTabSz="457200">
                        <a:defRPr sz="1800">
                          <a:solidFill>
                            <a:srgbClr val="000000"/>
                          </a:solidFill>
                        </a:defRPr>
                      </a:pPr>
                      <a:r>
                        <a:rPr sz="1600">
                          <a:latin typeface="Produkt Extralight"/>
                          <a:ea typeface="Produkt Extralight"/>
                          <a:cs typeface="Produkt Extralight"/>
                          <a:sym typeface="Produkt Extralight"/>
                        </a:rPr>
                        <a:t>~500×</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7" name="Text"/>
          <p:cNvSpPr txBox="1"/>
          <p:nvPr/>
        </p:nvSpPr>
        <p:spPr>
          <a:xfrm>
            <a:off x="542539" y="1918984"/>
            <a:ext cx="538939" cy="383541"/>
          </a:xfrm>
          <a:prstGeom prst="rect">
            <a:avLst/>
          </a:prstGeom>
          <a:ln w="12700">
            <a:miter lim="400000"/>
          </a:ln>
        </p:spPr>
        <p:txBody>
          <a:bodyPr wrap="none" lIns="45719" rIns="45719">
            <a:spAutoFit/>
          </a:bodyPr>
          <a:lstStyle/>
          <a:p>
            <a:pPr/>
          </a:p>
        </p:txBody>
      </p:sp>
      <p:pic>
        <p:nvPicPr>
          <p:cNvPr id="268" name="corequarry-textual-graphs.png" descr="corequarry-textual-graphs.png"/>
          <p:cNvPicPr>
            <a:picLocks noChangeAspect="1"/>
          </p:cNvPicPr>
          <p:nvPr/>
        </p:nvPicPr>
        <p:blipFill>
          <a:blip r:embed="rId2">
            <a:extLst/>
          </a:blip>
          <a:stretch>
            <a:fillRect/>
          </a:stretch>
        </p:blipFill>
        <p:spPr>
          <a:xfrm>
            <a:off x="0" y="0"/>
            <a:ext cx="12192000" cy="6858000"/>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70" name="corequarry-datatype-sidecars.png" descr="corequarry-datatype-sidecars.png"/>
          <p:cNvPicPr>
            <a:picLocks noChangeAspect="1"/>
          </p:cNvPicPr>
          <p:nvPr/>
        </p:nvPicPr>
        <p:blipFill>
          <a:blip r:embed="rId2">
            <a:extLst/>
          </a:blip>
          <a:stretch>
            <a:fillRect/>
          </a:stretch>
        </p:blipFill>
        <p:spPr>
          <a:xfrm>
            <a:off x="0" y="0"/>
            <a:ext cx="12192000" cy="6858000"/>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750">
        <p:pull dir="l"/>
      </p:transition>
    </mc:Choice>
    <mc:Fallback>
      <p:transition spd="fast">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pic>
        <p:nvPicPr>
          <p:cNvPr id="272" name="Image" descr="Image"/>
          <p:cNvPicPr>
            <a:picLocks noChangeAspect="1"/>
          </p:cNvPicPr>
          <p:nvPr/>
        </p:nvPicPr>
        <p:blipFill>
          <a:blip r:embed="rId2">
            <a:extLst/>
          </a:blip>
          <a:stretch>
            <a:fillRect/>
          </a:stretch>
        </p:blipFill>
        <p:spPr>
          <a:xfrm>
            <a:off x="1219200" y="177800"/>
            <a:ext cx="9753600" cy="6502400"/>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750">
        <p:pull dir="l"/>
      </p:transition>
    </mc:Choice>
    <mc:Fallback>
      <p:transition spd="fast">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4" name="Text 0"/>
          <p:cNvSpPr txBox="1"/>
          <p:nvPr/>
        </p:nvSpPr>
        <p:spPr>
          <a:xfrm>
            <a:off x="812799" y="7112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DEMO · SHAKESPEARE</a:t>
            </a:r>
          </a:p>
        </p:txBody>
      </p:sp>
      <p:sp>
        <p:nvSpPr>
          <p:cNvPr id="275" name="Text 1"/>
          <p:cNvSpPr txBox="1"/>
          <p:nvPr>
            <p:ph type="title"/>
          </p:nvPr>
        </p:nvSpPr>
        <p:spPr>
          <a:xfrm>
            <a:off x="812799" y="1193361"/>
            <a:ext cx="10203182" cy="976767"/>
          </a:xfrm>
          <a:prstGeom prst="rect">
            <a:avLst/>
          </a:prstGeom>
        </p:spPr>
        <p:txBody>
          <a:bodyPr/>
          <a:lstStyle>
            <a:lvl1pPr>
              <a:lnSpc>
                <a:spcPts val="5400"/>
              </a:lnSpc>
              <a:defRPr sz="4300"/>
            </a:lvl1pPr>
          </a:lstStyle>
          <a:p>
            <a:pPr/>
            <a:r>
              <a:t>Stopwords are words. Search the phrase.</a:t>
            </a:r>
          </a:p>
        </p:txBody>
      </p:sp>
      <p:sp>
        <p:nvSpPr>
          <p:cNvPr id="276" name="Shape 2"/>
          <p:cNvSpPr/>
          <p:nvPr/>
        </p:nvSpPr>
        <p:spPr>
          <a:xfrm>
            <a:off x="819150" y="2098372"/>
            <a:ext cx="10553700" cy="2950240"/>
          </a:xfrm>
          <a:prstGeom prst="roundRect">
            <a:avLst>
              <a:gd name="adj" fmla="val 2368"/>
            </a:avLst>
          </a:prstGeom>
          <a:solidFill>
            <a:srgbClr val="0D1015"/>
          </a:solidFill>
          <a:ln w="12700">
            <a:solidFill>
              <a:schemeClr val="accent4"/>
            </a:solidFill>
          </a:ln>
        </p:spPr>
        <p:txBody>
          <a:bodyPr lIns="45719" rIns="45719"/>
          <a:lstStyle/>
          <a:p>
            <a:pPr>
              <a:defRPr>
                <a:solidFill>
                  <a:srgbClr val="ECE8DD"/>
                </a:solidFill>
              </a:defRPr>
            </a:pPr>
          </a:p>
        </p:txBody>
      </p:sp>
      <p:sp>
        <p:nvSpPr>
          <p:cNvPr id="277" name="Text 3"/>
          <p:cNvSpPr txBox="1"/>
          <p:nvPr/>
        </p:nvSpPr>
        <p:spPr>
          <a:xfrm>
            <a:off x="1113662" y="2377998"/>
            <a:ext cx="10281668" cy="38735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800"/>
              </a:lnSpc>
              <a:defRPr sz="1500">
                <a:solidFill>
                  <a:schemeClr val="accent3"/>
                </a:solidFill>
                <a:latin typeface="JetBrains Mono"/>
                <a:ea typeface="JetBrains Mono"/>
                <a:cs typeface="JetBrains Mono"/>
                <a:sym typeface="JetBrains Mono"/>
              </a:defRPr>
            </a:lvl1pPr>
          </a:lstStyle>
          <a:p>
            <a:pPr/>
            <a:r>
              <a:t>$ Isearch -d SHAKESPEARE -show “to be or not to be"</a:t>
            </a:r>
          </a:p>
        </p:txBody>
      </p:sp>
      <p:sp>
        <p:nvSpPr>
          <p:cNvPr id="278" name="Text 4"/>
          <p:cNvSpPr txBox="1"/>
          <p:nvPr/>
        </p:nvSpPr>
        <p:spPr>
          <a:xfrm>
            <a:off x="1104899" y="2973219"/>
            <a:ext cx="10281668" cy="194788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defTabSz="786384">
              <a:lnSpc>
                <a:spcPts val="2400"/>
              </a:lnSpc>
              <a:defRPr sz="1634">
                <a:solidFill>
                  <a:srgbClr val="ECE8DD"/>
                </a:solidFill>
                <a:latin typeface="JetBrains Mono"/>
                <a:ea typeface="JetBrains Mono"/>
                <a:cs typeface="JetBrains Mono"/>
                <a:sym typeface="JetBrains Mono"/>
              </a:defRPr>
            </a:pPr>
            <a:r>
              <a:t>Query: "to be or not to be"</a:t>
            </a:r>
          </a:p>
          <a:p>
            <a:pPr>
              <a:tabLst>
                <a:tab pos="304800" algn="l"/>
                <a:tab pos="609600" algn="l"/>
                <a:tab pos="914400" algn="l"/>
                <a:tab pos="1219200" algn="l"/>
                <a:tab pos="1524000" algn="l"/>
                <a:tab pos="1828800" algn="l"/>
                <a:tab pos="2133600" algn="l"/>
                <a:tab pos="2438400" algn="l"/>
                <a:tab pos="2743200" algn="l"/>
                <a:tab pos="3048000" algn="l"/>
                <a:tab pos="3352800" algn="l"/>
                <a:tab pos="3657600" algn="l"/>
              </a:tabLst>
              <a:defRPr sz="1548">
                <a:solidFill>
                  <a:srgbClr val="000000"/>
                </a:solidFill>
                <a:latin typeface="Menlo Regular"/>
                <a:ea typeface="Menlo Regular"/>
                <a:cs typeface="Menlo Regular"/>
                <a:sym typeface="Menlo Regular"/>
              </a:defRPr>
            </a:pPr>
          </a:p>
          <a:p>
            <a:pPr>
              <a:tabLst>
                <a:tab pos="304800" algn="l"/>
                <a:tab pos="609600" algn="l"/>
                <a:tab pos="914400" algn="l"/>
                <a:tab pos="1219200" algn="l"/>
                <a:tab pos="1524000" algn="l"/>
                <a:tab pos="1828800" algn="l"/>
                <a:tab pos="2133600" algn="l"/>
                <a:tab pos="2438400" algn="l"/>
                <a:tab pos="2743200" algn="l"/>
                <a:tab pos="3048000" algn="l"/>
                <a:tab pos="3352800" algn="l"/>
                <a:tab pos="3657600" algn="l"/>
              </a:tabLst>
              <a:defRPr sz="1548">
                <a:solidFill>
                  <a:srgbClr val="FFFFFF"/>
                </a:solidFill>
                <a:latin typeface="Menlo Regular"/>
                <a:ea typeface="Menlo Regular"/>
                <a:cs typeface="Menlo Regular"/>
                <a:sym typeface="Menlo Regular"/>
              </a:defRPr>
            </a:pPr>
            <a:r>
              <a:t>1 record of 37 matched your query, 1 record displayed.</a:t>
            </a:r>
          </a:p>
          <a:p>
            <a:pPr>
              <a:tabLst>
                <a:tab pos="304800" algn="l"/>
                <a:tab pos="609600" algn="l"/>
                <a:tab pos="914400" algn="l"/>
                <a:tab pos="1219200" algn="l"/>
                <a:tab pos="1524000" algn="l"/>
                <a:tab pos="1828800" algn="l"/>
                <a:tab pos="2133600" algn="l"/>
                <a:tab pos="2438400" algn="l"/>
                <a:tab pos="2743200" algn="l"/>
                <a:tab pos="3048000" algn="l"/>
                <a:tab pos="3352800" algn="l"/>
                <a:tab pos="3657600" algn="l"/>
              </a:tabLst>
              <a:defRPr sz="1548">
                <a:solidFill>
                  <a:srgbClr val="000000"/>
                </a:solidFill>
                <a:latin typeface="Menlo Regular"/>
                <a:ea typeface="Menlo Regular"/>
                <a:cs typeface="Menlo Regular"/>
                <a:sym typeface="Menlo Regular"/>
              </a:defRPr>
            </a:pPr>
          </a:p>
          <a:p>
            <a:pPr>
              <a:tabLst>
                <a:tab pos="304800" algn="l"/>
                <a:tab pos="609600" algn="l"/>
                <a:tab pos="914400" algn="l"/>
                <a:tab pos="1219200" algn="l"/>
                <a:tab pos="1524000" algn="l"/>
                <a:tab pos="1828800" algn="l"/>
                <a:tab pos="2133600" algn="l"/>
                <a:tab pos="2438400" algn="l"/>
                <a:tab pos="2743200" algn="l"/>
                <a:tab pos="3048000" algn="l"/>
                <a:tab pos="3352800" algn="l"/>
                <a:tab pos="3657600" algn="l"/>
              </a:tabLst>
              <a:defRPr sz="1548">
                <a:solidFill>
                  <a:srgbClr val="FFFFFF"/>
                </a:solidFill>
                <a:latin typeface="Menlo Regular"/>
                <a:ea typeface="Menlo Regular"/>
                <a:cs typeface="Menlo Regular"/>
                <a:sym typeface="Menlo Regular"/>
              </a:defRPr>
            </a:pPr>
            <a:r>
              <a:t>       Score  File</a:t>
            </a:r>
          </a:p>
          <a:p>
            <a:pPr>
              <a:tabLst>
                <a:tab pos="304800" algn="l"/>
                <a:tab pos="609600" algn="l"/>
                <a:tab pos="914400" algn="l"/>
                <a:tab pos="1219200" algn="l"/>
                <a:tab pos="1524000" algn="l"/>
                <a:tab pos="1828800" algn="l"/>
                <a:tab pos="2133600" algn="l"/>
                <a:tab pos="2438400" algn="l"/>
                <a:tab pos="2743200" algn="l"/>
                <a:tab pos="3048000" algn="l"/>
                <a:tab pos="3352800" algn="l"/>
                <a:tab pos="3657600" algn="l"/>
              </a:tabLst>
              <a:defRPr sz="1548">
                <a:solidFill>
                  <a:srgbClr val="FFFFFF"/>
                </a:solidFill>
                <a:latin typeface="Menlo Regular"/>
                <a:ea typeface="Menlo Regular"/>
                <a:cs typeface="Menlo Regular"/>
                <a:sym typeface="Menlo Regular"/>
              </a:defRPr>
            </a:pPr>
            <a:r>
              <a:t>   1.   100  /Volumes/Celeritas/CoreQuarry/ib/data/shakespeare.xml</a:t>
            </a:r>
          </a:p>
          <a:p>
            <a:pPr>
              <a:tabLst>
                <a:tab pos="304800" algn="l"/>
                <a:tab pos="609600" algn="l"/>
                <a:tab pos="914400" algn="l"/>
                <a:tab pos="1219200" algn="l"/>
                <a:tab pos="1524000" algn="l"/>
                <a:tab pos="1828800" algn="l"/>
                <a:tab pos="2133600" algn="l"/>
                <a:tab pos="2438400" algn="l"/>
                <a:tab pos="2743200" algn="l"/>
                <a:tab pos="3048000" algn="l"/>
                <a:tab pos="3352800" algn="l"/>
                <a:tab pos="3657600" algn="l"/>
              </a:tabLst>
              <a:defRPr sz="1548">
                <a:solidFill>
                  <a:srgbClr val="FFFFFF"/>
                </a:solidFill>
                <a:latin typeface="Menlo Regular"/>
                <a:ea typeface="Menlo Regular"/>
                <a:cs typeface="Menlo Regular"/>
                <a:sym typeface="Menlo Regular"/>
              </a:defRPr>
            </a:pPr>
            <a:r>
              <a:t>`The Tragedy of Hamlet, Prince of Denmark’</a:t>
            </a:r>
          </a:p>
          <a:p>
            <a:pPr>
              <a:tabLst>
                <a:tab pos="304800" algn="l"/>
                <a:tab pos="609600" algn="l"/>
                <a:tab pos="914400" algn="l"/>
                <a:tab pos="1219200" algn="l"/>
                <a:tab pos="1524000" algn="l"/>
                <a:tab pos="1828800" algn="l"/>
                <a:tab pos="2133600" algn="l"/>
                <a:tab pos="2438400" algn="l"/>
                <a:tab pos="2743200" algn="l"/>
                <a:tab pos="3048000" algn="l"/>
                <a:tab pos="3352800" algn="l"/>
                <a:tab pos="3657600" algn="l"/>
              </a:tabLst>
              <a:defRPr i="1" sz="1548">
                <a:solidFill>
                  <a:srgbClr val="FFFFFF"/>
                </a:solidFill>
                <a:latin typeface="Menlo Regular"/>
                <a:ea typeface="Menlo Regular"/>
                <a:cs typeface="Menlo Regular"/>
                <a:sym typeface="Menlo Regular"/>
              </a:defRPr>
            </a:pPr>
            <a:r>
              <a:rPr i="0"/>
              <a:t>Evidence: [</a:t>
            </a:r>
            <a:r>
              <a:t>PLAY\ACT\SCENE\SPEECH\LINE</a:t>
            </a:r>
            <a:r>
              <a:rPr i="0"/>
              <a:t>] </a:t>
            </a:r>
            <a:r>
              <a:rPr b="1" i="0"/>
              <a:t>To be, or not to be</a:t>
            </a:r>
            <a:r>
              <a:rPr i="0"/>
              <a:t>: that is the question:</a:t>
            </a:r>
          </a:p>
        </p:txBody>
      </p:sp>
      <p:sp>
        <p:nvSpPr>
          <p:cNvPr id="279" name="Text 5"/>
          <p:cNvSpPr txBox="1"/>
          <p:nvPr/>
        </p:nvSpPr>
        <p:spPr>
          <a:xfrm>
            <a:off x="799925" y="4970916"/>
            <a:ext cx="2448571" cy="8788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6700"/>
              </a:lnSpc>
              <a:defRPr sz="3600">
                <a:solidFill>
                  <a:schemeClr val="accent1"/>
                </a:solidFill>
                <a:latin typeface="JetBrains Mono"/>
                <a:ea typeface="JetBrains Mono"/>
                <a:cs typeface="JetBrains Mono"/>
                <a:sym typeface="JetBrains Mono"/>
              </a:defRPr>
            </a:lvl1pPr>
          </a:lstStyle>
          <a:p>
            <a:pPr/>
            <a:r>
              <a:t>~10 ms</a:t>
            </a:r>
          </a:p>
        </p:txBody>
      </p:sp>
      <p:sp>
        <p:nvSpPr>
          <p:cNvPr id="280" name="Text 6"/>
          <p:cNvSpPr txBox="1"/>
          <p:nvPr/>
        </p:nvSpPr>
        <p:spPr>
          <a:xfrm>
            <a:off x="3737720" y="5355091"/>
            <a:ext cx="6011288"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600"/>
              </a:lnSpc>
              <a:defRPr sz="2000">
                <a:solidFill>
                  <a:schemeClr val="accent2"/>
                </a:solidFill>
              </a:defRPr>
            </a:lvl1pPr>
          </a:lstStyle>
          <a:p>
            <a:pPr/>
            <a:r>
              <a:t>every word of it a stopword somewhere else</a:t>
            </a:r>
          </a:p>
        </p:txBody>
      </p:sp>
      <p:sp>
        <p:nvSpPr>
          <p:cNvPr id="281" name="Text 7"/>
          <p:cNvSpPr txBox="1"/>
          <p:nvPr/>
        </p:nvSpPr>
        <p:spPr>
          <a:xfrm>
            <a:off x="774176" y="6010821"/>
            <a:ext cx="9810751" cy="3225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300"/>
              </a:lnSpc>
              <a:defRPr>
                <a:solidFill>
                  <a:srgbClr val="ECE8DD"/>
                </a:solidFill>
              </a:defRPr>
            </a:lvl1pPr>
          </a:lstStyle>
          <a:p>
            <a:pPr/>
            <a:r>
              <a:t>The index is 22,945 entries and about 0.67 MB.</a:t>
            </a:r>
          </a:p>
        </p:txBody>
      </p:sp>
    </p:spTree>
  </p:cSld>
  <p:clrMapOvr>
    <a:masterClrMapping/>
  </p:clrMapOvr>
  <mc:AlternateContent xmlns:mc="http://schemas.openxmlformats.org/markup-compatibility/2006">
    <mc:Choice xmlns:p14="http://schemas.microsoft.com/office/powerpoint/2010/main" Requires="p14">
      <p:transition spd="fast" advClick="1" p14:dur="500">
        <p:pull dir="l"/>
      </p:transition>
    </mc:Choice>
    <mc:Fallback>
      <p:transition spd="fast">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5" name="Text 0"/>
          <p:cNvSpPr txBox="1"/>
          <p:nvPr/>
        </p:nvSpPr>
        <p:spPr>
          <a:xfrm>
            <a:off x="812799" y="7112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DEMO · WIKIPEDIA (a 2 million record ES Bulk Dump)</a:t>
            </a:r>
          </a:p>
        </p:txBody>
      </p:sp>
      <p:sp>
        <p:nvSpPr>
          <p:cNvPr id="286" name="Text 1"/>
          <p:cNvSpPr txBox="1"/>
          <p:nvPr>
            <p:ph type="title"/>
          </p:nvPr>
        </p:nvSpPr>
        <p:spPr>
          <a:xfrm>
            <a:off x="812799" y="1193361"/>
            <a:ext cx="10203182" cy="976767"/>
          </a:xfrm>
          <a:prstGeom prst="rect">
            <a:avLst/>
          </a:prstGeom>
        </p:spPr>
        <p:txBody>
          <a:bodyPr/>
          <a:lstStyle>
            <a:lvl1pPr>
              <a:lnSpc>
                <a:spcPts val="5400"/>
              </a:lnSpc>
              <a:defRPr sz="4300"/>
            </a:lvl1pPr>
          </a:lstStyle>
          <a:p>
            <a:pPr/>
            <a:r>
              <a:t>Phrase search</a:t>
            </a:r>
          </a:p>
        </p:txBody>
      </p:sp>
      <p:sp>
        <p:nvSpPr>
          <p:cNvPr id="287" name="Shape 2"/>
          <p:cNvSpPr/>
          <p:nvPr/>
        </p:nvSpPr>
        <p:spPr>
          <a:xfrm>
            <a:off x="819150" y="1947699"/>
            <a:ext cx="10553700" cy="4499374"/>
          </a:xfrm>
          <a:prstGeom prst="roundRect">
            <a:avLst>
              <a:gd name="adj" fmla="val 1552"/>
            </a:avLst>
          </a:prstGeom>
          <a:solidFill>
            <a:srgbClr val="0D1015"/>
          </a:solidFill>
          <a:ln w="12700">
            <a:solidFill>
              <a:schemeClr val="accent4"/>
            </a:solidFill>
          </a:ln>
        </p:spPr>
        <p:txBody>
          <a:bodyPr lIns="45719" rIns="45719"/>
          <a:lstStyle/>
          <a:p>
            <a:pPr>
              <a:defRPr>
                <a:solidFill>
                  <a:srgbClr val="ECE8DD"/>
                </a:solidFill>
              </a:defRPr>
            </a:pPr>
          </a:p>
        </p:txBody>
      </p:sp>
      <p:sp>
        <p:nvSpPr>
          <p:cNvPr id="288" name="Text 3"/>
          <p:cNvSpPr txBox="1"/>
          <p:nvPr/>
        </p:nvSpPr>
        <p:spPr>
          <a:xfrm>
            <a:off x="1113662" y="2151879"/>
            <a:ext cx="10281668" cy="38735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800"/>
              </a:lnSpc>
              <a:defRPr sz="1500">
                <a:solidFill>
                  <a:schemeClr val="accent3"/>
                </a:solidFill>
                <a:latin typeface="JetBrains Mono"/>
                <a:ea typeface="JetBrains Mono"/>
                <a:cs typeface="JetBrains Mono"/>
                <a:sym typeface="JetBrains Mono"/>
              </a:defRPr>
            </a:lvl1pPr>
          </a:lstStyle>
          <a:p>
            <a:pPr/>
            <a:r>
              <a:t>$/Isearch -d /Volumes/D50/indexes/WIKI_ALL -show is an error</a:t>
            </a:r>
          </a:p>
        </p:txBody>
      </p:sp>
      <p:sp>
        <p:nvSpPr>
          <p:cNvPr id="289" name="Text 4"/>
          <p:cNvSpPr txBox="1"/>
          <p:nvPr/>
        </p:nvSpPr>
        <p:spPr>
          <a:xfrm>
            <a:off x="1104899" y="2604117"/>
            <a:ext cx="10281668" cy="367538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tabLst>
                <a:tab pos="304800" algn="l"/>
                <a:tab pos="609600" algn="l"/>
                <a:tab pos="914400" algn="l"/>
                <a:tab pos="1219200" algn="l"/>
                <a:tab pos="1524000" algn="l"/>
                <a:tab pos="1828800" algn="l"/>
                <a:tab pos="2133600" algn="l"/>
                <a:tab pos="2438400" algn="l"/>
                <a:tab pos="2743200" algn="l"/>
                <a:tab pos="3048000" algn="l"/>
                <a:tab pos="3352800" algn="l"/>
                <a:tab pos="3657600" algn="l"/>
              </a:tabLst>
              <a:defRPr sz="1548">
                <a:solidFill>
                  <a:srgbClr val="FFFFFF"/>
                </a:solidFill>
                <a:latin typeface="Menlo Regular"/>
                <a:ea typeface="Menlo Regular"/>
                <a:cs typeface="Menlo Regular"/>
                <a:sym typeface="Menlo Regular"/>
              </a:defRPr>
            </a:pPr>
            <a:r>
              <a:t>Isearch [Info]: Phrase "is an error" uses all common words (131340 &gt; 10000 : 500000) [0]. Using alternative search heuristic: "is" "an" #&lt; "error" #&lt;</a:t>
            </a:r>
          </a:p>
          <a:p>
            <a:pPr>
              <a:tabLst>
                <a:tab pos="304800" algn="l"/>
                <a:tab pos="609600" algn="l"/>
                <a:tab pos="914400" algn="l"/>
                <a:tab pos="1219200" algn="l"/>
                <a:tab pos="1524000" algn="l"/>
                <a:tab pos="1828800" algn="l"/>
                <a:tab pos="2133600" algn="l"/>
                <a:tab pos="2438400" algn="l"/>
                <a:tab pos="2743200" algn="l"/>
                <a:tab pos="3048000" algn="l"/>
                <a:tab pos="3352800" algn="l"/>
                <a:tab pos="3657600" algn="l"/>
              </a:tabLst>
              <a:defRPr sz="1548">
                <a:solidFill>
                  <a:srgbClr val="FFFFFF"/>
                </a:solidFill>
                <a:latin typeface="Menlo Regular"/>
                <a:ea typeface="Menlo Regular"/>
                <a:cs typeface="Menlo Regular"/>
                <a:sym typeface="Menlo Regular"/>
              </a:defRPr>
            </a:pPr>
            <a:r>
              <a:t>CPU Process time: 469 ms. (3) Search: 466 ms.</a:t>
            </a:r>
          </a:p>
          <a:p>
            <a:pPr>
              <a:tabLst>
                <a:tab pos="304800" algn="l"/>
                <a:tab pos="609600" algn="l"/>
                <a:tab pos="914400" algn="l"/>
                <a:tab pos="1219200" algn="l"/>
                <a:tab pos="1524000" algn="l"/>
                <a:tab pos="1828800" algn="l"/>
                <a:tab pos="2133600" algn="l"/>
                <a:tab pos="2438400" algn="l"/>
                <a:tab pos="2743200" algn="l"/>
                <a:tab pos="3048000" algn="l"/>
                <a:tab pos="3352800" algn="l"/>
                <a:tab pos="3657600" algn="l"/>
              </a:tabLst>
              <a:defRPr sz="1548">
                <a:solidFill>
                  <a:srgbClr val="FFFFFF"/>
                </a:solidFill>
                <a:latin typeface="Menlo Regular"/>
                <a:ea typeface="Menlo Regular"/>
                <a:cs typeface="Menlo Regular"/>
                <a:sym typeface="Menlo Regular"/>
              </a:defRPr>
            </a:pPr>
            <a:r>
              <a:t>Query: "is an error"</a:t>
            </a:r>
          </a:p>
          <a:p>
            <a:pPr>
              <a:tabLst>
                <a:tab pos="304800" algn="l"/>
                <a:tab pos="609600" algn="l"/>
                <a:tab pos="914400" algn="l"/>
                <a:tab pos="1219200" algn="l"/>
                <a:tab pos="1524000" algn="l"/>
                <a:tab pos="1828800" algn="l"/>
                <a:tab pos="2133600" algn="l"/>
                <a:tab pos="2438400" algn="l"/>
                <a:tab pos="2743200" algn="l"/>
                <a:tab pos="3048000" algn="l"/>
                <a:tab pos="3352800" algn="l"/>
                <a:tab pos="3657600" algn="l"/>
              </a:tabLst>
              <a:defRPr sz="1548">
                <a:solidFill>
                  <a:srgbClr val="FFFFFF"/>
                </a:solidFill>
                <a:latin typeface="Menlo Regular"/>
                <a:ea typeface="Menlo Regular"/>
                <a:cs typeface="Menlo Regular"/>
                <a:sym typeface="Menlo Regular"/>
              </a:defRPr>
            </a:pPr>
          </a:p>
          <a:p>
            <a:pPr>
              <a:tabLst>
                <a:tab pos="304800" algn="l"/>
                <a:tab pos="609600" algn="l"/>
                <a:tab pos="914400" algn="l"/>
                <a:tab pos="1219200" algn="l"/>
                <a:tab pos="1524000" algn="l"/>
                <a:tab pos="1828800" algn="l"/>
                <a:tab pos="2133600" algn="l"/>
                <a:tab pos="2438400" algn="l"/>
                <a:tab pos="2743200" algn="l"/>
                <a:tab pos="3048000" algn="l"/>
                <a:tab pos="3352800" algn="l"/>
                <a:tab pos="3657600" algn="l"/>
              </a:tabLst>
              <a:defRPr sz="1548">
                <a:solidFill>
                  <a:srgbClr val="FFFFFF"/>
                </a:solidFill>
                <a:latin typeface="Menlo Regular"/>
                <a:ea typeface="Menlo Regular"/>
                <a:cs typeface="Menlo Regular"/>
                <a:sym typeface="Menlo Regular"/>
              </a:defRPr>
            </a:pPr>
            <a:r>
              <a:t>290 records of 2065536 matched your query, 290 records displayed.</a:t>
            </a:r>
          </a:p>
          <a:p>
            <a:pPr>
              <a:tabLst>
                <a:tab pos="304800" algn="l"/>
                <a:tab pos="609600" algn="l"/>
                <a:tab pos="914400" algn="l"/>
                <a:tab pos="1219200" algn="l"/>
                <a:tab pos="1524000" algn="l"/>
                <a:tab pos="1828800" algn="l"/>
                <a:tab pos="2133600" algn="l"/>
                <a:tab pos="2438400" algn="l"/>
                <a:tab pos="2743200" algn="l"/>
                <a:tab pos="3048000" algn="l"/>
                <a:tab pos="3352800" algn="l"/>
                <a:tab pos="3657600" algn="l"/>
              </a:tabLst>
              <a:defRPr sz="1548">
                <a:solidFill>
                  <a:srgbClr val="FFFFFF"/>
                </a:solidFill>
                <a:latin typeface="Menlo Regular"/>
                <a:ea typeface="Menlo Regular"/>
                <a:cs typeface="Menlo Regular"/>
                <a:sym typeface="Menlo Regular"/>
              </a:defRPr>
            </a:pPr>
          </a:p>
          <a:p>
            <a:pPr>
              <a:tabLst>
                <a:tab pos="304800" algn="l"/>
                <a:tab pos="609600" algn="l"/>
                <a:tab pos="914400" algn="l"/>
                <a:tab pos="1219200" algn="l"/>
                <a:tab pos="1524000" algn="l"/>
                <a:tab pos="1828800" algn="l"/>
                <a:tab pos="2133600" algn="l"/>
                <a:tab pos="2438400" algn="l"/>
                <a:tab pos="2743200" algn="l"/>
                <a:tab pos="3048000" algn="l"/>
                <a:tab pos="3352800" algn="l"/>
                <a:tab pos="3657600" algn="l"/>
              </a:tabLst>
              <a:defRPr sz="1548">
                <a:solidFill>
                  <a:srgbClr val="FFFFFF"/>
                </a:solidFill>
                <a:latin typeface="Menlo Regular"/>
                <a:ea typeface="Menlo Regular"/>
                <a:cs typeface="Menlo Regular"/>
                <a:sym typeface="Menlo Regular"/>
              </a:defRPr>
            </a:pPr>
            <a:r>
              <a:t>       Score  File</a:t>
            </a:r>
          </a:p>
          <a:p>
            <a:pPr>
              <a:tabLst>
                <a:tab pos="304800" algn="l"/>
                <a:tab pos="609600" algn="l"/>
                <a:tab pos="914400" algn="l"/>
                <a:tab pos="1219200" algn="l"/>
                <a:tab pos="1524000" algn="l"/>
                <a:tab pos="1828800" algn="l"/>
                <a:tab pos="2133600" algn="l"/>
                <a:tab pos="2438400" algn="l"/>
                <a:tab pos="2743200" algn="l"/>
                <a:tab pos="3048000" algn="l"/>
                <a:tab pos="3352800" algn="l"/>
                <a:tab pos="3657600" algn="l"/>
              </a:tabLst>
              <a:defRPr sz="1548">
                <a:solidFill>
                  <a:srgbClr val="FFFFFF"/>
                </a:solidFill>
                <a:latin typeface="Menlo Regular"/>
                <a:ea typeface="Menlo Regular"/>
                <a:cs typeface="Menlo Regular"/>
                <a:sym typeface="Menlo Regular"/>
              </a:defRPr>
            </a:pPr>
            <a:r>
              <a:t>   1.   100  /Volumes/D50/Wikidata/afwiki-20251229-cirrussearch-general.json</a:t>
            </a:r>
          </a:p>
          <a:p>
            <a:pPr>
              <a:tabLst>
                <a:tab pos="304800" algn="l"/>
                <a:tab pos="609600" algn="l"/>
                <a:tab pos="914400" algn="l"/>
                <a:tab pos="1219200" algn="l"/>
                <a:tab pos="1524000" algn="l"/>
                <a:tab pos="1828800" algn="l"/>
                <a:tab pos="2133600" algn="l"/>
                <a:tab pos="2438400" algn="l"/>
                <a:tab pos="2743200" algn="l"/>
                <a:tab pos="3048000" algn="l"/>
                <a:tab pos="3352800" algn="l"/>
                <a:tab pos="3657600" algn="l"/>
              </a:tabLst>
              <a:defRPr sz="1548">
                <a:solidFill>
                  <a:srgbClr val="FFFFFF"/>
                </a:solidFill>
                <a:latin typeface="Menlo Regular"/>
                <a:ea typeface="Menlo Regular"/>
                <a:cs typeface="Menlo Regular"/>
                <a:sym typeface="Menlo Regular"/>
              </a:defRPr>
            </a:pPr>
            <a:r>
              <a:t>`Citation/ CS1'</a:t>
            </a:r>
          </a:p>
          <a:p>
            <a:pPr>
              <a:tabLst>
                <a:tab pos="304800" algn="l"/>
                <a:tab pos="609600" algn="l"/>
                <a:tab pos="914400" algn="l"/>
                <a:tab pos="1219200" algn="l"/>
                <a:tab pos="1524000" algn="l"/>
                <a:tab pos="1828800" algn="l"/>
                <a:tab pos="2133600" algn="l"/>
                <a:tab pos="2438400" algn="l"/>
                <a:tab pos="2743200" algn="l"/>
                <a:tab pos="3048000" algn="l"/>
                <a:tab pos="3352800" algn="l"/>
                <a:tab pos="3657600" algn="l"/>
              </a:tabLst>
              <a:defRPr sz="1548">
                <a:solidFill>
                  <a:srgbClr val="FFFFFF"/>
                </a:solidFill>
                <a:latin typeface="Menlo Regular"/>
                <a:ea typeface="Menlo Regular"/>
                <a:cs typeface="Menlo Regular"/>
                <a:sym typeface="Menlo Regular"/>
              </a:defRPr>
            </a:pPr>
            <a:r>
              <a:t>Evidence: [</a:t>
            </a:r>
            <a:r>
              <a:rPr i="1"/>
              <a:t>SOURCE_TEXT</a:t>
            </a:r>
            <a:r>
              <a:t>] age.</a:t>
            </a:r>
          </a:p>
          <a:p>
            <a:pPr>
              <a:tabLst>
                <a:tab pos="304800" algn="l"/>
                <a:tab pos="609600" algn="l"/>
                <a:tab pos="914400" algn="l"/>
                <a:tab pos="1219200" algn="l"/>
                <a:tab pos="1524000" algn="l"/>
                <a:tab pos="1828800" algn="l"/>
                <a:tab pos="2133600" algn="l"/>
                <a:tab pos="2438400" algn="l"/>
                <a:tab pos="2743200" algn="l"/>
                <a:tab pos="3048000" algn="l"/>
                <a:tab pos="3352800" algn="l"/>
                <a:tab pos="3657600" algn="l"/>
              </a:tabLst>
              <a:defRPr sz="1548">
                <a:solidFill>
                  <a:srgbClr val="FFFFFF"/>
                </a:solidFill>
                <a:latin typeface="Menlo Regular"/>
                <a:ea typeface="Menlo Regular"/>
                <a:cs typeface="Menlo Regular"/>
                <a:sym typeface="Menlo Regular"/>
              </a:defRPr>
            </a:pPr>
            <a:r>
              <a:t> See also coins_cleanup().</a:t>
            </a:r>
          </a:p>
          <a:p>
            <a:pPr>
              <a:tabLst>
                <a:tab pos="304800" algn="l"/>
                <a:tab pos="609600" algn="l"/>
                <a:tab pos="914400" algn="l"/>
                <a:tab pos="1219200" algn="l"/>
                <a:tab pos="1524000" algn="l"/>
                <a:tab pos="1828800" algn="l"/>
                <a:tab pos="2133600" algn="l"/>
                <a:tab pos="2438400" algn="l"/>
                <a:tab pos="2743200" algn="l"/>
                <a:tab pos="3048000" algn="l"/>
                <a:tab pos="3352800" algn="l"/>
                <a:tab pos="3657600" algn="l"/>
              </a:tabLst>
              <a:defRPr sz="1548">
                <a:solidFill>
                  <a:srgbClr val="FFFFFF"/>
                </a:solidFill>
                <a:latin typeface="Menlo Regular"/>
                <a:ea typeface="Menlo Regular"/>
                <a:cs typeface="Menlo Regular"/>
                <a:sym typeface="Menlo Regular"/>
              </a:defRPr>
            </a:pPr>
            <a:r>
              <a:t> </a:t>
            </a:r>
          </a:p>
          <a:p>
            <a:pPr>
              <a:tabLst>
                <a:tab pos="304800" algn="l"/>
                <a:tab pos="609600" algn="l"/>
                <a:tab pos="914400" algn="l"/>
                <a:tab pos="1219200" algn="l"/>
                <a:tab pos="1524000" algn="l"/>
                <a:tab pos="1828800" algn="l"/>
                <a:tab pos="2133600" algn="l"/>
                <a:tab pos="2438400" algn="l"/>
                <a:tab pos="2743200" algn="l"/>
                <a:tab pos="3048000" algn="l"/>
                <a:tab pos="3352800" algn="l"/>
                <a:tab pos="3657600" algn="l"/>
              </a:tabLst>
              <a:defRPr sz="1548">
                <a:solidFill>
                  <a:srgbClr val="FFFFFF"/>
                </a:solidFill>
                <a:latin typeface="Menlo Regular"/>
                <a:ea typeface="Menlo Regular"/>
                <a:cs typeface="Menlo Regular"/>
                <a:sym typeface="Menlo Regular"/>
              </a:defRPr>
            </a:pPr>
            <a:r>
              <a:t> Output of this function </a:t>
            </a:r>
            <a:r>
              <a:rPr b="1">
                <a:solidFill>
                  <a:schemeClr val="accent1"/>
                </a:solidFill>
              </a:rPr>
              <a:t>is</a:t>
            </a:r>
            <a:r>
              <a:rPr>
                <a:solidFill>
                  <a:schemeClr val="accent1"/>
                </a:solidFill>
              </a:rPr>
              <a:t> </a:t>
            </a:r>
            <a:r>
              <a:rPr b="1">
                <a:solidFill>
                  <a:schemeClr val="accent1"/>
                </a:solidFill>
              </a:rPr>
              <a:t>an</a:t>
            </a:r>
            <a:r>
              <a:rPr>
                <a:solidFill>
                  <a:schemeClr val="accent1"/>
                </a:solidFill>
              </a:rPr>
              <a:t> </a:t>
            </a:r>
            <a:r>
              <a:rPr b="1">
                <a:solidFill>
                  <a:schemeClr val="accent1"/>
                </a:solidFill>
              </a:rPr>
              <a:t>error</a:t>
            </a:r>
            <a:r>
              <a:rPr>
                <a:solidFill>
                  <a:schemeClr val="accent1"/>
                </a:solidFill>
              </a:rPr>
              <a:t> </a:t>
            </a:r>
            <a:r>
              <a:t>message that identifies the character or the</a:t>
            </a:r>
          </a:p>
          <a:p>
            <a:pPr>
              <a:tabLst>
                <a:tab pos="304800" algn="l"/>
                <a:tab pos="609600" algn="l"/>
                <a:tab pos="914400" algn="l"/>
                <a:tab pos="1219200" algn="l"/>
                <a:tab pos="1524000" algn="l"/>
                <a:tab pos="1828800" algn="l"/>
                <a:tab pos="2133600" algn="l"/>
                <a:tab pos="2438400" algn="l"/>
                <a:tab pos="2743200" algn="l"/>
                <a:tab pos="3048000" algn="l"/>
                <a:tab pos="3352800" algn="l"/>
                <a:tab pos="3657600" algn="l"/>
              </a:tabLst>
              <a:defRPr sz="1548">
                <a:solidFill>
                  <a:srgbClr val="FFFFFF"/>
                </a:solidFill>
                <a:latin typeface="Menlo Regular"/>
                <a:ea typeface="Menlo Regular"/>
                <a:cs typeface="Menlo Regular"/>
                <a:sym typeface="Menlo Regular"/>
              </a:defRPr>
            </a:pPr>
            <a:r>
              <a:t> Unicode group</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93" name="From query hits to evidence.png" descr="From query hits to evidence.png"/>
          <p:cNvPicPr>
            <a:picLocks noChangeAspect="1"/>
          </p:cNvPicPr>
          <p:nvPr/>
        </p:nvPicPr>
        <p:blipFill>
          <a:blip r:embed="rId2">
            <a:extLst/>
          </a:blip>
          <a:stretch>
            <a:fillRect/>
          </a:stretch>
        </p:blipFill>
        <p:spPr>
          <a:xfrm>
            <a:off x="118530" y="146661"/>
            <a:ext cx="11954940" cy="6728229"/>
          </a:xfrm>
          <a:prstGeom prst="rect">
            <a:avLst/>
          </a:prstGeom>
          <a:ln w="12700">
            <a:miter lim="400000"/>
          </a:ln>
        </p:spPr>
      </p:pic>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95" name="How evidence covers are scored.png" descr="How evidence covers are scored.png"/>
          <p:cNvPicPr>
            <a:picLocks noChangeAspect="1"/>
          </p:cNvPicPr>
          <p:nvPr/>
        </p:nvPicPr>
        <p:blipFill>
          <a:blip r:embed="rId2">
            <a:extLst/>
          </a:blip>
          <a:stretch>
            <a:fillRect/>
          </a:stretch>
        </p:blipFill>
        <p:spPr>
          <a:xfrm>
            <a:off x="111084" y="-1"/>
            <a:ext cx="12185523" cy="6858001"/>
          </a:xfrm>
          <a:prstGeom prst="rect">
            <a:avLst/>
          </a:prstGeom>
          <a:ln w="12700">
            <a:miter lim="400000"/>
          </a:ln>
        </p:spPr>
      </p:pic>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7" name="Text 0"/>
          <p:cNvSpPr txBox="1"/>
          <p:nvPr/>
        </p:nvSpPr>
        <p:spPr>
          <a:xfrm>
            <a:off x="812799" y="7112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DEMO · SHAKESPEARE</a:t>
            </a:r>
          </a:p>
        </p:txBody>
      </p:sp>
      <p:sp>
        <p:nvSpPr>
          <p:cNvPr id="298" name="Text 1"/>
          <p:cNvSpPr txBox="1"/>
          <p:nvPr>
            <p:ph type="title"/>
          </p:nvPr>
        </p:nvSpPr>
        <p:spPr>
          <a:xfrm>
            <a:off x="812799" y="1239490"/>
            <a:ext cx="10203182" cy="718791"/>
          </a:xfrm>
          <a:prstGeom prst="rect">
            <a:avLst/>
          </a:prstGeom>
        </p:spPr>
        <p:txBody>
          <a:bodyPr/>
          <a:lstStyle>
            <a:lvl1pPr>
              <a:lnSpc>
                <a:spcPts val="5400"/>
              </a:lnSpc>
            </a:lvl1pPr>
          </a:lstStyle>
          <a:p>
            <a:pPr/>
            <a:r>
              <a:t>Same evidence, two extents.</a:t>
            </a:r>
          </a:p>
        </p:txBody>
      </p:sp>
      <p:sp>
        <p:nvSpPr>
          <p:cNvPr id="299" name="Text 2"/>
          <p:cNvSpPr txBox="1"/>
          <p:nvPr/>
        </p:nvSpPr>
        <p:spPr>
          <a:xfrm>
            <a:off x="812800" y="2212280"/>
            <a:ext cx="5284724"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3"/>
                </a:solidFill>
              </a:defRPr>
            </a:lvl1pPr>
          </a:lstStyle>
          <a:p>
            <a:pPr/>
            <a:r>
              <a:t>EXTENT: THE LINE</a:t>
            </a:r>
          </a:p>
        </p:txBody>
      </p:sp>
      <p:grpSp>
        <p:nvGrpSpPr>
          <p:cNvPr id="302" name="Text 3"/>
          <p:cNvGrpSpPr/>
          <p:nvPr/>
        </p:nvGrpSpPr>
        <p:grpSpPr>
          <a:xfrm>
            <a:off x="651701" y="2594521"/>
            <a:ext cx="5452998" cy="696848"/>
            <a:chOff x="0" y="0"/>
            <a:chExt cx="5452997" cy="696847"/>
          </a:xfrm>
        </p:grpSpPr>
        <p:sp>
          <p:nvSpPr>
            <p:cNvPr id="300" name="Rounded Rectangle"/>
            <p:cNvSpPr/>
            <p:nvPr/>
          </p:nvSpPr>
          <p:spPr>
            <a:xfrm>
              <a:off x="0" y="0"/>
              <a:ext cx="5452998" cy="696848"/>
            </a:xfrm>
            <a:prstGeom prst="roundRect">
              <a:avLst>
                <a:gd name="adj" fmla="val 10680"/>
              </a:avLst>
            </a:prstGeom>
            <a:solidFill>
              <a:srgbClr val="0D1015"/>
            </a:solidFill>
            <a:ln w="12700" cap="flat">
              <a:solidFill>
                <a:schemeClr val="accent4"/>
              </a:solidFill>
              <a:prstDash val="solid"/>
              <a:round/>
            </a:ln>
            <a:effectLst/>
          </p:spPr>
          <p:txBody>
            <a:bodyPr wrap="square" lIns="45719" tIns="45719" rIns="45719" bIns="45719" numCol="1" anchor="t">
              <a:noAutofit/>
            </a:bodyPr>
            <a:lstStyle/>
            <a:p>
              <a:pPr>
                <a:lnSpc>
                  <a:spcPts val="2200"/>
                </a:lnSpc>
                <a:defRPr sz="1500">
                  <a:solidFill>
                    <a:srgbClr val="ECE8DD"/>
                  </a:solidFill>
                </a:defRPr>
              </a:pPr>
            </a:p>
          </p:txBody>
        </p:sp>
        <p:sp>
          <p:nvSpPr>
            <p:cNvPr id="301" name="[query + top hit]"/>
            <p:cNvSpPr txBox="1"/>
            <p:nvPr/>
          </p:nvSpPr>
          <p:spPr>
            <a:xfrm>
              <a:off x="177133" y="123009"/>
              <a:ext cx="5247302" cy="4778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5046" tIns="75046" rIns="75046" bIns="75046" numCol="1" anchor="t">
              <a:normAutofit fontScale="100000" lnSpcReduction="0"/>
            </a:bodyPr>
            <a:lstStyle>
              <a:lvl1pPr>
                <a:lnSpc>
                  <a:spcPts val="2200"/>
                </a:lnSpc>
                <a:defRPr sz="1500">
                  <a:solidFill>
                    <a:srgbClr val="ECE8DD"/>
                  </a:solidFill>
                  <a:latin typeface="JetBrains Mono"/>
                  <a:ea typeface="JetBrains Mono"/>
                  <a:cs typeface="JetBrains Mono"/>
                  <a:sym typeface="JetBrains Mono"/>
                </a:defRPr>
              </a:lvl1pPr>
            </a:lstStyle>
            <a:p>
              <a:pPr/>
              <a:r>
                <a:t>[query + top hit]</a:t>
              </a:r>
            </a:p>
          </p:txBody>
        </p:sp>
      </p:grpSp>
      <p:sp>
        <p:nvSpPr>
          <p:cNvPr id="303" name="Text 4"/>
          <p:cNvSpPr txBox="1"/>
          <p:nvPr/>
        </p:nvSpPr>
        <p:spPr>
          <a:xfrm>
            <a:off x="6248400" y="2212280"/>
            <a:ext cx="5284724"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EXTENT: THE SPEECH</a:t>
            </a:r>
          </a:p>
        </p:txBody>
      </p:sp>
      <p:grpSp>
        <p:nvGrpSpPr>
          <p:cNvPr id="306" name="Text 5"/>
          <p:cNvGrpSpPr/>
          <p:nvPr/>
        </p:nvGrpSpPr>
        <p:grpSpPr>
          <a:xfrm>
            <a:off x="6254750" y="2594521"/>
            <a:ext cx="5118100" cy="654051"/>
            <a:chOff x="0" y="0"/>
            <a:chExt cx="5118100" cy="654050"/>
          </a:xfrm>
        </p:grpSpPr>
        <p:sp>
          <p:nvSpPr>
            <p:cNvPr id="304" name="Rounded Rectangle"/>
            <p:cNvSpPr/>
            <p:nvPr/>
          </p:nvSpPr>
          <p:spPr>
            <a:xfrm>
              <a:off x="0" y="0"/>
              <a:ext cx="5118100" cy="654050"/>
            </a:xfrm>
            <a:prstGeom prst="roundRect">
              <a:avLst>
                <a:gd name="adj" fmla="val 10680"/>
              </a:avLst>
            </a:prstGeom>
            <a:solidFill>
              <a:srgbClr val="0D1015"/>
            </a:solidFill>
            <a:ln w="12700" cap="flat">
              <a:solidFill>
                <a:schemeClr val="accent1"/>
              </a:solidFill>
              <a:prstDash val="solid"/>
              <a:round/>
            </a:ln>
            <a:effectLst/>
          </p:spPr>
          <p:txBody>
            <a:bodyPr wrap="square" lIns="45719" tIns="45719" rIns="45719" bIns="45719" numCol="1" anchor="t">
              <a:noAutofit/>
            </a:bodyPr>
            <a:lstStyle/>
            <a:p>
              <a:pPr>
                <a:lnSpc>
                  <a:spcPts val="2200"/>
                </a:lnSpc>
                <a:defRPr sz="1500">
                  <a:solidFill>
                    <a:srgbClr val="ECE8DD"/>
                  </a:solidFill>
                </a:defRPr>
              </a:pPr>
            </a:p>
          </p:txBody>
        </p:sp>
        <p:sp>
          <p:nvSpPr>
            <p:cNvPr id="305" name="[same query, wider extent, top hit]"/>
            <p:cNvSpPr txBox="1"/>
            <p:nvPr/>
          </p:nvSpPr>
          <p:spPr>
            <a:xfrm>
              <a:off x="166255" y="115454"/>
              <a:ext cx="4925036" cy="4485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5046" tIns="75046" rIns="75046" bIns="75046" numCol="1" anchor="t">
              <a:normAutofit fontScale="100000" lnSpcReduction="0"/>
            </a:bodyPr>
            <a:lstStyle>
              <a:lvl1pPr>
                <a:lnSpc>
                  <a:spcPts val="2200"/>
                </a:lnSpc>
                <a:defRPr sz="1500">
                  <a:solidFill>
                    <a:srgbClr val="ECE8DD"/>
                  </a:solidFill>
                  <a:latin typeface="JetBrains Mono"/>
                  <a:ea typeface="JetBrains Mono"/>
                  <a:cs typeface="JetBrains Mono"/>
                  <a:sym typeface="JetBrains Mono"/>
                </a:defRPr>
              </a:lvl1pPr>
            </a:lstStyle>
            <a:p>
              <a:pPr/>
              <a:r>
                <a:t>[same query, wider extent, top hit]</a:t>
              </a:r>
            </a:p>
          </p:txBody>
        </p:sp>
      </p:grpSp>
      <p:sp>
        <p:nvSpPr>
          <p:cNvPr id="307" name="Text 6"/>
          <p:cNvSpPr txBox="1"/>
          <p:nvPr/>
        </p:nvSpPr>
        <p:spPr>
          <a:xfrm>
            <a:off x="774176" y="5967571"/>
            <a:ext cx="9810751" cy="33908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sz="1900">
                <a:solidFill>
                  <a:schemeClr val="accent2"/>
                </a:solidFill>
              </a:defRPr>
            </a:lvl1pPr>
          </a:lstStyle>
          <a:p>
            <a:pPr/>
            <a:r>
              <a:t>Which extent counts is a choice at query time, not an index you had to build first.</a:t>
            </a:r>
          </a:p>
        </p:txBody>
      </p:sp>
      <p:sp>
        <p:nvSpPr>
          <p:cNvPr id="308" name="`The Tragedy of Hamlet, Prince of Denmark'…"/>
          <p:cNvSpPr txBox="1"/>
          <p:nvPr/>
        </p:nvSpPr>
        <p:spPr>
          <a:xfrm>
            <a:off x="728292" y="3610226"/>
            <a:ext cx="10372195" cy="3393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rgbClr val="000000"/>
                </a:solidFill>
                <a:latin typeface="Menlo Regular"/>
                <a:ea typeface="Menlo Regular"/>
                <a:cs typeface="Menlo Regular"/>
                <a:sym typeface="Menlo Regular"/>
              </a:defRPr>
            </a:pPr>
            <a:r>
              <a:t>`</a:t>
            </a:r>
            <a:r>
              <a:rPr>
                <a:solidFill>
                  <a:srgbClr val="FFFFFF"/>
                </a:solidFill>
              </a:rPr>
              <a:t>The Tragedy of Hamlet, Prince of Denmark'</a:t>
            </a:r>
            <a:endParaRPr>
              <a:solidFill>
                <a:srgbClr val="FFFFFF"/>
              </a:solidFill>
            </a:endParaR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rgbClr val="FFFFFF"/>
                </a:solidFill>
                <a:latin typeface="Menlo Regular"/>
                <a:ea typeface="Menlo Regular"/>
                <a:cs typeface="Menlo Regular"/>
                <a:sym typeface="Menlo Regular"/>
              </a:defRPr>
            </a:pPr>
            <a:r>
              <a:t>	[1] "speech: &lt;SPEAKER&gt;HAMLET&lt;/SPEAKER&gt;</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rgbClr val="FFFFFF"/>
                </a:solidFill>
                <a:latin typeface="Menlo Regular"/>
                <a:ea typeface="Menlo Regular"/>
                <a:cs typeface="Menlo Regular"/>
                <a:sym typeface="Menlo Regular"/>
              </a:defRPr>
            </a:pPr>
            <a:r>
              <a:t>&lt;LINE&gt;To be, or not to be: that is the question:&lt;/LINE&gt;</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rgbClr val="FFFFFF"/>
                </a:solidFill>
                <a:latin typeface="Menlo Regular"/>
                <a:ea typeface="Menlo Regular"/>
                <a:cs typeface="Menlo Regular"/>
                <a:sym typeface="Menlo Regular"/>
              </a:defRPr>
            </a:pPr>
            <a:r>
              <a:t>&lt;LINE&gt;Whether 'tis nobler in the mind to suffer&lt;/LINE&gt;</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rgbClr val="FFFFFF"/>
                </a:solidFill>
                <a:latin typeface="Menlo Regular"/>
                <a:ea typeface="Menlo Regular"/>
                <a:cs typeface="Menlo Regular"/>
                <a:sym typeface="Menlo Regular"/>
              </a:defRPr>
            </a:pPr>
            <a:r>
              <a:t>&lt;LINE&gt;The slings and arrows of outrageous fortune,&lt;/LINE&gt;</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rgbClr val="FFFFFF"/>
                </a:solidFill>
                <a:latin typeface="Menlo Regular"/>
                <a:ea typeface="Menlo Regular"/>
                <a:cs typeface="Menlo Regular"/>
                <a:sym typeface="Menlo Regular"/>
              </a:defRPr>
            </a:pPr>
            <a:r>
              <a:t>&lt;LINE&gt;Or to take arms against a sea of troubles,&lt;/LINE&gt;</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rgbClr val="FFFFFF"/>
                </a:solidFill>
                <a:latin typeface="Menlo Regular"/>
                <a:ea typeface="Menlo Regular"/>
                <a:cs typeface="Menlo Regular"/>
                <a:sym typeface="Menlo Regular"/>
              </a:defRPr>
            </a:pPr>
            <a:r>
              <a:t>&lt;LINE&gt;And by opposing end them? To die: to sleep;&lt;/LINE&gt;</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rgbClr val="FFFFFF"/>
                </a:solidFill>
                <a:latin typeface="Menlo Regular"/>
                <a:ea typeface="Menlo Regular"/>
                <a:cs typeface="Menlo Regular"/>
                <a:sym typeface="Menlo Regular"/>
              </a:defRPr>
            </a:pPr>
            <a:r>
              <a:t>&lt;LINE&gt;No more; and by a sleep to say we end&lt;/LINE&gt;</a:t>
            </a:r>
          </a:p>
          <a:p>
            <a:pPr>
              <a:defRPr>
                <a:solidFill>
                  <a:srgbClr val="FFFFFF"/>
                </a:solidFill>
              </a:defRPr>
            </a:pPr>
          </a:p>
          <a:p>
            <a:pPr>
              <a:defRPr>
                <a:solidFill>
                  <a:srgbClr val="FFFFFF"/>
                </a:solidFill>
              </a:defRPr>
            </a:pPr>
          </a:p>
          <a:p>
            <a:pPr>
              <a:defRPr>
                <a:solidFill>
                  <a:srgbClr val="FFFFFF"/>
                </a:solidFill>
              </a:defRPr>
            </a:pP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2" name="Text 0"/>
          <p:cNvSpPr txBox="1"/>
          <p:nvPr/>
        </p:nvSpPr>
        <p:spPr>
          <a:xfrm>
            <a:off x="812799" y="7112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DEMO · SHAKESPEARE</a:t>
            </a:r>
          </a:p>
        </p:txBody>
      </p:sp>
      <p:sp>
        <p:nvSpPr>
          <p:cNvPr id="313" name="Text 1"/>
          <p:cNvSpPr txBox="1"/>
          <p:nvPr>
            <p:ph type="title"/>
          </p:nvPr>
        </p:nvSpPr>
        <p:spPr>
          <a:xfrm>
            <a:off x="812800" y="1239490"/>
            <a:ext cx="11379200" cy="718791"/>
          </a:xfrm>
          <a:prstGeom prst="rect">
            <a:avLst/>
          </a:prstGeom>
        </p:spPr>
        <p:txBody>
          <a:bodyPr/>
          <a:lstStyle>
            <a:lvl1pPr>
              <a:lnSpc>
                <a:spcPts val="5400"/>
              </a:lnSpc>
            </a:lvl1pPr>
          </a:lstStyle>
          <a:p>
            <a:pPr/>
            <a:r>
              <a:t>Structure on demand, not in advance.</a:t>
            </a:r>
          </a:p>
        </p:txBody>
      </p:sp>
      <p:sp>
        <p:nvSpPr>
          <p:cNvPr id="314" name="Shape 2"/>
          <p:cNvSpPr/>
          <p:nvPr/>
        </p:nvSpPr>
        <p:spPr>
          <a:xfrm>
            <a:off x="685048" y="2058615"/>
            <a:ext cx="10553701" cy="1501082"/>
          </a:xfrm>
          <a:prstGeom prst="roundRect">
            <a:avLst>
              <a:gd name="adj" fmla="val 4653"/>
            </a:avLst>
          </a:prstGeom>
          <a:solidFill>
            <a:srgbClr val="0D1015"/>
          </a:solidFill>
          <a:ln w="12700">
            <a:solidFill>
              <a:schemeClr val="accent4"/>
            </a:solidFill>
          </a:ln>
        </p:spPr>
        <p:txBody>
          <a:bodyPr lIns="45719" rIns="45719"/>
          <a:lstStyle/>
          <a:p>
            <a:pPr>
              <a:defRPr>
                <a:solidFill>
                  <a:srgbClr val="ECE8DD"/>
                </a:solidFill>
              </a:defRPr>
            </a:pPr>
          </a:p>
        </p:txBody>
      </p:sp>
      <p:sp>
        <p:nvSpPr>
          <p:cNvPr id="315" name="Text 3"/>
          <p:cNvSpPr txBox="1"/>
          <p:nvPr/>
        </p:nvSpPr>
        <p:spPr>
          <a:xfrm>
            <a:off x="821064" y="2108150"/>
            <a:ext cx="10281668" cy="3708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700"/>
              </a:lnSpc>
              <a:defRPr sz="1700">
                <a:solidFill>
                  <a:schemeClr val="accent3"/>
                </a:solidFill>
                <a:latin typeface="JetBrains Mono"/>
                <a:ea typeface="JetBrains Mono"/>
                <a:cs typeface="JetBrains Mono"/>
                <a:sym typeface="JetBrains Mono"/>
              </a:defRPr>
            </a:lvl1pPr>
          </a:lstStyle>
          <a:p>
            <a:pPr/>
            <a:r>
              <a:t>$ [query constrained to a speaker or a scene]</a:t>
            </a:r>
          </a:p>
        </p:txBody>
      </p:sp>
      <p:sp>
        <p:nvSpPr>
          <p:cNvPr id="316" name="Text 4"/>
          <p:cNvSpPr txBox="1"/>
          <p:nvPr/>
        </p:nvSpPr>
        <p:spPr>
          <a:xfrm>
            <a:off x="955166" y="2623741"/>
            <a:ext cx="10281668" cy="3708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700"/>
              </a:lnSpc>
              <a:defRPr sz="1700">
                <a:solidFill>
                  <a:srgbClr val="ECE8DD"/>
                </a:solidFill>
                <a:latin typeface="JetBrains Mono"/>
                <a:ea typeface="JetBrains Mono"/>
                <a:cs typeface="JetBrains Mono"/>
                <a:sym typeface="JetBrains Mono"/>
              </a:defRPr>
            </a:lvl1pPr>
          </a:lstStyle>
          <a:p>
            <a:pPr/>
            <a:r>
              <a:t>Isearch -d SHAKESPEARE  -XML  -P speech/speaker to be or not </a:t>
            </a:r>
          </a:p>
        </p:txBody>
      </p:sp>
      <p:sp>
        <p:nvSpPr>
          <p:cNvPr id="317" name="Text 5"/>
          <p:cNvSpPr txBox="1"/>
          <p:nvPr/>
        </p:nvSpPr>
        <p:spPr>
          <a:xfrm>
            <a:off x="955166" y="2959025"/>
            <a:ext cx="10281668" cy="3708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700"/>
              </a:lnSpc>
              <a:defRPr sz="1700">
                <a:solidFill>
                  <a:schemeClr val="accent3"/>
                </a:solidFill>
                <a:latin typeface="JetBrains Mono"/>
                <a:ea typeface="JetBrains Mono"/>
                <a:cs typeface="JetBrains Mono"/>
                <a:sym typeface="JetBrains Mono"/>
              </a:defRPr>
            </a:lvl1pPr>
          </a:lstStyle>
          <a:p>
            <a:pPr/>
            <a:r>
              <a:t>→</a:t>
            </a:r>
          </a:p>
        </p:txBody>
      </p:sp>
      <p:sp>
        <p:nvSpPr>
          <p:cNvPr id="318" name="Text 6"/>
          <p:cNvSpPr txBox="1"/>
          <p:nvPr/>
        </p:nvSpPr>
        <p:spPr>
          <a:xfrm>
            <a:off x="1491947" y="2971725"/>
            <a:ext cx="10281667" cy="3708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700"/>
              </a:lnSpc>
              <a:defRPr sz="1700">
                <a:solidFill>
                  <a:srgbClr val="ECE8DD"/>
                </a:solidFill>
                <a:latin typeface="JetBrains Mono"/>
                <a:ea typeface="JetBrains Mono"/>
                <a:cs typeface="JetBrains Mono"/>
                <a:sym typeface="JetBrains Mono"/>
              </a:defRPr>
            </a:lvl1pPr>
          </a:lstStyle>
          <a:p>
            <a:pPr/>
            <a:r>
              <a:t>[the spans returned, with their start–end addresses]</a:t>
            </a:r>
          </a:p>
        </p:txBody>
      </p:sp>
      <p:sp>
        <p:nvSpPr>
          <p:cNvPr id="319" name="Text 7"/>
          <p:cNvSpPr txBox="1"/>
          <p:nvPr/>
        </p:nvSpPr>
        <p:spPr>
          <a:xfrm>
            <a:off x="812800" y="3809899"/>
            <a:ext cx="9810751" cy="84058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795527">
              <a:lnSpc>
                <a:spcPts val="2200"/>
              </a:lnSpc>
              <a:defRPr sz="1740">
                <a:solidFill>
                  <a:schemeClr val="accent2"/>
                </a:solidFill>
              </a:defRPr>
            </a:lvl1pPr>
          </a:lstStyle>
          <a:p>
            <a:pPr/>
            <a:r>
              <a:t>Speech was never indexed as a record. Line, speech, scene and act are just spans (intervals), so the engine just does  a comparison of spans to reconstruct in this case the tree (graph) connect to a hit.</a:t>
            </a:r>
          </a:p>
        </p:txBody>
      </p:sp>
      <p:sp>
        <p:nvSpPr>
          <p:cNvPr id="320" name="'ACT' 'EPILOGUE' 'FM' 'GRPDESCR' 'INDUCT' 'LINE' 'P' 'PERSONA' 'PERSONAE' 'PGROUP' 'PLAY' 'PLAYSUBT' 'PLAY\ACT' 'PLAY\ACT\EPILOGUE' 'PLAY\ACT\EPILOGUE\SPEECH' 'PLAY\ACT\EPILOGUE\SPEECH\LINE' 'PLAY\ACT\EPILOGUE\SPEECH\SPEAKER' 'PLAY\ACT\EPILOGUE\STAGEDIR'"/>
          <p:cNvSpPr txBox="1"/>
          <p:nvPr/>
        </p:nvSpPr>
        <p:spPr>
          <a:xfrm>
            <a:off x="722488" y="4490904"/>
            <a:ext cx="9810751" cy="3241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000">
                <a:solidFill>
                  <a:srgbClr val="FFFFFF"/>
                </a:solidFill>
              </a:defRPr>
            </a:pPr>
            <a:r>
              <a:t>'ACT' 'EPILOGUE' 'FM' 'GRPDESCR' 'INDUCT' 'LINE' 'P' 'PERSONA' 'PERSONAE' 'PGROUP' 'PLAY' 'PLAYSUBT' 'PLAY\ACT' 'PLAY\ACT\EPILOGUE' 'PLAY\ACT\EPILOGUE\SPEECH' 'PLAY\ACT\EPILOGUE\SPEECH\LINE' 'PLAY\ACT\EPILOGUE\SPEECH\SPEAKER' 'PLAY\ACT\EPILOGUE\STAGEDIR' 'PLAY\ACT\EPILOGUE\SUBTITLE' 'PLAY\ACT\EPILOGUE\TITLE' 'PLAY\ACT\PROLOGUE' 'PLAY\ACT\PROLOGUE\SPEECH' 'PLAY\ACT\PROLOGUE\SPEECH\LINE' 'PLAY\ACT\PROLOGUE\SPEECH\SPEAKER' 'PLAY\ACT\PROLOGUE\SPEECH\STAGEDIR' 'PLAY\ACT\PROLOGUE\SPEECH\SUBHEAD' 'PLAY\ACT\PROLOGUE\STAGEDIR' 'PLAY\ACT\PROLOGUE\TITLE' 'PLAY\ACT\SCENE' 'PLAY\ACT\SCENE\SPEECH' 'PLAY\ACT\SCENE\SPEECH\LINE' 'PLAY\ACT\SCENE\SPEECH\LINE\STAGEDIR' 'PLAY\ACT\SCENE\SPEECH\SPEAKER' 'PLAY\ACT\SCENE\SPEECH\STAGEDIR' 'PLAY\ACT\SCENE\SPEECH\SUBHEAD' 'PLAY\ACT\SCENE\STAGEDIR' 'PLAY\ACT\SCENE\SUBHEAD' 'PLAY\ACT\SCENE\TITLE' 'PLAY\ACT\TITLE' 'PLAY\FM' 'PLAY\FM\P' 'PLAY\INDUCT' 'PLAY\INDUCT\SCENE' 'PLAY\INDUCT\SCENE\SPEECH' 'PLAY\INDUCT\SCENE\SPEECH\LINE' 'PLAY\INDUCT\SCENE\SPEECH\SPEAKER' 'PLAY\INDUCT\SCENE\SPEECH\STAGEDIR' 'PLAY\INDUCT\SCENE\STAGEDIR' 'PLAY\INDUCT\SCENE\TITLE' 'PLAY\INDUCT\SPEECH' 'PLAY\INDUCT\SPEECH\LINE' 'PLAY\INDUCT\SPEECH\SPEAKER' 'PLAY\INDUCT\STAGEDIR' 'PLAY\INDUCT\TITLE' 'PLAY\PERSONAE' 'PLAY\PERSONAE\PERSONA' 'PLAY\PERSONAE\PGROUP' 'PLAY\PERSONAE\PGROUP\GRPDESCR' 'PLAY\PERSONAE\PGROUP\PERSONA' 'PLAY\PERSONAE\TITLE' 'PLAY\PLAYSUBT' 'PLAY\PROLOGUE' 'PLAY\PROLOGUE\SPEECH' 'PLAY\PROLOGUE\SPEECH\LINE' 'PLAY\PROLOGUE\TITLE' 'PLAY\SCNDESCR' 'PLAY\TITLE' 'PLAY\' 'PROLOGUE' 'SCENE' 'SCNDESCR' 'SPEAKER' 'SPEECH' 'STAGEDIR' 'SUBHEAD' 'SUBTITLE' 'TITLE'</a:t>
            </a:r>
          </a:p>
          <a:p>
            <a:pPr/>
          </a:p>
          <a:p>
            <a:pPr/>
          </a:p>
          <a:p>
            <a:p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20" grpId="1"/>
    </p:bld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pic>
        <p:nvPicPr>
          <p:cNvPr id="324" name="Image" descr="Image"/>
          <p:cNvPicPr>
            <a:picLocks noChangeAspect="1"/>
          </p:cNvPicPr>
          <p:nvPr/>
        </p:nvPicPr>
        <p:blipFill>
          <a:blip r:embed="rId2">
            <a:extLst/>
          </a:blip>
          <a:stretch>
            <a:fillRect/>
          </a:stretch>
        </p:blipFill>
        <p:spPr>
          <a:xfrm>
            <a:off x="1219200" y="177800"/>
            <a:ext cx="9753600" cy="6502400"/>
          </a:xfrm>
          <a:prstGeom prst="rect">
            <a:avLst/>
          </a:prstGeom>
          <a:ln w="12700">
            <a:miter lim="400000"/>
          </a:ln>
        </p:spPr>
      </p:pic>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6" name="Text 0"/>
          <p:cNvSpPr txBox="1"/>
          <p:nvPr/>
        </p:nvSpPr>
        <p:spPr>
          <a:xfrm>
            <a:off x="812799" y="7112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DEMO · SHAKESPEARE</a:t>
            </a:r>
          </a:p>
        </p:txBody>
      </p:sp>
      <p:sp>
        <p:nvSpPr>
          <p:cNvPr id="327" name="Text 1"/>
          <p:cNvSpPr txBox="1"/>
          <p:nvPr>
            <p:ph type="title"/>
          </p:nvPr>
        </p:nvSpPr>
        <p:spPr>
          <a:xfrm>
            <a:off x="812800" y="1239490"/>
            <a:ext cx="11379200" cy="718791"/>
          </a:xfrm>
          <a:prstGeom prst="rect">
            <a:avLst/>
          </a:prstGeom>
        </p:spPr>
        <p:txBody>
          <a:bodyPr/>
          <a:lstStyle>
            <a:lvl1pPr>
              <a:lnSpc>
                <a:spcPts val="5400"/>
              </a:lnSpc>
            </a:lvl1pPr>
          </a:lstStyle>
          <a:p>
            <a:pPr/>
            <a:r>
              <a:t>Words miss paraphrase. Vectors don’t.</a:t>
            </a:r>
          </a:p>
        </p:txBody>
      </p:sp>
      <p:sp>
        <p:nvSpPr>
          <p:cNvPr id="328" name="Text 2"/>
          <p:cNvSpPr txBox="1"/>
          <p:nvPr/>
        </p:nvSpPr>
        <p:spPr>
          <a:xfrm>
            <a:off x="812800" y="2212280"/>
            <a:ext cx="5284724"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3"/>
                </a:solidFill>
              </a:defRPr>
            </a:lvl1pPr>
          </a:lstStyle>
          <a:p>
            <a:pPr/>
            <a:r>
              <a:t>WORD SEARCH</a:t>
            </a:r>
          </a:p>
        </p:txBody>
      </p:sp>
      <p:grpSp>
        <p:nvGrpSpPr>
          <p:cNvPr id="331" name="Text 3"/>
          <p:cNvGrpSpPr/>
          <p:nvPr/>
        </p:nvGrpSpPr>
        <p:grpSpPr>
          <a:xfrm>
            <a:off x="401795" y="2717009"/>
            <a:ext cx="5900308" cy="2841526"/>
            <a:chOff x="-277151" y="-61589"/>
            <a:chExt cx="5900306" cy="2841525"/>
          </a:xfrm>
        </p:grpSpPr>
        <p:sp>
          <p:nvSpPr>
            <p:cNvPr id="329" name="Rounded Rectangle"/>
            <p:cNvSpPr/>
            <p:nvPr/>
          </p:nvSpPr>
          <p:spPr>
            <a:xfrm>
              <a:off x="-277152" y="-61590"/>
              <a:ext cx="5652767" cy="2841527"/>
            </a:xfrm>
            <a:prstGeom prst="roundRect">
              <a:avLst>
                <a:gd name="adj" fmla="val 2715"/>
              </a:avLst>
            </a:prstGeom>
            <a:solidFill>
              <a:srgbClr val="0D1015"/>
            </a:solidFill>
            <a:ln w="12700" cap="flat">
              <a:solidFill>
                <a:schemeClr val="accent4"/>
              </a:solidFill>
              <a:prstDash val="solid"/>
              <a:round/>
            </a:ln>
            <a:effectLst/>
          </p:spPr>
          <p:txBody>
            <a:bodyPr wrap="square" lIns="45719" tIns="45719" rIns="45719" bIns="45719" numCol="1" anchor="t">
              <a:noAutofit/>
            </a:bodyPr>
            <a:lstStyle/>
            <a:p>
              <a:pPr>
                <a:lnSpc>
                  <a:spcPts val="2200"/>
                </a:lnSpc>
                <a:defRPr sz="1500">
                  <a:solidFill>
                    <a:srgbClr val="ECE8DD"/>
                  </a:solidFill>
                </a:defRPr>
              </a:pPr>
            </a:p>
          </p:txBody>
        </p:sp>
        <p:sp>
          <p:nvSpPr>
            <p:cNvPr id="330" name="[paraphrase query] → [miss]…"/>
            <p:cNvSpPr txBox="1"/>
            <p:nvPr/>
          </p:nvSpPr>
          <p:spPr>
            <a:xfrm>
              <a:off x="-176361" y="12561"/>
              <a:ext cx="5799517" cy="27046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5046" tIns="75046" rIns="75046" bIns="75046" numCol="1" anchor="t">
              <a:normAutofit fontScale="100000" lnSpcReduction="0"/>
            </a:bodyPr>
            <a:lstStyle/>
            <a:p>
              <a:pPr defTabSz="566927">
                <a:lnSpc>
                  <a:spcPts val="1300"/>
                </a:lnSpc>
                <a:defRPr sz="930">
                  <a:solidFill>
                    <a:srgbClr val="FFFFFF"/>
                  </a:solidFill>
                  <a:latin typeface="JetBrains Mono"/>
                  <a:ea typeface="JetBrains Mono"/>
                  <a:cs typeface="JetBrains Mono"/>
                  <a:sym typeface="JetBrains Mono"/>
                </a:defRPr>
              </a:pPr>
              <a:r>
                <a:t>[paraphrase query] → [miss]</a:t>
              </a:r>
            </a:p>
            <a:p>
              <a:pPr defTabSz="566927">
                <a:lnSpc>
                  <a:spcPts val="1300"/>
                </a:lnSpc>
                <a:defRPr sz="930">
                  <a:solidFill>
                    <a:srgbClr val="FFFFFF"/>
                  </a:solidFill>
                  <a:latin typeface="JetBrains Mono"/>
                  <a:ea typeface="JetBrains Mono"/>
                  <a:cs typeface="JetBrains Mono"/>
                  <a:sym typeface="JetBrains Mono"/>
                </a:defRPr>
              </a:pPr>
            </a:p>
            <a:p>
              <a:pPr defTabSz="566927">
                <a:lnSpc>
                  <a:spcPts val="1300"/>
                </a:lnSpc>
                <a:defRPr sz="930">
                  <a:solidFill>
                    <a:srgbClr val="FFFFFF"/>
                  </a:solidFill>
                  <a:latin typeface="JetBrains Mono"/>
                  <a:ea typeface="JetBrains Mono"/>
                  <a:cs typeface="JetBrains Mono"/>
                  <a:sym typeface="JetBrains Mono"/>
                </a:defRPr>
              </a:pPr>
              <a:r>
                <a:t>Query: "whether" "it" || "is" || "better" || "to" || "live" || "or" || "die" || FOCUS:8</a:t>
              </a:r>
            </a:p>
            <a:p>
              <a:pPr>
                <a:tabLst>
                  <a:tab pos="215900" algn="l"/>
                  <a:tab pos="431800" algn="l"/>
                  <a:tab pos="660400" algn="l"/>
                  <a:tab pos="876300" algn="l"/>
                  <a:tab pos="1092200" algn="l"/>
                  <a:tab pos="1320800" algn="l"/>
                  <a:tab pos="1536700" algn="l"/>
                  <a:tab pos="1752600" algn="l"/>
                  <a:tab pos="1981200" algn="l"/>
                  <a:tab pos="2197100" algn="l"/>
                  <a:tab pos="2413000" algn="l"/>
                  <a:tab pos="2641600" algn="l"/>
                </a:tabLst>
                <a:defRPr sz="1116">
                  <a:solidFill>
                    <a:srgbClr val="FFFFFF"/>
                  </a:solidFill>
                  <a:latin typeface="Menlo Regular"/>
                  <a:ea typeface="Menlo Regular"/>
                  <a:cs typeface="Menlo Regular"/>
                  <a:sym typeface="Menlo Regular"/>
                </a:defRPr>
              </a:pPr>
            </a:p>
            <a:p>
              <a:pPr>
                <a:tabLst>
                  <a:tab pos="215900" algn="l"/>
                  <a:tab pos="431800" algn="l"/>
                  <a:tab pos="660400" algn="l"/>
                  <a:tab pos="876300" algn="l"/>
                  <a:tab pos="1092200" algn="l"/>
                  <a:tab pos="1320800" algn="l"/>
                  <a:tab pos="1536700" algn="l"/>
                  <a:tab pos="1752600" algn="l"/>
                  <a:tab pos="1981200" algn="l"/>
                  <a:tab pos="2197100" algn="l"/>
                  <a:tab pos="2413000" algn="l"/>
                  <a:tab pos="2641600" algn="l"/>
                </a:tabLst>
                <a:defRPr sz="1116">
                  <a:solidFill>
                    <a:srgbClr val="FFFFFF"/>
                  </a:solidFill>
                  <a:latin typeface="Menlo Regular"/>
                  <a:ea typeface="Menlo Regular"/>
                  <a:cs typeface="Menlo Regular"/>
                  <a:sym typeface="Menlo Regular"/>
                </a:defRPr>
              </a:pPr>
              <a:r>
                <a:t>30 records of 37 matched your query, 30 records displayed.</a:t>
              </a:r>
            </a:p>
            <a:p>
              <a:pPr>
                <a:tabLst>
                  <a:tab pos="215900" algn="l"/>
                  <a:tab pos="431800" algn="l"/>
                  <a:tab pos="660400" algn="l"/>
                  <a:tab pos="876300" algn="l"/>
                  <a:tab pos="1092200" algn="l"/>
                  <a:tab pos="1320800" algn="l"/>
                  <a:tab pos="1536700" algn="l"/>
                  <a:tab pos="1752600" algn="l"/>
                  <a:tab pos="1981200" algn="l"/>
                  <a:tab pos="2197100" algn="l"/>
                  <a:tab pos="2413000" algn="l"/>
                  <a:tab pos="2641600" algn="l"/>
                </a:tabLst>
                <a:defRPr sz="1116">
                  <a:solidFill>
                    <a:srgbClr val="FFFFFF"/>
                  </a:solidFill>
                  <a:latin typeface="Menlo Regular"/>
                  <a:ea typeface="Menlo Regular"/>
                  <a:cs typeface="Menlo Regular"/>
                  <a:sym typeface="Menlo Regular"/>
                </a:defRPr>
              </a:pPr>
            </a:p>
            <a:p>
              <a:pPr>
                <a:tabLst>
                  <a:tab pos="215900" algn="l"/>
                  <a:tab pos="431800" algn="l"/>
                  <a:tab pos="660400" algn="l"/>
                  <a:tab pos="876300" algn="l"/>
                  <a:tab pos="1092200" algn="l"/>
                  <a:tab pos="1320800" algn="l"/>
                  <a:tab pos="1536700" algn="l"/>
                  <a:tab pos="1752600" algn="l"/>
                  <a:tab pos="1981200" algn="l"/>
                  <a:tab pos="2197100" algn="l"/>
                  <a:tab pos="2413000" algn="l"/>
                  <a:tab pos="2641600" algn="l"/>
                </a:tabLst>
                <a:defRPr sz="1116">
                  <a:solidFill>
                    <a:srgbClr val="FFFFFF"/>
                  </a:solidFill>
                  <a:latin typeface="Menlo Regular"/>
                  <a:ea typeface="Menlo Regular"/>
                  <a:cs typeface="Menlo Regular"/>
                  <a:sym typeface="Menlo Regular"/>
                </a:defRPr>
              </a:pPr>
              <a:r>
                <a:t>       Score  File</a:t>
              </a:r>
            </a:p>
            <a:p>
              <a:pPr>
                <a:tabLst>
                  <a:tab pos="215900" algn="l"/>
                  <a:tab pos="431800" algn="l"/>
                  <a:tab pos="660400" algn="l"/>
                  <a:tab pos="876300" algn="l"/>
                  <a:tab pos="1092200" algn="l"/>
                  <a:tab pos="1320800" algn="l"/>
                  <a:tab pos="1536700" algn="l"/>
                  <a:tab pos="1752600" algn="l"/>
                  <a:tab pos="1981200" algn="l"/>
                  <a:tab pos="2197100" algn="l"/>
                  <a:tab pos="2413000" algn="l"/>
                  <a:tab pos="2641600" algn="l"/>
                </a:tabLst>
                <a:defRPr sz="1116">
                  <a:solidFill>
                    <a:srgbClr val="FFFFFF"/>
                  </a:solidFill>
                  <a:latin typeface="Menlo Regular"/>
                  <a:ea typeface="Menlo Regular"/>
                  <a:cs typeface="Menlo Regular"/>
                  <a:sym typeface="Menlo Regular"/>
                </a:defRPr>
              </a:pPr>
              <a:r>
                <a:t>   1.   100  /Volumes/Celeritas/CoreQuarry/ib/data/shakespeare.xml</a:t>
              </a:r>
            </a:p>
            <a:p>
              <a:pPr>
                <a:tabLst>
                  <a:tab pos="215900" algn="l"/>
                  <a:tab pos="431800" algn="l"/>
                  <a:tab pos="660400" algn="l"/>
                  <a:tab pos="876300" algn="l"/>
                  <a:tab pos="1092200" algn="l"/>
                  <a:tab pos="1320800" algn="l"/>
                  <a:tab pos="1536700" algn="l"/>
                  <a:tab pos="1752600" algn="l"/>
                  <a:tab pos="1981200" algn="l"/>
                  <a:tab pos="2197100" algn="l"/>
                  <a:tab pos="2413000" algn="l"/>
                  <a:tab pos="2641600" algn="l"/>
                </a:tabLst>
                <a:defRPr sz="1116">
                  <a:solidFill>
                    <a:srgbClr val="000000"/>
                  </a:solidFill>
                  <a:latin typeface="Menlo Regular"/>
                  <a:ea typeface="Menlo Regular"/>
                  <a:cs typeface="Menlo Regular"/>
                  <a:sym typeface="Menlo Regular"/>
                </a:defRPr>
              </a:pPr>
              <a:r>
                <a:t>`The Tragedy of Richard the Third'</a:t>
              </a:r>
            </a:p>
            <a:p>
              <a:pPr>
                <a:tabLst>
                  <a:tab pos="215900" algn="l"/>
                  <a:tab pos="431800" algn="l"/>
                  <a:tab pos="660400" algn="l"/>
                  <a:tab pos="876300" algn="l"/>
                  <a:tab pos="1092200" algn="l"/>
                  <a:tab pos="1320800" algn="l"/>
                  <a:tab pos="1536700" algn="l"/>
                  <a:tab pos="1752600" algn="l"/>
                  <a:tab pos="1981200" algn="l"/>
                  <a:tab pos="2197100" algn="l"/>
                  <a:tab pos="2413000" algn="l"/>
                  <a:tab pos="2641600" algn="l"/>
                </a:tabLst>
                <a:defRPr sz="1116">
                  <a:solidFill>
                    <a:srgbClr val="FFFFFF"/>
                  </a:solidFill>
                  <a:latin typeface="Menlo Regular"/>
                  <a:ea typeface="Menlo Regular"/>
                  <a:cs typeface="Menlo Regular"/>
                  <a:sym typeface="Menlo Regular"/>
                </a:defRPr>
              </a:pPr>
              <a:r>
                <a:t>Evidence: [</a:t>
              </a:r>
              <a:r>
                <a:rPr i="1"/>
                <a:t>PLAY\ACT\SCENE\SPEECH\LINE</a:t>
              </a:r>
              <a:r>
                <a:t>] O sir, </a:t>
              </a:r>
              <a:r>
                <a:rPr b="1"/>
                <a:t>it</a:t>
              </a:r>
              <a:r>
                <a:t> </a:t>
              </a:r>
              <a:r>
                <a:rPr b="1"/>
                <a:t>is</a:t>
              </a:r>
              <a:r>
                <a:t> </a:t>
              </a:r>
              <a:r>
                <a:rPr b="1"/>
                <a:t>better</a:t>
              </a:r>
              <a:r>
                <a:t> </a:t>
              </a:r>
              <a:r>
                <a:rPr b="1"/>
                <a:t>to</a:t>
              </a:r>
              <a:r>
                <a:t> be brief than tedious. Show</a:t>
              </a:r>
            </a:p>
            <a:p>
              <a:pPr>
                <a:tabLst>
                  <a:tab pos="215900" algn="l"/>
                  <a:tab pos="431800" algn="l"/>
                  <a:tab pos="660400" algn="l"/>
                  <a:tab pos="876300" algn="l"/>
                  <a:tab pos="1092200" algn="l"/>
                  <a:tab pos="1320800" algn="l"/>
                  <a:tab pos="1536700" algn="l"/>
                  <a:tab pos="1752600" algn="l"/>
                  <a:tab pos="1981200" algn="l"/>
                  <a:tab pos="2197100" algn="l"/>
                  <a:tab pos="2413000" algn="l"/>
                  <a:tab pos="2641600" algn="l"/>
                </a:tabLst>
                <a:defRPr sz="1116">
                  <a:solidFill>
                    <a:srgbClr val="FFFFFF"/>
                  </a:solidFill>
                  <a:latin typeface="Menlo Regular"/>
                  <a:ea typeface="Menlo Regular"/>
                  <a:cs typeface="Menlo Regular"/>
                  <a:sym typeface="Menlo Regular"/>
                </a:defRPr>
              </a:pPr>
              <a:r>
                <a:t>   2.    96  /Volumes/Celeritas/CoreQuarry/ib/data/shakespeare.xml</a:t>
              </a:r>
            </a:p>
            <a:p>
              <a:pPr>
                <a:tabLst>
                  <a:tab pos="215900" algn="l"/>
                  <a:tab pos="431800" algn="l"/>
                  <a:tab pos="660400" algn="l"/>
                  <a:tab pos="876300" algn="l"/>
                  <a:tab pos="1092200" algn="l"/>
                  <a:tab pos="1320800" algn="l"/>
                  <a:tab pos="1536700" algn="l"/>
                  <a:tab pos="1752600" algn="l"/>
                  <a:tab pos="1981200" algn="l"/>
                  <a:tab pos="2197100" algn="l"/>
                  <a:tab pos="2413000" algn="l"/>
                  <a:tab pos="2641600" algn="l"/>
                </a:tabLst>
                <a:defRPr sz="1116">
                  <a:solidFill>
                    <a:srgbClr val="FFFFFF"/>
                  </a:solidFill>
                  <a:latin typeface="Menlo Regular"/>
                  <a:ea typeface="Menlo Regular"/>
                  <a:cs typeface="Menlo Regular"/>
                  <a:sym typeface="Menlo Regular"/>
                </a:defRPr>
              </a:pPr>
              <a:r>
                <a:t>`Measure for Measure'</a:t>
              </a:r>
            </a:p>
            <a:p>
              <a:pPr>
                <a:tabLst>
                  <a:tab pos="215900" algn="l"/>
                  <a:tab pos="431800" algn="l"/>
                  <a:tab pos="660400" algn="l"/>
                  <a:tab pos="876300" algn="l"/>
                  <a:tab pos="1092200" algn="l"/>
                  <a:tab pos="1320800" algn="l"/>
                  <a:tab pos="1536700" algn="l"/>
                  <a:tab pos="1752600" algn="l"/>
                  <a:tab pos="1981200" algn="l"/>
                  <a:tab pos="2197100" algn="l"/>
                  <a:tab pos="2413000" algn="l"/>
                  <a:tab pos="2641600" algn="l"/>
                </a:tabLst>
                <a:defRPr i="1" sz="1116">
                  <a:solidFill>
                    <a:srgbClr val="FFFFFF"/>
                  </a:solidFill>
                  <a:latin typeface="Menlo Regular"/>
                  <a:ea typeface="Menlo Regular"/>
                  <a:cs typeface="Menlo Regular"/>
                  <a:sym typeface="Menlo Regular"/>
                </a:defRPr>
              </a:pPr>
              <a:r>
                <a:rPr i="0"/>
                <a:t>Evidence: [</a:t>
              </a:r>
              <a:r>
                <a:t>PLAY\ACT\SCENE\SPEECH\LINE</a:t>
              </a:r>
              <a:r>
                <a:rPr i="0"/>
                <a:t>] Unfit </a:t>
              </a:r>
              <a:r>
                <a:rPr b="1" i="0"/>
                <a:t>to</a:t>
              </a:r>
              <a:r>
                <a:rPr i="0"/>
                <a:t> </a:t>
              </a:r>
              <a:r>
                <a:rPr b="1" i="0"/>
                <a:t>live</a:t>
              </a:r>
              <a:r>
                <a:rPr i="0"/>
                <a:t> </a:t>
              </a:r>
              <a:r>
                <a:rPr b="1" i="0"/>
                <a:t>or</a:t>
              </a:r>
              <a:r>
                <a:rPr i="0"/>
                <a:t> </a:t>
              </a:r>
              <a:r>
                <a:rPr b="1" i="0"/>
                <a:t>die</a:t>
              </a:r>
              <a:r>
                <a:rPr i="0"/>
                <a:t>: O gravel heart!</a:t>
              </a:r>
            </a:p>
          </p:txBody>
        </p:sp>
      </p:grpSp>
      <p:sp>
        <p:nvSpPr>
          <p:cNvPr id="332" name="Text 4"/>
          <p:cNvSpPr txBox="1"/>
          <p:nvPr/>
        </p:nvSpPr>
        <p:spPr>
          <a:xfrm>
            <a:off x="6248400" y="2212280"/>
            <a:ext cx="5284724"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VECTOR SEARCH</a:t>
            </a:r>
          </a:p>
        </p:txBody>
      </p:sp>
      <p:grpSp>
        <p:nvGrpSpPr>
          <p:cNvPr id="335" name="Text 5"/>
          <p:cNvGrpSpPr/>
          <p:nvPr/>
        </p:nvGrpSpPr>
        <p:grpSpPr>
          <a:xfrm>
            <a:off x="6571352" y="2620324"/>
            <a:ext cx="5000960" cy="2944133"/>
            <a:chOff x="0" y="0"/>
            <a:chExt cx="5000959" cy="2944132"/>
          </a:xfrm>
        </p:grpSpPr>
        <p:sp>
          <p:nvSpPr>
            <p:cNvPr id="333" name="Rounded Rectangle"/>
            <p:cNvSpPr/>
            <p:nvPr/>
          </p:nvSpPr>
          <p:spPr>
            <a:xfrm>
              <a:off x="0" y="0"/>
              <a:ext cx="5000960" cy="2944133"/>
            </a:xfrm>
            <a:prstGeom prst="roundRect">
              <a:avLst>
                <a:gd name="adj" fmla="val 2318"/>
              </a:avLst>
            </a:prstGeom>
            <a:solidFill>
              <a:srgbClr val="0D1015"/>
            </a:solidFill>
            <a:ln w="12700" cap="flat">
              <a:solidFill>
                <a:schemeClr val="accent1"/>
              </a:solidFill>
              <a:prstDash val="solid"/>
              <a:round/>
            </a:ln>
            <a:effectLst/>
          </p:spPr>
          <p:txBody>
            <a:bodyPr wrap="square" lIns="45719" tIns="45719" rIns="45719" bIns="45719" numCol="1" anchor="t">
              <a:noAutofit/>
            </a:bodyPr>
            <a:lstStyle/>
            <a:p>
              <a:pPr>
                <a:lnSpc>
                  <a:spcPts val="2200"/>
                </a:lnSpc>
                <a:defRPr sz="1500">
                  <a:solidFill>
                    <a:srgbClr val="ECE8DD"/>
                  </a:solidFill>
                </a:defRPr>
              </a:pPr>
            </a:p>
          </p:txBody>
        </p:sp>
        <p:sp>
          <p:nvSpPr>
            <p:cNvPr id="334" name="[same query] → [the line, as a span…"/>
            <p:cNvSpPr txBox="1"/>
            <p:nvPr/>
          </p:nvSpPr>
          <p:spPr>
            <a:xfrm>
              <a:off x="162450" y="112813"/>
              <a:ext cx="4812313" cy="265006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5046" tIns="75046" rIns="75046" bIns="75046" numCol="1" anchor="t">
              <a:normAutofit fontScale="100000" lnSpcReduction="0"/>
            </a:bodyPr>
            <a:lstStyle/>
            <a:p>
              <a:pPr defTabSz="384047">
                <a:lnSpc>
                  <a:spcPts val="900"/>
                </a:lnSpc>
                <a:defRPr sz="630">
                  <a:solidFill>
                    <a:srgbClr val="ECE8DD"/>
                  </a:solidFill>
                  <a:latin typeface="JetBrains Mono"/>
                  <a:ea typeface="JetBrains Mono"/>
                  <a:cs typeface="JetBrains Mono"/>
                  <a:sym typeface="JetBrains Mono"/>
                </a:defRPr>
              </a:pPr>
              <a:r>
                <a:t>[same query] → [the line, as a span</a:t>
              </a:r>
            </a:p>
            <a:p>
              <a:pPr defTabSz="384047">
                <a:lnSpc>
                  <a:spcPts val="900"/>
                </a:lnSpc>
                <a:defRPr sz="630">
                  <a:solidFill>
                    <a:srgbClr val="ECE8DD"/>
                  </a:solidFill>
                  <a:latin typeface="JetBrains Mono"/>
                  <a:ea typeface="JetBrains Mono"/>
                  <a:cs typeface="JetBrains Mono"/>
                  <a:sym typeface="JetBrains Mono"/>
                </a:defRPr>
              </a:pPr>
            </a:p>
            <a:p>
              <a:pPr>
                <a:tabLst>
                  <a:tab pos="139700" algn="l"/>
                  <a:tab pos="292100" algn="l"/>
                  <a:tab pos="444500" algn="l"/>
                  <a:tab pos="596900" algn="l"/>
                  <a:tab pos="736600" algn="l"/>
                  <a:tab pos="889000" algn="l"/>
                  <a:tab pos="1041400" algn="l"/>
                  <a:tab pos="1193800" algn="l"/>
                  <a:tab pos="1333500" algn="l"/>
                  <a:tab pos="1485900" algn="l"/>
                  <a:tab pos="1638300" algn="l"/>
                  <a:tab pos="1790700" algn="l"/>
                </a:tabLst>
                <a:defRPr sz="756">
                  <a:solidFill>
                    <a:srgbClr val="000000"/>
                  </a:solidFill>
                  <a:latin typeface="Menlo Regular"/>
                  <a:ea typeface="Menlo Regular"/>
                  <a:cs typeface="Menlo Regular"/>
                  <a:sym typeface="Menlo Regular"/>
                </a:defRPr>
              </a:pPr>
              <a:r>
                <a:t>[default32]&gt; search whether it is better to live or die</a:t>
              </a:r>
            </a:p>
            <a:p>
              <a:pPr>
                <a:tabLst>
                  <a:tab pos="139700" algn="l"/>
                  <a:tab pos="292100" algn="l"/>
                  <a:tab pos="444500" algn="l"/>
                  <a:tab pos="596900" algn="l"/>
                  <a:tab pos="736600" algn="l"/>
                  <a:tab pos="889000" algn="l"/>
                  <a:tab pos="1041400" algn="l"/>
                  <a:tab pos="1193800" algn="l"/>
                  <a:tab pos="1333500" algn="l"/>
                  <a:tab pos="1485900" algn="l"/>
                  <a:tab pos="1638300" algn="l"/>
                  <a:tab pos="1790700" algn="l"/>
                </a:tabLst>
                <a:defRPr sz="756">
                  <a:solidFill>
                    <a:srgbClr val="C9C9C9"/>
                  </a:solidFill>
                  <a:latin typeface="Menlo Regular"/>
                  <a:ea typeface="Menlo Regular"/>
                  <a:cs typeface="Menlo Regular"/>
                  <a:sym typeface="Menlo Regular"/>
                </a:defRPr>
              </a:pPr>
              <a:r>
                <a:rPr>
                  <a:solidFill>
                    <a:srgbClr val="000000"/>
                  </a:solidFill>
                </a:rPr>
                <a:t> - [score=</a:t>
              </a:r>
              <a:r>
                <a:rPr>
                  <a:solidFill>
                    <a:srgbClr val="38C1FF"/>
                  </a:solidFill>
                </a:rPr>
                <a:t>0.848796</a:t>
              </a:r>
              <a:r>
                <a:rPr>
                  <a:solidFill>
                    <a:srgbClr val="000000"/>
                  </a:solidFill>
                </a:rPr>
                <a:t>, sid=</a:t>
              </a:r>
              <a:r>
                <a:rPr>
                  <a:solidFill>
                    <a:srgbClr val="67FF16"/>
                  </a:solidFill>
                </a:rPr>
                <a:t>793</a:t>
              </a:r>
              <a:r>
                <a:rPr>
                  <a:solidFill>
                    <a:srgbClr val="000000"/>
                  </a:solidFill>
                </a:rPr>
                <a:t>, label=</a:t>
              </a:r>
              <a:r>
                <a:rPr>
                  <a:solidFill>
                    <a:srgbClr val="FF981F"/>
                  </a:solidFill>
                </a:rPr>
                <a:t>792</a:t>
              </a:r>
              <a:r>
                <a:rPr>
                  <a:solidFill>
                    <a:srgbClr val="000000"/>
                  </a:solidFill>
                </a:rPr>
                <a:t>, tokens=[0,28]] </a:t>
              </a:r>
              <a:r>
                <a:t>Shakespeare's Hamlet pondered whether to be or not to be, that is the question in the most famous soliloquy in English literature examining existence, suffering, and mortality itself.</a:t>
              </a:r>
              <a:endParaRPr>
                <a:solidFill>
                  <a:srgbClr val="000000"/>
                </a:solidFill>
              </a:endParaRPr>
            </a:p>
            <a:p>
              <a:pPr>
                <a:tabLst>
                  <a:tab pos="139700" algn="l"/>
                  <a:tab pos="292100" algn="l"/>
                  <a:tab pos="444500" algn="l"/>
                  <a:tab pos="596900" algn="l"/>
                  <a:tab pos="736600" algn="l"/>
                  <a:tab pos="889000" algn="l"/>
                  <a:tab pos="1041400" algn="l"/>
                  <a:tab pos="1193800" algn="l"/>
                  <a:tab pos="1333500" algn="l"/>
                  <a:tab pos="1485900" algn="l"/>
                  <a:tab pos="1638300" algn="l"/>
                  <a:tab pos="1790700" algn="l"/>
                </a:tabLst>
                <a:defRPr sz="756">
                  <a:solidFill>
                    <a:srgbClr val="C9C9C9"/>
                  </a:solidFill>
                  <a:latin typeface="Menlo Regular"/>
                  <a:ea typeface="Menlo Regular"/>
                  <a:cs typeface="Menlo Regular"/>
                  <a:sym typeface="Menlo Regular"/>
                </a:defRPr>
              </a:pPr>
              <a:r>
                <a:rPr>
                  <a:solidFill>
                    <a:srgbClr val="000000"/>
                  </a:solidFill>
                </a:rPr>
                <a:t> - [score=</a:t>
              </a:r>
              <a:r>
                <a:rPr>
                  <a:solidFill>
                    <a:srgbClr val="38C1FF"/>
                  </a:solidFill>
                </a:rPr>
                <a:t>0.828010</a:t>
              </a:r>
              <a:r>
                <a:rPr>
                  <a:solidFill>
                    <a:srgbClr val="000000"/>
                  </a:solidFill>
                </a:rPr>
                <a:t>, sid=</a:t>
              </a:r>
              <a:r>
                <a:rPr>
                  <a:solidFill>
                    <a:srgbClr val="67FF16"/>
                  </a:solidFill>
                </a:rPr>
                <a:t>769</a:t>
              </a:r>
              <a:r>
                <a:rPr>
                  <a:solidFill>
                    <a:srgbClr val="000000"/>
                  </a:solidFill>
                </a:rPr>
                <a:t>, label=</a:t>
              </a:r>
              <a:r>
                <a:rPr>
                  <a:solidFill>
                    <a:srgbClr val="FF981F"/>
                  </a:solidFill>
                </a:rPr>
                <a:t>768</a:t>
              </a:r>
              <a:r>
                <a:rPr>
                  <a:solidFill>
                    <a:srgbClr val="000000"/>
                  </a:solidFill>
                </a:rPr>
                <a:t>, tokens=[0,24]] </a:t>
              </a:r>
              <a:r>
                <a:t>Socrates declared that the unexamined life is not worth living, emphasizing the importance of self-reflection and philosophical inquiry in achieving a meaningful human existence.</a:t>
              </a:r>
              <a:endParaRPr>
                <a:solidFill>
                  <a:srgbClr val="000000"/>
                </a:solidFill>
              </a:endParaRPr>
            </a:p>
            <a:p>
              <a:pPr>
                <a:tabLst>
                  <a:tab pos="139700" algn="l"/>
                  <a:tab pos="292100" algn="l"/>
                  <a:tab pos="444500" algn="l"/>
                  <a:tab pos="596900" algn="l"/>
                  <a:tab pos="736600" algn="l"/>
                  <a:tab pos="889000" algn="l"/>
                  <a:tab pos="1041400" algn="l"/>
                  <a:tab pos="1193800" algn="l"/>
                  <a:tab pos="1333500" algn="l"/>
                  <a:tab pos="1485900" algn="l"/>
                  <a:tab pos="1638300" algn="l"/>
                  <a:tab pos="1790700" algn="l"/>
                </a:tabLst>
                <a:defRPr sz="756">
                  <a:solidFill>
                    <a:srgbClr val="C9C9C9"/>
                  </a:solidFill>
                  <a:latin typeface="Menlo Regular"/>
                  <a:ea typeface="Menlo Regular"/>
                  <a:cs typeface="Menlo Regular"/>
                  <a:sym typeface="Menlo Regular"/>
                </a:defRPr>
              </a:pPr>
              <a:r>
                <a:rPr>
                  <a:solidFill>
                    <a:srgbClr val="000000"/>
                  </a:solidFill>
                </a:rPr>
                <a:t> - [score=</a:t>
              </a:r>
              <a:r>
                <a:rPr>
                  <a:solidFill>
                    <a:srgbClr val="38C1FF"/>
                  </a:solidFill>
                </a:rPr>
                <a:t>0.827503</a:t>
              </a:r>
              <a:r>
                <a:rPr>
                  <a:solidFill>
                    <a:srgbClr val="000000"/>
                  </a:solidFill>
                </a:rPr>
                <a:t>, sid=</a:t>
              </a:r>
              <a:r>
                <a:rPr>
                  <a:solidFill>
                    <a:srgbClr val="67FF16"/>
                  </a:solidFill>
                </a:rPr>
                <a:t>384</a:t>
              </a:r>
              <a:r>
                <a:rPr>
                  <a:solidFill>
                    <a:srgbClr val="000000"/>
                  </a:solidFill>
                </a:rPr>
                <a:t>, label=</a:t>
              </a:r>
              <a:r>
                <a:rPr>
                  <a:solidFill>
                    <a:srgbClr val="FF981F"/>
                  </a:solidFill>
                </a:rPr>
                <a:t>383</a:t>
              </a:r>
              <a:r>
                <a:rPr>
                  <a:solidFill>
                    <a:srgbClr val="000000"/>
                  </a:solidFill>
                </a:rPr>
                <a:t>, tokens=[0,7]] </a:t>
              </a:r>
              <a:r>
                <a:t>Better safe than sorry in dangerous situations.</a:t>
              </a:r>
              <a:endParaRPr>
                <a:solidFill>
                  <a:srgbClr val="000000"/>
                </a:solidFill>
              </a:endParaRPr>
            </a:p>
            <a:p>
              <a:pPr>
                <a:tabLst>
                  <a:tab pos="139700" algn="l"/>
                  <a:tab pos="292100" algn="l"/>
                  <a:tab pos="444500" algn="l"/>
                  <a:tab pos="596900" algn="l"/>
                  <a:tab pos="736600" algn="l"/>
                  <a:tab pos="889000" algn="l"/>
                  <a:tab pos="1041400" algn="l"/>
                  <a:tab pos="1193800" algn="l"/>
                  <a:tab pos="1333500" algn="l"/>
                  <a:tab pos="1485900" algn="l"/>
                  <a:tab pos="1638300" algn="l"/>
                  <a:tab pos="1790700" algn="l"/>
                </a:tabLst>
                <a:defRPr sz="756">
                  <a:solidFill>
                    <a:srgbClr val="C9C9C9"/>
                  </a:solidFill>
                  <a:latin typeface="Menlo Regular"/>
                  <a:ea typeface="Menlo Regular"/>
                  <a:cs typeface="Menlo Regular"/>
                  <a:sym typeface="Menlo Regular"/>
                </a:defRPr>
              </a:pPr>
              <a:r>
                <a:rPr>
                  <a:solidFill>
                    <a:srgbClr val="000000"/>
                  </a:solidFill>
                </a:rPr>
                <a:t> - [score=</a:t>
              </a:r>
              <a:r>
                <a:rPr>
                  <a:solidFill>
                    <a:srgbClr val="38C1FF"/>
                  </a:solidFill>
                </a:rPr>
                <a:t>0.815082</a:t>
              </a:r>
              <a:r>
                <a:rPr>
                  <a:solidFill>
                    <a:srgbClr val="000000"/>
                  </a:solidFill>
                </a:rPr>
                <a:t>, sid=</a:t>
              </a:r>
              <a:r>
                <a:rPr>
                  <a:solidFill>
                    <a:srgbClr val="67FF16"/>
                  </a:solidFill>
                </a:rPr>
                <a:t>795</a:t>
              </a:r>
              <a:r>
                <a:rPr>
                  <a:solidFill>
                    <a:srgbClr val="000000"/>
                  </a:solidFill>
                </a:rPr>
                <a:t>, label=</a:t>
              </a:r>
              <a:r>
                <a:rPr>
                  <a:solidFill>
                    <a:srgbClr val="FF981F"/>
                  </a:solidFill>
                </a:rPr>
                <a:t>794</a:t>
              </a:r>
              <a:r>
                <a:rPr>
                  <a:solidFill>
                    <a:srgbClr val="000000"/>
                  </a:solidFill>
                </a:rPr>
                <a:t>, tokens=[0,30]] </a:t>
              </a:r>
              <a:r>
                <a:t>Henry David Thoreau advised to go confidently in the direction of your dreams and live the life you have imagined, encouraging individuals to pursue authentic existence over conformity and convention.</a:t>
              </a:r>
              <a:endParaRPr>
                <a:solidFill>
                  <a:srgbClr val="000000"/>
                </a:solidFill>
              </a:endParaRPr>
            </a:p>
            <a:p>
              <a:pPr>
                <a:tabLst>
                  <a:tab pos="139700" algn="l"/>
                  <a:tab pos="292100" algn="l"/>
                  <a:tab pos="444500" algn="l"/>
                  <a:tab pos="596900" algn="l"/>
                  <a:tab pos="736600" algn="l"/>
                  <a:tab pos="889000" algn="l"/>
                  <a:tab pos="1041400" algn="l"/>
                  <a:tab pos="1193800" algn="l"/>
                  <a:tab pos="1333500" algn="l"/>
                  <a:tab pos="1485900" algn="l"/>
                  <a:tab pos="1638300" algn="l"/>
                  <a:tab pos="1790700" algn="l"/>
                </a:tabLst>
                <a:defRPr sz="756">
                  <a:solidFill>
                    <a:srgbClr val="C9C9C9"/>
                  </a:solidFill>
                  <a:latin typeface="Menlo Regular"/>
                  <a:ea typeface="Menlo Regular"/>
                  <a:cs typeface="Menlo Regular"/>
                  <a:sym typeface="Menlo Regular"/>
                </a:defRPr>
              </a:pPr>
              <a:r>
                <a:rPr>
                  <a:solidFill>
                    <a:srgbClr val="000000"/>
                  </a:solidFill>
                </a:rPr>
                <a:t> - [score=</a:t>
              </a:r>
              <a:r>
                <a:rPr>
                  <a:solidFill>
                    <a:srgbClr val="38C1FF"/>
                  </a:solidFill>
                </a:rPr>
                <a:t>0.811914</a:t>
              </a:r>
              <a:r>
                <a:rPr>
                  <a:solidFill>
                    <a:srgbClr val="000000"/>
                  </a:solidFill>
                </a:rPr>
                <a:t>, sid=</a:t>
              </a:r>
              <a:r>
                <a:rPr>
                  <a:solidFill>
                    <a:srgbClr val="67FF16"/>
                  </a:solidFill>
                </a:rPr>
                <a:t>773</a:t>
              </a:r>
              <a:r>
                <a:rPr>
                  <a:solidFill>
                    <a:srgbClr val="000000"/>
                  </a:solidFill>
                </a:rPr>
                <a:t>, label=</a:t>
              </a:r>
              <a:r>
                <a:rPr>
                  <a:solidFill>
                    <a:srgbClr val="FF981F"/>
                  </a:solidFill>
                </a:rPr>
                <a:t>772</a:t>
              </a:r>
              <a:r>
                <a:rPr>
                  <a:solidFill>
                    <a:srgbClr val="000000"/>
                  </a:solidFill>
                </a:rPr>
                <a:t>, tokens=[0,27]] </a:t>
              </a:r>
              <a:r>
                <a:t>Benjamin Franklin observed that in this world nothing can be said to be certain except death and taxes, wryly commenting on life's unavoidable realities with characteristic wit.</a:t>
              </a:r>
              <a:endParaRPr>
                <a:solidFill>
                  <a:srgbClr val="000000"/>
                </a:solidFill>
              </a:endParaRPr>
            </a:p>
            <a:p>
              <a:pPr>
                <a:tabLst>
                  <a:tab pos="139700" algn="l"/>
                  <a:tab pos="292100" algn="l"/>
                  <a:tab pos="444500" algn="l"/>
                  <a:tab pos="596900" algn="l"/>
                  <a:tab pos="736600" algn="l"/>
                  <a:tab pos="889000" algn="l"/>
                  <a:tab pos="1041400" algn="l"/>
                  <a:tab pos="1193800" algn="l"/>
                  <a:tab pos="1333500" algn="l"/>
                  <a:tab pos="1485900" algn="l"/>
                  <a:tab pos="1638300" algn="l"/>
                  <a:tab pos="1790700" algn="l"/>
                </a:tabLst>
                <a:defRPr sz="756">
                  <a:solidFill>
                    <a:srgbClr val="000000"/>
                  </a:solidFill>
                  <a:latin typeface="Menlo Regular"/>
                  <a:ea typeface="Menlo Regular"/>
                  <a:cs typeface="Menlo Regular"/>
                  <a:sym typeface="Menlo Regular"/>
                </a:defRPr>
              </a:pPr>
              <a:r>
                <a:t>[default32]&gt; </a:t>
              </a:r>
            </a:p>
          </p:txBody>
        </p:sp>
      </p:grpSp>
      <p:sp>
        <p:nvSpPr>
          <p:cNvPr id="336" name="Text 6"/>
          <p:cNvSpPr txBox="1"/>
          <p:nvPr/>
        </p:nvSpPr>
        <p:spPr>
          <a:xfrm>
            <a:off x="812800" y="5788974"/>
            <a:ext cx="9810750" cy="33908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sz="1900">
                <a:solidFill>
                  <a:schemeClr val="accent2"/>
                </a:solidFill>
              </a:defRPr>
            </a:lvl1pPr>
          </a:lstStyle>
          <a:p>
            <a:pPr/>
            <a:r>
              <a:t>Both answers are spans in the same address space, so you can intersect them.</a:t>
            </a:r>
          </a:p>
        </p:txBody>
      </p:sp>
    </p:spTree>
  </p:cSld>
  <p:clrMapOvr>
    <a:masterClrMapping/>
  </p:clrMapOvr>
  <mc:AlternateContent xmlns:mc="http://schemas.openxmlformats.org/markup-compatibility/2006">
    <mc:Choice xmlns:p14="http://schemas.microsoft.com/office/powerpoint/2010/main" Requires="p14">
      <p:transition spd="fast" advClick="1" p14:dur="500">
        <p:pull dir="l"/>
      </p:transition>
    </mc:Choice>
    <mc:Fallback>
      <p:transition spd="fast">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pic>
        <p:nvPicPr>
          <p:cNvPr id="340" name="Image" descr="Image"/>
          <p:cNvPicPr>
            <a:picLocks noChangeAspect="1"/>
          </p:cNvPicPr>
          <p:nvPr/>
        </p:nvPicPr>
        <p:blipFill>
          <a:blip r:embed="rId2">
            <a:extLst/>
          </a:blip>
          <a:stretch>
            <a:fillRect/>
          </a:stretch>
        </p:blipFill>
        <p:spPr>
          <a:xfrm>
            <a:off x="1219200" y="177800"/>
            <a:ext cx="9753600" cy="6502400"/>
          </a:xfrm>
          <a:prstGeom prst="rect">
            <a:avLst/>
          </a:prstGeom>
          <a:ln w="12700">
            <a:miter lim="400000"/>
          </a:ln>
        </p:spPr>
      </p:pic>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pic>
        <p:nvPicPr>
          <p:cNvPr id="342" name="Image" descr="Image"/>
          <p:cNvPicPr>
            <a:picLocks noChangeAspect="1"/>
          </p:cNvPicPr>
          <p:nvPr/>
        </p:nvPicPr>
        <p:blipFill>
          <a:blip r:embed="rId2">
            <a:extLst/>
          </a:blip>
          <a:stretch>
            <a:fillRect/>
          </a:stretch>
        </p:blipFill>
        <p:spPr>
          <a:xfrm>
            <a:off x="1219200" y="177800"/>
            <a:ext cx="9753600" cy="6502400"/>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500">
        <p:pull dir="l"/>
      </p:transition>
    </mc:Choice>
    <mc:Fallback>
      <p:transition spd="fast">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pic>
        <p:nvPicPr>
          <p:cNvPr id="344" name="Image" descr="Image"/>
          <p:cNvPicPr>
            <a:picLocks noChangeAspect="1"/>
          </p:cNvPicPr>
          <p:nvPr/>
        </p:nvPicPr>
        <p:blipFill>
          <a:blip r:embed="rId2">
            <a:extLst/>
          </a:blip>
          <a:stretch>
            <a:fillRect/>
          </a:stretch>
        </p:blipFill>
        <p:spPr>
          <a:xfrm>
            <a:off x="1219200" y="177800"/>
            <a:ext cx="9753600" cy="6502400"/>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500">
        <p:pull dir="l"/>
      </p:transition>
    </mc:Choice>
    <mc:Fallback>
      <p:transition spd="fast">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pic>
        <p:nvPicPr>
          <p:cNvPr id="346" name="Image" descr="Image"/>
          <p:cNvPicPr>
            <a:picLocks noChangeAspect="1"/>
          </p:cNvPicPr>
          <p:nvPr/>
        </p:nvPicPr>
        <p:blipFill>
          <a:blip r:embed="rId2">
            <a:extLst/>
          </a:blip>
          <a:stretch>
            <a:fillRect/>
          </a:stretch>
        </p:blipFill>
        <p:spPr>
          <a:xfrm>
            <a:off x="1219200" y="177800"/>
            <a:ext cx="9753600" cy="6502400"/>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500">
        <p:pull dir="l"/>
      </p:transition>
    </mc:Choice>
    <mc:Fallback>
      <p:transition spd="fast">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bg>
      <p:bgPr>
        <a:solidFill>
          <a:srgbClr val="000000"/>
        </a:solidFill>
      </p:bgPr>
    </p:bg>
    <p:spTree>
      <p:nvGrpSpPr>
        <p:cNvPr id="1" name=""/>
        <p:cNvGrpSpPr/>
        <p:nvPr/>
      </p:nvGrpSpPr>
      <p:grpSpPr>
        <a:xfrm>
          <a:off x="0" y="0"/>
          <a:ext cx="0" cy="0"/>
          <a:chOff x="0" y="0"/>
          <a:chExt cx="0" cy="0"/>
        </a:xfrm>
      </p:grpSpPr>
      <p:sp>
        <p:nvSpPr>
          <p:cNvPr id="348" name="Speed matters because RAG pipelines are dominated by retrieval latency."/>
          <p:cNvSpPr txBox="1"/>
          <p:nvPr>
            <p:ph type="body" sz="quarter" idx="1"/>
          </p:nvPr>
        </p:nvSpPr>
        <p:spPr>
          <a:prstGeom prst="rect">
            <a:avLst/>
          </a:prstGeom>
        </p:spPr>
        <p:txBody>
          <a:bodyPr/>
          <a:lstStyle/>
          <a:p>
            <a:pPr defTabSz="383857">
              <a:defRPr sz="2400" u="sng">
                <a:solidFill>
                  <a:srgbClr val="FFFFFF"/>
                </a:solidFill>
                <a:latin typeface="Phosphate Inline"/>
                <a:ea typeface="Phosphate Inline"/>
                <a:cs typeface="Phosphate Inline"/>
                <a:sym typeface="Phosphate Inline"/>
              </a:defRPr>
            </a:pPr>
            <a:r>
              <a:t>Speed</a:t>
            </a:r>
            <a:r>
              <a:rPr u="none"/>
              <a:t> </a:t>
            </a:r>
            <a:r>
              <a:t>matters</a:t>
            </a:r>
            <a:r>
              <a:rPr u="none">
                <a:latin typeface="Produkt Extralight"/>
                <a:ea typeface="Produkt Extralight"/>
                <a:cs typeface="Produkt Extralight"/>
                <a:sym typeface="Produkt Extralight"/>
              </a:rPr>
              <a:t> because RAG pipelines are dominated by retrieval latency.</a:t>
            </a:r>
          </a:p>
        </p:txBody>
      </p:sp>
      <p:sp>
        <p:nvSpPr>
          <p:cNvPr id="349" name="Vector search performance"/>
          <p:cNvSpPr txBox="1"/>
          <p:nvPr>
            <p:ph type="title"/>
          </p:nvPr>
        </p:nvSpPr>
        <p:spPr>
          <a:xfrm>
            <a:off x="603250" y="317677"/>
            <a:ext cx="10985500" cy="844551"/>
          </a:xfrm>
          <a:prstGeom prst="rect">
            <a:avLst/>
          </a:prstGeom>
        </p:spPr>
        <p:txBody>
          <a:bodyPr/>
          <a:lstStyle>
            <a:lvl1pPr defTabSz="1072895">
              <a:defRPr sz="4400">
                <a:solidFill>
                  <a:srgbClr val="FFFFFF"/>
                </a:solidFill>
                <a:latin typeface="EB Garamond"/>
                <a:ea typeface="EB Garamond"/>
                <a:cs typeface="EB Garamond"/>
                <a:sym typeface="EB Garamond"/>
              </a:defRPr>
            </a:lvl1pPr>
          </a:lstStyle>
          <a:p>
            <a:pPr/>
            <a:r>
              <a:t>Vector search performance</a:t>
            </a:r>
          </a:p>
        </p:txBody>
      </p:sp>
      <p:sp>
        <p:nvSpPr>
          <p:cNvPr id="350" name="Model Name: MacBook Pro…"/>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marL="949642" indent="-949642" defTabSz="225107">
              <a:spcBef>
                <a:spcPts val="0"/>
              </a:spcBef>
              <a:buSzTx/>
              <a:buNone/>
              <a:tabLst>
                <a:tab pos="1892300" algn="l"/>
              </a:tabLst>
              <a:defRPr sz="2800">
                <a:solidFill>
                  <a:srgbClr val="FFFFFF"/>
                </a:solidFill>
                <a:latin typeface="American Typewriter"/>
                <a:ea typeface="American Typewriter"/>
                <a:cs typeface="American Typewriter"/>
                <a:sym typeface="American Typewriter"/>
              </a:defRPr>
            </a:pPr>
            <a:r>
              <a:t> Model Name:	MacBook Pro</a:t>
            </a:r>
          </a:p>
          <a:p>
            <a:pPr marL="949642" indent="-949642" defTabSz="225107">
              <a:spcBef>
                <a:spcPts val="0"/>
              </a:spcBef>
              <a:buSzTx/>
              <a:buNone/>
              <a:tabLst>
                <a:tab pos="1892300" algn="l"/>
              </a:tabLst>
              <a:defRPr sz="2800">
                <a:solidFill>
                  <a:srgbClr val="FFFFFF"/>
                </a:solidFill>
                <a:latin typeface="American Typewriter"/>
                <a:ea typeface="American Typewriter"/>
                <a:cs typeface="American Typewriter"/>
                <a:sym typeface="American Typewriter"/>
              </a:defRPr>
            </a:pPr>
            <a:r>
              <a:t> Model Identifier:	MacBookPro18,1</a:t>
            </a:r>
          </a:p>
          <a:p>
            <a:pPr marL="949642" indent="-949642" defTabSz="225107">
              <a:spcBef>
                <a:spcPts val="0"/>
              </a:spcBef>
              <a:buSzTx/>
              <a:buNone/>
              <a:tabLst>
                <a:tab pos="1892300" algn="l"/>
              </a:tabLst>
              <a:defRPr sz="2800">
                <a:solidFill>
                  <a:srgbClr val="FFFFFF"/>
                </a:solidFill>
                <a:latin typeface="American Typewriter"/>
                <a:ea typeface="American Typewriter"/>
                <a:cs typeface="American Typewriter"/>
                <a:sym typeface="American Typewriter"/>
              </a:defRPr>
            </a:pPr>
            <a:r>
              <a:t> Model Number:	MK183D/A</a:t>
            </a:r>
          </a:p>
          <a:p>
            <a:pPr marL="949642" indent="-949642" defTabSz="225107">
              <a:spcBef>
                <a:spcPts val="0"/>
              </a:spcBef>
              <a:buSzTx/>
              <a:buNone/>
              <a:tabLst>
                <a:tab pos="1892300" algn="l"/>
              </a:tabLst>
              <a:defRPr sz="2800">
                <a:solidFill>
                  <a:srgbClr val="FFFFFF"/>
                </a:solidFill>
                <a:latin typeface="American Typewriter"/>
                <a:ea typeface="American Typewriter"/>
                <a:cs typeface="American Typewriter"/>
                <a:sym typeface="American Typewriter"/>
              </a:defRPr>
            </a:pPr>
            <a:r>
              <a:t> Chip:	Apple M1 Pro</a:t>
            </a:r>
          </a:p>
          <a:p>
            <a:pPr marL="949642" indent="-949642" defTabSz="225107">
              <a:spcBef>
                <a:spcPts val="0"/>
              </a:spcBef>
              <a:buSzTx/>
              <a:buNone/>
              <a:tabLst>
                <a:tab pos="1892300" algn="l"/>
              </a:tabLst>
              <a:defRPr sz="2800">
                <a:solidFill>
                  <a:srgbClr val="FFFFFF"/>
                </a:solidFill>
                <a:latin typeface="American Typewriter"/>
                <a:ea typeface="American Typewriter"/>
                <a:cs typeface="American Typewriter"/>
                <a:sym typeface="American Typewriter"/>
              </a:defRPr>
            </a:pPr>
            <a:r>
              <a:t> Total Number of Cores:	10 (8 performance and 2 efficiency)</a:t>
            </a:r>
          </a:p>
          <a:p>
            <a:pPr marL="949642" indent="-949642" defTabSz="225107">
              <a:spcBef>
                <a:spcPts val="0"/>
              </a:spcBef>
              <a:buSzTx/>
              <a:buNone/>
              <a:tabLst>
                <a:tab pos="1892300" algn="l"/>
              </a:tabLst>
              <a:defRPr sz="2800">
                <a:solidFill>
                  <a:srgbClr val="FFFFFF"/>
                </a:solidFill>
                <a:latin typeface="American Typewriter"/>
                <a:ea typeface="American Typewriter"/>
                <a:cs typeface="American Typewriter"/>
                <a:sym typeface="American Typewriter"/>
              </a:defRPr>
            </a:pPr>
            <a:r>
              <a:t> Memory:	16 GB</a:t>
            </a:r>
          </a:p>
          <a:p>
            <a:pPr marL="949642" indent="-949642" defTabSz="225107">
              <a:spcBef>
                <a:spcPts val="0"/>
              </a:spcBef>
              <a:buSzTx/>
              <a:buNone/>
              <a:tabLst>
                <a:tab pos="1892300" algn="l"/>
              </a:tabLst>
              <a:defRPr sz="2800">
                <a:solidFill>
                  <a:srgbClr val="FFFFFF"/>
                </a:solidFill>
                <a:latin typeface="American Typewriter"/>
                <a:ea typeface="American Typewriter"/>
                <a:cs typeface="American Typewriter"/>
                <a:sym typeface="American Typewriter"/>
              </a:defRPr>
            </a:pPr>
            <a:r>
              <a:t> System Firmware Version:	11881.140.96</a:t>
            </a:r>
            <a:endParaRPr sz="500"/>
          </a:p>
          <a:p>
            <a:pPr marL="949642" indent="-949642" defTabSz="225107">
              <a:spcBef>
                <a:spcPts val="0"/>
              </a:spcBef>
              <a:buSzTx/>
              <a:buNone/>
              <a:tabLst>
                <a:tab pos="1892300" algn="l"/>
              </a:tabLst>
              <a:defRPr sz="500">
                <a:latin typeface="American Typewriter"/>
                <a:ea typeface="American Typewriter"/>
                <a:cs typeface="American Typewriter"/>
                <a:sym typeface="American Typewriter"/>
              </a:defRPr>
            </a:pPr>
            <a:r>
              <a:t>  OS Loader Version:	11881.140.96</a:t>
            </a:r>
            <a:endParaRPr>
              <a:latin typeface="Carlito"/>
              <a:ea typeface="Carlito"/>
              <a:cs typeface="Carlito"/>
              <a:sym typeface="Carlito"/>
            </a:endParaRPr>
          </a:p>
          <a:p>
            <a:pPr marL="949642" indent="-949642" defTabSz="225107">
              <a:spcBef>
                <a:spcPts val="0"/>
              </a:spcBef>
              <a:buSzTx/>
              <a:buNone/>
              <a:tabLst>
                <a:tab pos="1892300" algn="l"/>
              </a:tabLst>
              <a:defRPr sz="500">
                <a:latin typeface="Helvetica Neue"/>
                <a:ea typeface="Helvetica Neue"/>
                <a:cs typeface="Helvetica Neue"/>
                <a:sym typeface="Helvetica Neue"/>
              </a:defRPr>
            </a:pPr>
            <a:r>
              <a:t> </a:t>
            </a:r>
          </a:p>
        </p:txBody>
      </p:sp>
    </p:spTree>
  </p:cSld>
  <p:clrMapOvr>
    <a:masterClrMapping/>
  </p:clrMapOvr>
  <mc:AlternateContent xmlns:mc="http://schemas.openxmlformats.org/markup-compatibility/2006">
    <mc:Choice xmlns:p14="http://schemas.microsoft.com/office/powerpoint/2010/main" Requires="p14">
      <p:transition spd="fast" advClick="1" p14:dur="500">
        <p:pull dir="l"/>
      </p:transition>
    </mc:Choice>
    <mc:Fallback>
      <p:transition spd="fast">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352" name="Speed matters because RAG pipelines are dominated by retrieval latency."/>
          <p:cNvSpPr txBox="1"/>
          <p:nvPr>
            <p:ph type="body" sz="quarter" idx="1"/>
          </p:nvPr>
        </p:nvSpPr>
        <p:spPr>
          <a:prstGeom prst="rect">
            <a:avLst/>
          </a:prstGeom>
        </p:spPr>
        <p:txBody>
          <a:bodyPr/>
          <a:lstStyle>
            <a:lvl1pPr defTabSz="383857">
              <a:defRPr sz="2400" u="sng">
                <a:solidFill>
                  <a:srgbClr val="000000"/>
                </a:solidFill>
                <a:latin typeface="EB Garamond"/>
                <a:ea typeface="EB Garamond"/>
                <a:cs typeface="EB Garamond"/>
                <a:sym typeface="EB Garamond"/>
              </a:defRPr>
            </a:lvl1pPr>
          </a:lstStyle>
          <a:p>
            <a:pPr/>
            <a:r>
              <a:t>Measured on the M1Pro (so the search time itself is marginal)</a:t>
            </a:r>
          </a:p>
        </p:txBody>
      </p:sp>
      <p:sp>
        <p:nvSpPr>
          <p:cNvPr id="353" name="Vector search performance"/>
          <p:cNvSpPr txBox="1"/>
          <p:nvPr>
            <p:ph type="title"/>
          </p:nvPr>
        </p:nvSpPr>
        <p:spPr>
          <a:prstGeom prst="rect">
            <a:avLst/>
          </a:prstGeom>
        </p:spPr>
        <p:txBody>
          <a:bodyPr/>
          <a:lstStyle>
            <a:lvl1pPr defTabSz="1072895">
              <a:defRPr sz="4400">
                <a:solidFill>
                  <a:srgbClr val="000000"/>
                </a:solidFill>
                <a:latin typeface="Marker Felt"/>
                <a:ea typeface="Marker Felt"/>
                <a:cs typeface="Marker Felt"/>
                <a:sym typeface="Marker Felt"/>
              </a:defRPr>
            </a:lvl1pPr>
          </a:lstStyle>
          <a:p>
            <a:pPr/>
            <a:r>
              <a:t>Vector search performance</a:t>
            </a:r>
          </a:p>
        </p:txBody>
      </p:sp>
      <p:sp>
        <p:nvSpPr>
          <p:cNvPr id="354" name="Slide bullet text"/>
          <p:cNvSpPr txBox="1"/>
          <p:nvPr>
            <p:ph type="body" idx="21"/>
          </p:nvPr>
        </p:nvSpPr>
        <p:spPr>
          <a:prstGeom prst="rect">
            <a:avLst/>
          </a:prstGeom>
        </p:spPr>
        <p:txBody>
          <a:bodyPr/>
          <a:lstStyle/>
          <a:p>
            <a:pPr marL="0" indent="0" defTabSz="225107">
              <a:spcBef>
                <a:spcPts val="700"/>
              </a:spcBef>
              <a:buSzTx/>
              <a:buNone/>
              <a:defRPr sz="600">
                <a:latin typeface="Carlito"/>
                <a:ea typeface="Carlito"/>
                <a:cs typeface="Carlito"/>
                <a:sym typeface="Carlito"/>
              </a:defRPr>
            </a:pPr>
          </a:p>
        </p:txBody>
      </p:sp>
      <p:graphicFrame>
        <p:nvGraphicFramePr>
          <p:cNvPr id="355" name="Table 1"/>
          <p:cNvGraphicFramePr/>
          <p:nvPr/>
        </p:nvGraphicFramePr>
        <p:xfrm>
          <a:off x="1004428" y="2127426"/>
          <a:ext cx="10384102" cy="4121656"/>
        </p:xfrm>
        <a:graphic xmlns:a="http://schemas.openxmlformats.org/drawingml/2006/main">
          <a:graphicData uri="http://schemas.openxmlformats.org/drawingml/2006/table">
            <a:tbl>
              <a:tblPr firstCol="1" firstRow="1" lastCol="0" lastRow="0" bandCol="0" bandRow="0" rtl="0">
                <a:tableStyleId>{4C3C2611-4C71-4FC5-86AE-919BDF0F9419}</a:tableStyleId>
              </a:tblPr>
              <a:tblGrid>
                <a:gridCol w="2769216"/>
                <a:gridCol w="2731981"/>
                <a:gridCol w="4879729"/>
              </a:tblGrid>
              <a:tr h="686413">
                <a:tc>
                  <a:txBody>
                    <a:bodyPr/>
                    <a:lstStyle/>
                    <a:p>
                      <a:pPr algn="ctr" defTabSz="225107">
                        <a:spcBef>
                          <a:spcPts val="700"/>
                        </a:spcBef>
                        <a:defRPr b="0" sz="1800">
                          <a:solidFill>
                            <a:srgbClr val="000000"/>
                          </a:solidFill>
                        </a:defRPr>
                      </a:pPr>
                      <a:r>
                        <a:rPr b="1" sz="2000">
                          <a:solidFill>
                            <a:srgbClr val="535860"/>
                          </a:solidFill>
                          <a:latin typeface="American Typewriter"/>
                          <a:ea typeface="American Typewriter"/>
                          <a:cs typeface="American Typewriter"/>
                          <a:sym typeface="American Typewriter"/>
                        </a:rPr>
                        <a:t>System</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12700">
                      <a:solidFill>
                        <a:srgbClr val="000000"/>
                      </a:solidFill>
                      <a:miter lim="400000"/>
                    </a:lnB>
                    <a:solidFill>
                      <a:srgbClr val="FFFFFF"/>
                    </a:solidFill>
                  </a:tcPr>
                </a:tc>
                <a:tc>
                  <a:txBody>
                    <a:bodyPr/>
                    <a:lstStyle/>
                    <a:p>
                      <a:pPr algn="ctr" defTabSz="457200">
                        <a:defRPr b="0" sz="1800">
                          <a:solidFill>
                            <a:srgbClr val="000000"/>
                          </a:solidFill>
                        </a:defRPr>
                      </a:pPr>
                      <a:r>
                        <a:rPr b="1" sz="2000">
                          <a:latin typeface="American Typewriter"/>
                          <a:ea typeface="American Typewriter"/>
                          <a:cs typeface="American Typewriter"/>
                          <a:sym typeface="American Typewriter"/>
                        </a:rPr>
                        <a:t>Approx QPS (768d)</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12700">
                      <a:solidFill>
                        <a:srgbClr val="000000"/>
                      </a:solidFill>
                      <a:miter lim="400000"/>
                    </a:lnB>
                    <a:solidFill>
                      <a:srgbClr val="FFFFFF"/>
                    </a:solidFill>
                  </a:tcPr>
                </a:tc>
                <a:tc>
                  <a:txBody>
                    <a:bodyPr/>
                    <a:lstStyle/>
                    <a:p>
                      <a:pPr algn="ctr" defTabSz="457200">
                        <a:defRPr b="0" sz="1800">
                          <a:solidFill>
                            <a:srgbClr val="000000"/>
                          </a:solidFill>
                        </a:defRPr>
                      </a:pPr>
                      <a:r>
                        <a:rPr b="1" sz="2000">
                          <a:latin typeface="American Typewriter"/>
                          <a:ea typeface="American Typewriter"/>
                          <a:cs typeface="American Typewriter"/>
                          <a:sym typeface="American Typewriter"/>
                        </a:rPr>
                        <a:t>Notes</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12700">
                      <a:solidFill>
                        <a:srgbClr val="000000"/>
                      </a:solidFill>
                      <a:miter lim="400000"/>
                    </a:lnB>
                    <a:solidFill>
                      <a:srgbClr val="FFFFFF"/>
                    </a:solidFill>
                  </a:tcPr>
                </a:tc>
              </a:tr>
              <a:tr h="686413">
                <a:tc>
                  <a:txBody>
                    <a:bodyPr/>
                    <a:lstStyle/>
                    <a:p>
                      <a:pPr algn="ctr" defTabSz="457200">
                        <a:defRPr b="0" sz="1800">
                          <a:solidFill>
                            <a:srgbClr val="000000"/>
                          </a:solidFill>
                        </a:defRPr>
                      </a:pPr>
                      <a:r>
                        <a:rPr sz="1600">
                          <a:latin typeface="Produkt Extralight"/>
                          <a:ea typeface="Produkt Extralight"/>
                          <a:cs typeface="Produkt Extralight"/>
                          <a:sym typeface="Produkt Extralight"/>
                        </a:rPr>
                        <a:t>Qdrant</a:t>
                      </a:r>
                    </a:p>
                  </a:txBody>
                  <a:tcPr marL="50800" marR="50800" marT="50800" marB="50800" anchor="ctr" anchorCtr="0" horzOverflow="overflow">
                    <a:lnL w="3175">
                      <a:solidFill>
                        <a:srgbClr val="000000"/>
                      </a:solidFill>
                      <a:miter lim="400000"/>
                    </a:lnL>
                    <a:lnR w="12700">
                      <a:solidFill>
                        <a:srgbClr val="000000"/>
                      </a:solidFill>
                      <a:miter lim="400000"/>
                    </a:lnR>
                    <a:lnT w="12700">
                      <a:solidFill>
                        <a:srgbClr val="000000"/>
                      </a:solidFill>
                      <a:miter lim="400000"/>
                    </a:lnT>
                    <a:lnB w="3175">
                      <a:solidFill>
                        <a:srgbClr val="000000"/>
                      </a:solidFill>
                      <a:miter lim="400000"/>
                    </a:lnB>
                    <a:solidFill>
                      <a:srgbClr val="FFFFFF"/>
                    </a:solidFill>
                  </a:tcPr>
                </a:tc>
                <a:tc>
                  <a:txBody>
                    <a:bodyPr/>
                    <a:lstStyle/>
                    <a:p>
                      <a:pPr algn="ctr" defTabSz="457200">
                        <a:defRPr sz="1800">
                          <a:solidFill>
                            <a:srgbClr val="000000"/>
                          </a:solidFill>
                        </a:defRPr>
                      </a:pPr>
                      <a:r>
                        <a:rPr sz="1600">
                          <a:latin typeface="Produkt Extralight"/>
                          <a:ea typeface="Produkt Extralight"/>
                          <a:cs typeface="Produkt Extralight"/>
                          <a:sym typeface="Produkt Extralight"/>
                        </a:rPr>
                        <a:t>~1k–3k</a:t>
                      </a:r>
                    </a:p>
                  </a:txBody>
                  <a:tcPr marL="50800" marR="50800" marT="50800" marB="50800" anchor="ctr" anchorCtr="0" horzOverflow="overflow">
                    <a:lnL w="12700">
                      <a:solidFill>
                        <a:srgbClr val="000000"/>
                      </a:solidFill>
                      <a:miter lim="400000"/>
                    </a:lnL>
                    <a:lnR w="3175">
                      <a:solidFill>
                        <a:srgbClr val="000000"/>
                      </a:solidFill>
                      <a:miter lim="400000"/>
                    </a:lnR>
                    <a:lnT w="12700">
                      <a:solidFill>
                        <a:srgbClr val="000000"/>
                      </a:solidFill>
                      <a:miter lim="400000"/>
                    </a:lnT>
                    <a:lnB w="3175">
                      <a:solidFill>
                        <a:srgbClr val="000000"/>
                      </a:solidFill>
                      <a:miter lim="400000"/>
                    </a:lnB>
                    <a:solidFill>
                      <a:srgbClr val="FFFFFF"/>
                    </a:solidFill>
                  </a:tcPr>
                </a:tc>
                <a:tc>
                  <a:txBody>
                    <a:bodyPr/>
                    <a:lstStyle/>
                    <a:p>
                      <a:pPr algn="ctr" defTabSz="457200">
                        <a:defRPr sz="1800">
                          <a:solidFill>
                            <a:srgbClr val="000000"/>
                          </a:solidFill>
                        </a:defRPr>
                      </a:pPr>
                      <a:r>
                        <a:rPr sz="1600">
                          <a:latin typeface="Produkt Extralight"/>
                          <a:ea typeface="Produkt Extralight"/>
                          <a:cs typeface="Produkt Extralight"/>
                          <a:sym typeface="Produkt Extralight"/>
                        </a:rPr>
                        <a:t>depends heavily on HNSW tuning</a:t>
                      </a:r>
                    </a:p>
                  </a:txBody>
                  <a:tcPr marL="50800" marR="50800" marT="50800" marB="50800" anchor="ctr" anchorCtr="0" horzOverflow="overflow">
                    <a:lnL w="3175">
                      <a:solidFill>
                        <a:srgbClr val="000000"/>
                      </a:solidFill>
                      <a:miter lim="400000"/>
                    </a:lnL>
                    <a:lnR w="3175">
                      <a:solidFill>
                        <a:srgbClr val="000000"/>
                      </a:solidFill>
                      <a:miter lim="400000"/>
                    </a:lnR>
                    <a:lnT w="12700">
                      <a:solidFill>
                        <a:srgbClr val="000000"/>
                      </a:solidFill>
                      <a:miter lim="400000"/>
                    </a:lnT>
                    <a:lnB w="3175">
                      <a:solidFill>
                        <a:srgbClr val="000000"/>
                      </a:solidFill>
                      <a:miter lim="400000"/>
                    </a:lnB>
                    <a:solidFill>
                      <a:srgbClr val="FFFFFF"/>
                    </a:solidFill>
                  </a:tcPr>
                </a:tc>
              </a:tr>
              <a:tr h="686413">
                <a:tc>
                  <a:txBody>
                    <a:bodyPr/>
                    <a:lstStyle/>
                    <a:p>
                      <a:pPr algn="ctr" defTabSz="457200">
                        <a:defRPr b="0" sz="1800">
                          <a:solidFill>
                            <a:srgbClr val="000000"/>
                          </a:solidFill>
                        </a:defRPr>
                      </a:pPr>
                      <a:r>
                        <a:rPr sz="1600">
                          <a:latin typeface="Produkt Extralight"/>
                          <a:ea typeface="Produkt Extralight"/>
                          <a:cs typeface="Produkt Extralight"/>
                          <a:sym typeface="Produkt Extralight"/>
                        </a:rPr>
                        <a:t>Milvus</a:t>
                      </a:r>
                    </a:p>
                  </a:txBody>
                  <a:tcPr marL="50800" marR="50800" marT="50800" marB="50800" anchor="ctr" anchorCtr="0" horzOverflow="overflow">
                    <a:lnL w="3175">
                      <a:solidFill>
                        <a:srgbClr val="000000"/>
                      </a:solidFill>
                      <a:miter lim="400000"/>
                    </a:lnL>
                    <a:lnR w="12700">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ctr" defTabSz="457200">
                        <a:defRPr sz="1800">
                          <a:solidFill>
                            <a:srgbClr val="000000"/>
                          </a:solidFill>
                        </a:defRPr>
                      </a:pPr>
                      <a:r>
                        <a:rPr sz="1600">
                          <a:latin typeface="Produkt Extralight"/>
                          <a:ea typeface="Produkt Extralight"/>
                          <a:cs typeface="Produkt Extralight"/>
                          <a:sym typeface="Produkt Extralight"/>
                        </a:rPr>
                        <a:t>~2k–5k</a:t>
                      </a:r>
                    </a:p>
                  </a:txBody>
                  <a:tcPr marL="50800" marR="50800" marT="50800" marB="50800" anchor="ctr" anchorCtr="0" horzOverflow="overflow">
                    <a:lnL w="12700">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ctr" defTabSz="457200">
                        <a:defRPr sz="1800">
                          <a:solidFill>
                            <a:srgbClr val="000000"/>
                          </a:solidFill>
                        </a:defRPr>
                      </a:pPr>
                      <a:r>
                        <a:rPr sz="1600">
                          <a:latin typeface="Produkt Extralight"/>
                          <a:ea typeface="Produkt Extralight"/>
                          <a:cs typeface="Produkt Extralight"/>
                          <a:sym typeface="Produkt Extralight"/>
                        </a:rPr>
                        <a:t>heavier infra</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r>
              <a:tr h="686413">
                <a:tc>
                  <a:txBody>
                    <a:bodyPr/>
                    <a:lstStyle/>
                    <a:p>
                      <a:pPr algn="ctr" defTabSz="457200">
                        <a:defRPr b="0" sz="1800">
                          <a:solidFill>
                            <a:srgbClr val="000000"/>
                          </a:solidFill>
                        </a:defRPr>
                      </a:pPr>
                      <a:r>
                        <a:rPr sz="1600">
                          <a:latin typeface="Produkt Extralight"/>
                          <a:ea typeface="Produkt Extralight"/>
                          <a:cs typeface="Produkt Extralight"/>
                          <a:sym typeface="Produkt Extralight"/>
                        </a:rPr>
                        <a:t>FAISS</a:t>
                      </a:r>
                    </a:p>
                  </a:txBody>
                  <a:tcPr marL="50800" marR="50800" marT="50800" marB="50800" anchor="ctr" anchorCtr="0" horzOverflow="overflow">
                    <a:lnL w="3175">
                      <a:solidFill>
                        <a:srgbClr val="000000"/>
                      </a:solidFill>
                      <a:miter lim="400000"/>
                    </a:lnL>
                    <a:lnR w="12700">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ctr" defTabSz="457200">
                        <a:defRPr sz="1800">
                          <a:solidFill>
                            <a:srgbClr val="000000"/>
                          </a:solidFill>
                        </a:defRPr>
                      </a:pPr>
                      <a:r>
                        <a:rPr sz="1600">
                          <a:latin typeface="Produkt Extralight"/>
                          <a:ea typeface="Produkt Extralight"/>
                          <a:cs typeface="Produkt Extralight"/>
                          <a:sym typeface="Produkt Extralight"/>
                        </a:rPr>
                        <a:t>~5k–10k</a:t>
                      </a:r>
                    </a:p>
                  </a:txBody>
                  <a:tcPr marL="50800" marR="50800" marT="50800" marB="50800" anchor="ctr" anchorCtr="0" horzOverflow="overflow">
                    <a:lnL w="12700">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ctr" defTabSz="457200">
                        <a:defRPr sz="1800">
                          <a:solidFill>
                            <a:srgbClr val="000000"/>
                          </a:solidFill>
                        </a:defRPr>
                      </a:pPr>
                      <a:r>
                        <a:rPr sz="1600">
                          <a:latin typeface="Produkt Extralight"/>
                          <a:ea typeface="Produkt Extralight"/>
                          <a:cs typeface="Produkt Extralight"/>
                          <a:sym typeface="Produkt Extralight"/>
                        </a:rPr>
                        <a:t>optimized C++ but limited system features</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r>
              <a:tr h="686413">
                <a:tc>
                  <a:txBody>
                    <a:bodyPr/>
                    <a:lstStyle/>
                    <a:p>
                      <a:pPr algn="ctr" defTabSz="457200">
                        <a:defRPr b="0" sz="1800">
                          <a:solidFill>
                            <a:srgbClr val="000000"/>
                          </a:solidFill>
                        </a:defRPr>
                      </a:pPr>
                      <a:r>
                        <a:rPr sz="1600">
                          <a:latin typeface="Produkt Extralight"/>
                          <a:ea typeface="Produkt Extralight"/>
                          <a:cs typeface="Produkt Extralight"/>
                          <a:sym typeface="Produkt Extralight"/>
                        </a:rPr>
                        <a:t>Elasticsearch</a:t>
                      </a:r>
                    </a:p>
                  </a:txBody>
                  <a:tcPr marL="50800" marR="50800" marT="50800" marB="50800" anchor="ctr" anchorCtr="0" horzOverflow="overflow">
                    <a:lnL w="3175">
                      <a:solidFill>
                        <a:srgbClr val="000000"/>
                      </a:solidFill>
                      <a:miter lim="400000"/>
                    </a:lnL>
                    <a:lnR w="12700">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ctr" defTabSz="457200">
                        <a:defRPr sz="1800">
                          <a:solidFill>
                            <a:srgbClr val="000000"/>
                          </a:solidFill>
                        </a:defRPr>
                      </a:pPr>
                      <a:r>
                        <a:rPr sz="1600">
                          <a:latin typeface="Produkt Extralight"/>
                          <a:ea typeface="Produkt Extralight"/>
                          <a:cs typeface="Produkt Extralight"/>
                          <a:sym typeface="Produkt Extralight"/>
                        </a:rPr>
                        <a:t>usually &lt;2k</a:t>
                      </a:r>
                    </a:p>
                  </a:txBody>
                  <a:tcPr marL="50800" marR="50800" marT="50800" marB="50800" anchor="ctr" anchorCtr="0" horzOverflow="overflow">
                    <a:lnL w="12700">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ctr" defTabSz="457200">
                        <a:defRPr sz="1800">
                          <a:solidFill>
                            <a:srgbClr val="000000"/>
                          </a:solidFill>
                        </a:defRPr>
                      </a:pPr>
                      <a:r>
                        <a:rPr sz="1600">
                          <a:latin typeface="Produkt Extralight"/>
                          <a:ea typeface="Produkt Extralight"/>
                          <a:cs typeface="Produkt Extralight"/>
                          <a:sym typeface="Produkt Extralight"/>
                        </a:rPr>
                        <a:t>heavy overhead</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r>
              <a:tr h="686413">
                <a:tc>
                  <a:txBody>
                    <a:bodyPr/>
                    <a:lstStyle/>
                    <a:p>
                      <a:pPr algn="ctr" defTabSz="457200">
                        <a:defRPr b="0" sz="1800">
                          <a:solidFill>
                            <a:srgbClr val="000000"/>
                          </a:solidFill>
                        </a:defRPr>
                      </a:pPr>
                      <a:r>
                        <a:rPr sz="1600">
                          <a:latin typeface="Produkt Extralight"/>
                          <a:ea typeface="Produkt Extralight"/>
                          <a:cs typeface="Produkt Extralight"/>
                          <a:sym typeface="Produkt Extralight"/>
                        </a:rPr>
                        <a:t>Quarry HNSW</a:t>
                      </a:r>
                    </a:p>
                  </a:txBody>
                  <a:tcPr marL="50800" marR="50800" marT="50800" marB="50800" anchor="ctr" anchorCtr="0" horzOverflow="overflow">
                    <a:lnL w="3175">
                      <a:solidFill>
                        <a:srgbClr val="000000"/>
                      </a:solidFill>
                      <a:miter lim="400000"/>
                    </a:lnL>
                    <a:lnR w="12700">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ctr" defTabSz="457200">
                        <a:defRPr sz="1800">
                          <a:solidFill>
                            <a:srgbClr val="000000"/>
                          </a:solidFill>
                        </a:defRPr>
                      </a:pPr>
                      <a:r>
                        <a:rPr sz="1600">
                          <a:latin typeface="Produkt Extralight"/>
                          <a:ea typeface="Produkt Extralight"/>
                          <a:cs typeface="Produkt Extralight"/>
                          <a:sym typeface="Produkt Extralight"/>
                        </a:rPr>
                        <a:t>13k</a:t>
                      </a:r>
                    </a:p>
                  </a:txBody>
                  <a:tcPr marL="50800" marR="50800" marT="50800" marB="50800" anchor="ctr" anchorCtr="0" horzOverflow="overflow">
                    <a:lnL w="12700">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ctr" defTabSz="457200">
                        <a:defRPr sz="1800">
                          <a:solidFill>
                            <a:srgbClr val="000000"/>
                          </a:solidFill>
                        </a:defRPr>
                      </a:pPr>
                      <a:r>
                        <a:rPr sz="1600">
                          <a:latin typeface="Produkt Extralight"/>
                          <a:ea typeface="Produkt Extralight"/>
                          <a:cs typeface="Produkt Extralight"/>
                          <a:sym typeface="Produkt Extralight"/>
                        </a:rPr>
                        <a:t>C++.</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fast" advClick="1" p14:dur="500">
        <p:pull dir="l"/>
      </p:transition>
    </mc:Choice>
    <mc:Fallback>
      <p:transition spd="fast">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57" name="corequarry-choosing-k.png" descr="corequarry-choosing-k.png"/>
          <p:cNvPicPr>
            <a:picLocks noChangeAspect="1"/>
          </p:cNvPicPr>
          <p:nvPr/>
        </p:nvPicPr>
        <p:blipFill>
          <a:blip r:embed="rId2">
            <a:extLst/>
          </a:blip>
          <a:stretch>
            <a:fillRect/>
          </a:stretch>
        </p:blipFill>
        <p:spPr>
          <a:xfrm>
            <a:off x="0" y="0"/>
            <a:ext cx="12192000" cy="6858000"/>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500">
        <p:pull dir="l"/>
      </p:transition>
    </mc:Choice>
    <mc:Fallback>
      <p:transition spd="fast">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59" name="corequarry-adaptive-retrieval.png" descr="corequarry-adaptive-retrieval.png"/>
          <p:cNvPicPr>
            <a:picLocks noChangeAspect="1"/>
          </p:cNvPicPr>
          <p:nvPr/>
        </p:nvPicPr>
        <p:blipFill>
          <a:blip r:embed="rId2">
            <a:extLst/>
          </a:blip>
          <a:stretch>
            <a:fillRect/>
          </a:stretch>
        </p:blipFill>
        <p:spPr>
          <a:xfrm>
            <a:off x="0" y="0"/>
            <a:ext cx="12192000" cy="6858000"/>
          </a:xfrm>
          <a:prstGeom prst="rect">
            <a:avLst/>
          </a:prstGeom>
          <a:ln w="12700">
            <a:miter lim="400000"/>
          </a:ln>
        </p:spPr>
      </p:pic>
    </p:spTree>
  </p:cSld>
  <p:clrMapOvr>
    <a:masterClrMapping/>
  </p:clrMapOvr>
  <p:transition xmlns:p14="http://schemas.microsoft.com/office/powerpoint/2010/main" spd="med" advClick="1"/>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361" name="Text"/>
          <p:cNvSpPr txBox="1"/>
          <p:nvPr/>
        </p:nvSpPr>
        <p:spPr>
          <a:xfrm>
            <a:off x="2946462" y="1661906"/>
            <a:ext cx="538938" cy="383541"/>
          </a:xfrm>
          <a:prstGeom prst="rect">
            <a:avLst/>
          </a:prstGeom>
          <a:ln w="12700">
            <a:miter lim="400000"/>
          </a:ln>
        </p:spPr>
        <p:txBody>
          <a:bodyPr wrap="none" lIns="45719" rIns="45719">
            <a:spAutoFit/>
          </a:bodyPr>
          <a:lstStyle/>
          <a:p>
            <a:pPr/>
          </a:p>
        </p:txBody>
      </p:sp>
      <p:pic>
        <p:nvPicPr>
          <p:cNvPr id="362" name="f6a716e5-7230-4eaa-9c6d-ab5ed4ec4684.jpg" descr="f6a716e5-7230-4eaa-9c6d-ab5ed4ec4684.jpg"/>
          <p:cNvPicPr>
            <a:picLocks noChangeAspect="1"/>
          </p:cNvPicPr>
          <p:nvPr/>
        </p:nvPicPr>
        <p:blipFill>
          <a:blip r:embed="rId2">
            <a:extLst/>
          </a:blip>
          <a:stretch>
            <a:fillRect/>
          </a:stretch>
        </p:blipFill>
        <p:spPr>
          <a:xfrm>
            <a:off x="1523999" y="99931"/>
            <a:ext cx="9144001" cy="6858001"/>
          </a:xfrm>
          <a:prstGeom prst="rect">
            <a:avLst/>
          </a:prstGeom>
          <a:ln w="12700">
            <a:miter lim="400000"/>
          </a:ln>
        </p:spPr>
      </p:pic>
    </p:spTree>
  </p:cSld>
  <p:clrMapOvr>
    <a:masterClrMapping/>
  </p:clrMapOvr>
  <p:transition xmlns:p14="http://schemas.microsoft.com/office/powerpoint/2010/main" spd="med" advClick="1"/>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4" name="Bare Metal, Sovereign, COTS Hardware…"/>
          <p:cNvSpPr txBox="1"/>
          <p:nvPr>
            <p:ph type="title"/>
          </p:nvPr>
        </p:nvSpPr>
        <p:spPr>
          <a:xfrm>
            <a:off x="855881" y="636352"/>
            <a:ext cx="9906001" cy="1333501"/>
          </a:xfrm>
          <a:prstGeom prst="rect">
            <a:avLst/>
          </a:prstGeom>
        </p:spPr>
        <p:txBody>
          <a:bodyPr/>
          <a:lstStyle/>
          <a:p>
            <a:pPr defTabSz="685800">
              <a:defRPr sz="3900">
                <a:latin typeface="Marker Felt"/>
                <a:ea typeface="Marker Felt"/>
                <a:cs typeface="Marker Felt"/>
                <a:sym typeface="Marker Felt"/>
              </a:defRPr>
            </a:pPr>
            <a:r>
              <a:t>Bare Metal, Sovereign, COTS Hardware</a:t>
            </a:r>
          </a:p>
          <a:p>
            <a:pPr defTabSz="685800">
              <a:defRPr sz="3900">
                <a:latin typeface="Marker Felt"/>
                <a:ea typeface="Marker Felt"/>
                <a:cs typeface="Marker Felt"/>
                <a:sym typeface="Marker Felt"/>
              </a:defRPr>
            </a:pPr>
            <a:r>
              <a:t>(The hardware you have sitting in front of of you)</a:t>
            </a:r>
          </a:p>
        </p:txBody>
      </p:sp>
      <p:sp>
        <p:nvSpPr>
          <p:cNvPr id="365" name="The benchmarks are mainly on this machine— the one I’m presenting on:…"/>
          <p:cNvSpPr txBox="1"/>
          <p:nvPr/>
        </p:nvSpPr>
        <p:spPr>
          <a:xfrm>
            <a:off x="854136" y="2138657"/>
            <a:ext cx="9499254" cy="3444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700">
                <a:solidFill>
                  <a:srgbClr val="FFFFFF"/>
                </a:solidFill>
              </a:defRPr>
            </a:pPr>
            <a:r>
              <a:t>The benchmarks are mainly on this machine— the one I’m presenting on:</a:t>
            </a:r>
          </a:p>
          <a:p>
            <a:pPr>
              <a:defRPr sz="1700">
                <a:solidFill>
                  <a:srgbClr val="FFFFFF"/>
                </a:solidFill>
              </a:defRPr>
            </a:pPr>
          </a:p>
          <a:p>
            <a:pPr>
              <a:defRPr sz="1700">
                <a:solidFill>
                  <a:srgbClr val="FFFFFF"/>
                </a:solidFill>
              </a:defRPr>
            </a:pPr>
            <a:r>
              <a:t>Apple M1Pro, 16GB RAM, external NVME disk (WD SN750 2TB) using APFS and connected with Thunderbolt 3. </a:t>
            </a:r>
          </a:p>
          <a:p>
            <a:pPr>
              <a:defRPr sz="1700">
                <a:solidFill>
                  <a:srgbClr val="FFFFFF"/>
                </a:solidFill>
              </a:defRPr>
            </a:pPr>
          </a:p>
          <a:p>
            <a:pPr>
              <a:defRPr sz="1700">
                <a:solidFill>
                  <a:srgbClr val="FFFFFF"/>
                </a:solidFill>
              </a:defRPr>
            </a:pPr>
            <a:r>
              <a:t>The M1Pro has 200 GB/s memory bandwidth.  Max SSD (even another disk) 2,500 – 2,800 MB/s. </a:t>
            </a:r>
          </a:p>
          <a:p>
            <a:pPr>
              <a:defRPr sz="1700">
                <a:solidFill>
                  <a:srgbClr val="FFFFFF"/>
                </a:solidFill>
              </a:defRPr>
            </a:pPr>
          </a:p>
          <a:p>
            <a:pPr>
              <a:defRPr sz="1700">
                <a:solidFill>
                  <a:srgbClr val="FFFFFF"/>
                </a:solidFill>
              </a:defRPr>
            </a:pPr>
            <a:r>
              <a:rPr b="1"/>
              <a:t>M5 Max (40-Core GPU Variant):</a:t>
            </a:r>
            <a:r>
              <a:t> Features a unified memory bandwidth of </a:t>
            </a:r>
            <a:r>
              <a:rPr b="1"/>
              <a:t>614 GB/s and it can get as high as </a:t>
            </a:r>
            <a:r>
              <a:t>6,000 to 6,500 MB/s SSD throughput.  </a:t>
            </a:r>
          </a:p>
          <a:p>
            <a:pPr>
              <a:defRPr sz="1700">
                <a:solidFill>
                  <a:srgbClr val="FFFFFF"/>
                </a:solidFill>
              </a:defRPr>
            </a:pPr>
          </a:p>
          <a:p>
            <a:pPr>
              <a:defRPr sz="1700">
                <a:solidFill>
                  <a:srgbClr val="FFFFFF"/>
                </a:solidFill>
              </a:defRPr>
            </a:pPr>
            <a:r>
              <a:t>Threadripper PRO 9000 WX-Series: 409 GB/s and SSD as high as 14,000 to 14,900 MB/s.</a:t>
            </a:r>
          </a:p>
          <a:p>
            <a:pPr>
              <a:defRPr sz="1700">
                <a:solidFill>
                  <a:srgbClr val="FFFFFF"/>
                </a:solidFill>
              </a:defRPr>
            </a:pPr>
            <a:r>
              <a:t>The new MS Surface (GB10) is 300 GB/S but has ~14,500 MB/s disk I/O.</a:t>
            </a:r>
          </a:p>
        </p:txBody>
      </p:sp>
    </p:spTree>
  </p:cSld>
  <p:clrMapOvr>
    <a:masterClrMapping/>
  </p:clrMapOvr>
  <p:transition xmlns:p14="http://schemas.microsoft.com/office/powerpoint/2010/main" spd="med" advClick="1"/>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7" name="Text 0"/>
          <p:cNvSpPr txBox="1"/>
          <p:nvPr/>
        </p:nvSpPr>
        <p:spPr>
          <a:xfrm>
            <a:off x="812799" y="7112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SCALE · PATENTS</a:t>
            </a:r>
          </a:p>
        </p:txBody>
      </p:sp>
      <p:sp>
        <p:nvSpPr>
          <p:cNvPr id="368" name="Text 1"/>
          <p:cNvSpPr txBox="1"/>
          <p:nvPr>
            <p:ph type="title"/>
          </p:nvPr>
        </p:nvSpPr>
        <p:spPr>
          <a:xfrm>
            <a:off x="812799" y="1239490"/>
            <a:ext cx="10203182" cy="1412181"/>
          </a:xfrm>
          <a:prstGeom prst="rect">
            <a:avLst/>
          </a:prstGeom>
        </p:spPr>
        <p:txBody>
          <a:bodyPr/>
          <a:lstStyle>
            <a:lvl1pPr>
              <a:lnSpc>
                <a:spcPts val="5400"/>
              </a:lnSpc>
              <a:defRPr sz="4500"/>
            </a:lvl1pPr>
          </a:lstStyle>
          <a:p>
            <a:pPr/>
            <a:r>
              <a:t>Two billion words, one pass, one laptop.</a:t>
            </a:r>
          </a:p>
        </p:txBody>
      </p:sp>
      <p:sp>
        <p:nvSpPr>
          <p:cNvPr id="369" name="Shape 2"/>
          <p:cNvSpPr/>
          <p:nvPr/>
        </p:nvSpPr>
        <p:spPr>
          <a:xfrm>
            <a:off x="812800" y="2918371"/>
            <a:ext cx="2451100" cy="1"/>
          </a:xfrm>
          <a:prstGeom prst="line">
            <a:avLst/>
          </a:prstGeom>
          <a:ln w="25400">
            <a:solidFill>
              <a:schemeClr val="accent1"/>
            </a:solidFill>
          </a:ln>
        </p:spPr>
        <p:txBody>
          <a:bodyPr lIns="45719" rIns="45719"/>
          <a:lstStyle/>
          <a:p>
            <a:pPr>
              <a:defRPr>
                <a:solidFill>
                  <a:srgbClr val="ECE8DD"/>
                </a:solidFill>
              </a:defRPr>
            </a:pPr>
          </a:p>
        </p:txBody>
      </p:sp>
      <p:sp>
        <p:nvSpPr>
          <p:cNvPr id="370" name="Text 3"/>
          <p:cNvSpPr txBox="1"/>
          <p:nvPr/>
        </p:nvSpPr>
        <p:spPr>
          <a:xfrm>
            <a:off x="812800" y="3083471"/>
            <a:ext cx="2524633" cy="6654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5000"/>
              </a:lnSpc>
              <a:defRPr sz="3600">
                <a:solidFill>
                  <a:srgbClr val="ECE8DD"/>
                </a:solidFill>
                <a:latin typeface="JetBrains Mono"/>
                <a:ea typeface="JetBrains Mono"/>
                <a:cs typeface="JetBrains Mono"/>
                <a:sym typeface="JetBrains Mono"/>
              </a:defRPr>
            </a:lvl1pPr>
          </a:lstStyle>
          <a:p>
            <a:pPr/>
            <a:r>
              <a:t>656,519</a:t>
            </a:r>
          </a:p>
        </p:txBody>
      </p:sp>
      <p:sp>
        <p:nvSpPr>
          <p:cNvPr id="371" name="Text 4"/>
          <p:cNvSpPr txBox="1"/>
          <p:nvPr/>
        </p:nvSpPr>
        <p:spPr>
          <a:xfrm>
            <a:off x="812800" y="3774330"/>
            <a:ext cx="2524633"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chemeClr val="accent2"/>
                </a:solidFill>
              </a:defRPr>
            </a:lvl1pPr>
          </a:lstStyle>
          <a:p>
            <a:pPr/>
            <a:r>
              <a:t>records</a:t>
            </a:r>
          </a:p>
        </p:txBody>
      </p:sp>
      <p:sp>
        <p:nvSpPr>
          <p:cNvPr id="372" name="Shape 5"/>
          <p:cNvSpPr/>
          <p:nvPr/>
        </p:nvSpPr>
        <p:spPr>
          <a:xfrm>
            <a:off x="3517900" y="2918371"/>
            <a:ext cx="2451100" cy="1"/>
          </a:xfrm>
          <a:prstGeom prst="line">
            <a:avLst/>
          </a:prstGeom>
          <a:ln w="25400">
            <a:solidFill>
              <a:schemeClr val="accent1"/>
            </a:solidFill>
          </a:ln>
        </p:spPr>
        <p:txBody>
          <a:bodyPr lIns="45719" rIns="45719"/>
          <a:lstStyle/>
          <a:p>
            <a:pPr>
              <a:defRPr>
                <a:solidFill>
                  <a:srgbClr val="ECE8DD"/>
                </a:solidFill>
              </a:defRPr>
            </a:pPr>
          </a:p>
        </p:txBody>
      </p:sp>
      <p:sp>
        <p:nvSpPr>
          <p:cNvPr id="373" name="Text 6"/>
          <p:cNvSpPr txBox="1"/>
          <p:nvPr/>
        </p:nvSpPr>
        <p:spPr>
          <a:xfrm>
            <a:off x="3517900" y="3083471"/>
            <a:ext cx="2524633" cy="6654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5000"/>
              </a:lnSpc>
              <a:defRPr sz="3600">
                <a:solidFill>
                  <a:srgbClr val="ECE8DD"/>
                </a:solidFill>
                <a:latin typeface="JetBrains Mono"/>
                <a:ea typeface="JetBrains Mono"/>
                <a:cs typeface="JetBrains Mono"/>
                <a:sym typeface="JetBrains Mono"/>
              </a:defRPr>
            </a:lvl1pPr>
          </a:lstStyle>
          <a:p>
            <a:pPr/>
            <a:r>
              <a:t>2.02 B</a:t>
            </a:r>
          </a:p>
        </p:txBody>
      </p:sp>
      <p:sp>
        <p:nvSpPr>
          <p:cNvPr id="374" name="Text 7"/>
          <p:cNvSpPr txBox="1"/>
          <p:nvPr/>
        </p:nvSpPr>
        <p:spPr>
          <a:xfrm>
            <a:off x="3517900" y="3774330"/>
            <a:ext cx="2524633"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chemeClr val="accent2"/>
                </a:solidFill>
              </a:defRPr>
            </a:lvl1pPr>
          </a:lstStyle>
          <a:p>
            <a:pPr/>
            <a:r>
              <a:t>words</a:t>
            </a:r>
          </a:p>
        </p:txBody>
      </p:sp>
      <p:sp>
        <p:nvSpPr>
          <p:cNvPr id="375" name="Shape 8"/>
          <p:cNvSpPr/>
          <p:nvPr/>
        </p:nvSpPr>
        <p:spPr>
          <a:xfrm>
            <a:off x="6223000" y="2918371"/>
            <a:ext cx="2451100" cy="1"/>
          </a:xfrm>
          <a:prstGeom prst="line">
            <a:avLst/>
          </a:prstGeom>
          <a:ln w="25400">
            <a:solidFill>
              <a:schemeClr val="accent1"/>
            </a:solidFill>
          </a:ln>
        </p:spPr>
        <p:txBody>
          <a:bodyPr lIns="45719" rIns="45719"/>
          <a:lstStyle/>
          <a:p>
            <a:pPr>
              <a:defRPr>
                <a:solidFill>
                  <a:srgbClr val="ECE8DD"/>
                </a:solidFill>
              </a:defRPr>
            </a:pPr>
          </a:p>
        </p:txBody>
      </p:sp>
      <p:sp>
        <p:nvSpPr>
          <p:cNvPr id="376" name="Text 9"/>
          <p:cNvSpPr txBox="1"/>
          <p:nvPr/>
        </p:nvSpPr>
        <p:spPr>
          <a:xfrm>
            <a:off x="6223000" y="3083471"/>
            <a:ext cx="2524633" cy="6654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5000"/>
              </a:lnSpc>
              <a:defRPr sz="3600">
                <a:solidFill>
                  <a:srgbClr val="ECE8DD"/>
                </a:solidFill>
                <a:latin typeface="JetBrains Mono"/>
                <a:ea typeface="JetBrains Mono"/>
                <a:cs typeface="JetBrains Mono"/>
                <a:sym typeface="JetBrains Mono"/>
              </a:defRPr>
            </a:lvl1pPr>
          </a:lstStyle>
          <a:p>
            <a:pPr/>
            <a:r>
              <a:t>48 min</a:t>
            </a:r>
          </a:p>
        </p:txBody>
      </p:sp>
      <p:sp>
        <p:nvSpPr>
          <p:cNvPr id="377" name="Text 10"/>
          <p:cNvSpPr txBox="1"/>
          <p:nvPr/>
        </p:nvSpPr>
        <p:spPr>
          <a:xfrm>
            <a:off x="6223000" y="3774330"/>
            <a:ext cx="2524633"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chemeClr val="accent2"/>
                </a:solidFill>
              </a:defRPr>
            </a:lvl1pPr>
          </a:lstStyle>
          <a:p>
            <a:pPr/>
            <a:r>
              <a:t>2,861 s to index</a:t>
            </a:r>
          </a:p>
        </p:txBody>
      </p:sp>
      <p:sp>
        <p:nvSpPr>
          <p:cNvPr id="378" name="Shape 11"/>
          <p:cNvSpPr/>
          <p:nvPr/>
        </p:nvSpPr>
        <p:spPr>
          <a:xfrm>
            <a:off x="8928100" y="2918371"/>
            <a:ext cx="2451100" cy="1"/>
          </a:xfrm>
          <a:prstGeom prst="line">
            <a:avLst/>
          </a:prstGeom>
          <a:ln w="25400">
            <a:solidFill>
              <a:schemeClr val="accent1"/>
            </a:solidFill>
          </a:ln>
        </p:spPr>
        <p:txBody>
          <a:bodyPr lIns="45719" rIns="45719"/>
          <a:lstStyle/>
          <a:p>
            <a:pPr>
              <a:defRPr>
                <a:solidFill>
                  <a:srgbClr val="ECE8DD"/>
                </a:solidFill>
              </a:defRPr>
            </a:pPr>
          </a:p>
        </p:txBody>
      </p:sp>
      <p:sp>
        <p:nvSpPr>
          <p:cNvPr id="379" name="Text 12"/>
          <p:cNvSpPr txBox="1"/>
          <p:nvPr/>
        </p:nvSpPr>
        <p:spPr>
          <a:xfrm>
            <a:off x="8928100" y="3083471"/>
            <a:ext cx="2524633" cy="6654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5000"/>
              </a:lnSpc>
              <a:defRPr sz="3600">
                <a:solidFill>
                  <a:srgbClr val="ECE8DD"/>
                </a:solidFill>
                <a:latin typeface="JetBrains Mono"/>
                <a:ea typeface="JetBrains Mono"/>
                <a:cs typeface="JetBrains Mono"/>
                <a:sym typeface="JetBrains Mono"/>
              </a:defRPr>
            </a:lvl1pPr>
          </a:lstStyle>
          <a:p>
            <a:pPr/>
            <a:r>
              <a:t>6.8 GB</a:t>
            </a:r>
          </a:p>
        </p:txBody>
      </p:sp>
      <p:sp>
        <p:nvSpPr>
          <p:cNvPr id="380" name="Text 13"/>
          <p:cNvSpPr txBox="1"/>
          <p:nvPr/>
        </p:nvSpPr>
        <p:spPr>
          <a:xfrm>
            <a:off x="8928100" y="3774330"/>
            <a:ext cx="2524633"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chemeClr val="accent2"/>
                </a:solidFill>
              </a:defRPr>
            </a:lvl1pPr>
          </a:lstStyle>
          <a:p>
            <a:pPr/>
            <a:r>
              <a:t>peak resident, no swap</a:t>
            </a:r>
          </a:p>
        </p:txBody>
      </p:sp>
      <p:sp>
        <p:nvSpPr>
          <p:cNvPr id="381" name="Text 14"/>
          <p:cNvSpPr txBox="1"/>
          <p:nvPr/>
        </p:nvSpPr>
        <p:spPr>
          <a:xfrm>
            <a:off x="812800" y="4320430"/>
            <a:ext cx="9810750" cy="33397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a:solidFill>
                  <a:schemeClr val="accent2"/>
                </a:solidFill>
              </a:defRPr>
            </a:lvl1pPr>
          </a:lstStyle>
          <a:p>
            <a:pPr/>
            <a:r>
              <a:t>M1 Pro, 16 GB, 2021. Source on an external NVMe disk over Thunderbolt 3.</a:t>
            </a:r>
          </a:p>
        </p:txBody>
      </p:sp>
    </p:spTree>
  </p:cSld>
  <p:clrMapOvr>
    <a:masterClrMapping/>
  </p:clrMapOvr>
  <p:transition xmlns:p14="http://schemas.microsoft.com/office/powerpoint/2010/main" spd="med" advClick="1"/>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5" name="Text 0"/>
          <p:cNvSpPr txBox="1"/>
          <p:nvPr/>
        </p:nvSpPr>
        <p:spPr>
          <a:xfrm>
            <a:off x="812799" y="6604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SCALE · PATENTS</a:t>
            </a:r>
          </a:p>
        </p:txBody>
      </p:sp>
      <p:sp>
        <p:nvSpPr>
          <p:cNvPr id="386" name="Text 1"/>
          <p:cNvSpPr txBox="1"/>
          <p:nvPr>
            <p:ph type="title"/>
          </p:nvPr>
        </p:nvSpPr>
        <p:spPr>
          <a:xfrm>
            <a:off x="812800" y="1137890"/>
            <a:ext cx="11379200" cy="692151"/>
          </a:xfrm>
          <a:prstGeom prst="rect">
            <a:avLst/>
          </a:prstGeom>
        </p:spPr>
        <p:txBody>
          <a:bodyPr/>
          <a:lstStyle>
            <a:lvl1pPr>
              <a:lnSpc>
                <a:spcPts val="5200"/>
              </a:lnSpc>
              <a:defRPr sz="5000"/>
            </a:lvl1pPr>
          </a:lstStyle>
          <a:p>
            <a:pPr/>
            <a:r>
              <a:t>Two words, 656,519 patents, one claim.</a:t>
            </a:r>
          </a:p>
        </p:txBody>
      </p:sp>
      <p:sp>
        <p:nvSpPr>
          <p:cNvPr id="387" name="Shape 2"/>
          <p:cNvSpPr/>
          <p:nvPr/>
        </p:nvSpPr>
        <p:spPr>
          <a:xfrm>
            <a:off x="819150" y="2039590"/>
            <a:ext cx="6316961" cy="2184897"/>
          </a:xfrm>
          <a:prstGeom prst="roundRect">
            <a:avLst>
              <a:gd name="adj" fmla="val 3197"/>
            </a:avLst>
          </a:prstGeom>
          <a:solidFill>
            <a:srgbClr val="0D1015"/>
          </a:solidFill>
          <a:ln w="12700">
            <a:solidFill>
              <a:schemeClr val="accent4"/>
            </a:solidFill>
          </a:ln>
        </p:spPr>
        <p:txBody>
          <a:bodyPr lIns="45719" rIns="45719"/>
          <a:lstStyle/>
          <a:p>
            <a:pPr>
              <a:defRPr>
                <a:solidFill>
                  <a:srgbClr val="ECE8DD"/>
                </a:solidFill>
              </a:defRPr>
            </a:pPr>
          </a:p>
        </p:txBody>
      </p:sp>
      <p:sp>
        <p:nvSpPr>
          <p:cNvPr id="388" name="Text 3"/>
          <p:cNvSpPr txBox="1"/>
          <p:nvPr/>
        </p:nvSpPr>
        <p:spPr>
          <a:xfrm>
            <a:off x="1066800" y="2236440"/>
            <a:ext cx="5996310" cy="28128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300">
                <a:solidFill>
                  <a:schemeClr val="accent3"/>
                </a:solidFill>
                <a:latin typeface="JetBrains Mono"/>
                <a:ea typeface="JetBrains Mono"/>
                <a:cs typeface="JetBrains Mono"/>
                <a:sym typeface="JetBrains Mono"/>
              </a:defRPr>
            </a:lvl1pPr>
          </a:lstStyle>
          <a:p>
            <a:pPr/>
            <a:r>
              <a:t>$</a:t>
            </a:r>
          </a:p>
        </p:txBody>
      </p:sp>
      <p:sp>
        <p:nvSpPr>
          <p:cNvPr id="389" name="Text 4"/>
          <p:cNvSpPr txBox="1"/>
          <p:nvPr/>
        </p:nvSpPr>
        <p:spPr>
          <a:xfrm>
            <a:off x="1066800" y="2492325"/>
            <a:ext cx="5996310" cy="28128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300">
                <a:solidFill>
                  <a:srgbClr val="ECE8DD"/>
                </a:solidFill>
                <a:latin typeface="JetBrains Mono"/>
                <a:ea typeface="JetBrains Mono"/>
                <a:cs typeface="JetBrains Mono"/>
                <a:sym typeface="JetBrains Mono"/>
              </a:defRPr>
            </a:lvl1pPr>
          </a:lstStyle>
          <a:p>
            <a:pPr/>
            <a:r>
              <a:t>Isearch -d PATENTS -show -max 1 risc matrix PEER</a:t>
            </a:r>
          </a:p>
        </p:txBody>
      </p:sp>
      <p:sp>
        <p:nvSpPr>
          <p:cNvPr id="390" name="Text 5"/>
          <p:cNvSpPr txBox="1"/>
          <p:nvPr/>
        </p:nvSpPr>
        <p:spPr>
          <a:xfrm>
            <a:off x="1066800" y="2748210"/>
            <a:ext cx="5996310" cy="28128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300">
                <a:solidFill>
                  <a:schemeClr val="accent3"/>
                </a:solidFill>
                <a:latin typeface="JetBrains Mono"/>
                <a:ea typeface="JetBrains Mono"/>
                <a:cs typeface="JetBrains Mono"/>
                <a:sym typeface="JetBrains Mono"/>
              </a:defRPr>
            </a:lvl1pPr>
          </a:lstStyle>
          <a:p>
            <a:pPr/>
            <a:r>
              <a:t>1 record of 656519 matched your query</a:t>
            </a:r>
          </a:p>
        </p:txBody>
      </p:sp>
      <p:sp>
        <p:nvSpPr>
          <p:cNvPr id="391" name="Text 6"/>
          <p:cNvSpPr txBox="1"/>
          <p:nvPr/>
        </p:nvSpPr>
        <p:spPr>
          <a:xfrm>
            <a:off x="1066800" y="3004096"/>
            <a:ext cx="5996310" cy="28128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300">
                <a:solidFill>
                  <a:schemeClr val="accent1"/>
                </a:solidFill>
                <a:latin typeface="JetBrains Mono"/>
                <a:ea typeface="JetBrains Mono"/>
                <a:cs typeface="JetBrains Mono"/>
                <a:sym typeface="JetBrains Mono"/>
              </a:defRPr>
            </a:lvl1pPr>
          </a:lstStyle>
          <a:p>
            <a:pPr/>
            <a:r>
              <a:t>Evidence: [CLAIM-TEXT]</a:t>
            </a:r>
          </a:p>
        </p:txBody>
      </p:sp>
      <p:sp>
        <p:nvSpPr>
          <p:cNvPr id="392" name="Text 7"/>
          <p:cNvSpPr txBox="1"/>
          <p:nvPr/>
        </p:nvSpPr>
        <p:spPr>
          <a:xfrm>
            <a:off x="1066800" y="3259980"/>
            <a:ext cx="5996310" cy="28128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300">
                <a:solidFill>
                  <a:srgbClr val="ECE8DD"/>
                </a:solidFill>
                <a:latin typeface="JetBrains Mono"/>
                <a:ea typeface="JetBrains Mono"/>
                <a:cs typeface="JetBrains Mono"/>
                <a:sym typeface="JetBrains Mono"/>
              </a:defRPr>
            </a:lvl1pPr>
          </a:lstStyle>
          <a:p>
            <a:pPr/>
            <a:r>
              <a:t>ors, including said RISC</a:t>
            </a:r>
          </a:p>
        </p:txBody>
      </p:sp>
      <p:sp>
        <p:nvSpPr>
          <p:cNvPr id="393" name="Text 8"/>
          <p:cNvSpPr txBox="1"/>
          <p:nvPr/>
        </p:nvSpPr>
        <p:spPr>
          <a:xfrm>
            <a:off x="1066800" y="3515866"/>
            <a:ext cx="5996310" cy="28128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300">
                <a:solidFill>
                  <a:srgbClr val="ECE8DD"/>
                </a:solidFill>
                <a:latin typeface="JetBrains Mono"/>
                <a:ea typeface="JetBrains Mono"/>
                <a:cs typeface="JetBrains Mono"/>
                <a:sym typeface="JetBrains Mono"/>
              </a:defRPr>
            </a:lvl1pPr>
          </a:lstStyle>
          <a:p>
            <a:pPr/>
            <a:r>
              <a:t>processor and said transfer processor, said m memory</a:t>
            </a:r>
          </a:p>
        </p:txBody>
      </p:sp>
      <p:sp>
        <p:nvSpPr>
          <p:cNvPr id="394" name="Text 9"/>
          <p:cNvSpPr txBox="1"/>
          <p:nvPr/>
        </p:nvSpPr>
        <p:spPr>
          <a:xfrm>
            <a:off x="1066800" y="3771751"/>
            <a:ext cx="5996310" cy="28128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300">
                <a:solidFill>
                  <a:srgbClr val="ECE8DD"/>
                </a:solidFill>
                <a:latin typeface="JetBrains Mono"/>
                <a:ea typeface="JetBrains Mono"/>
                <a:cs typeface="JetBrains Mono"/>
                <a:sym typeface="JetBrains Mono"/>
              </a:defRPr>
            </a:lvl1pPr>
          </a:lstStyle>
          <a:p>
            <a:pPr/>
            <a:r>
              <a:t>sources and said switch matrix, including said lin</a:t>
            </a:r>
          </a:p>
        </p:txBody>
      </p:sp>
      <p:sp>
        <p:nvSpPr>
          <p:cNvPr id="395" name="Text 10"/>
          <p:cNvSpPr txBox="1"/>
          <p:nvPr/>
        </p:nvSpPr>
        <p:spPr>
          <a:xfrm>
            <a:off x="7498060" y="2177008"/>
            <a:ext cx="3997574"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4800"/>
              </a:lnSpc>
              <a:defRPr sz="4800">
                <a:solidFill>
                  <a:schemeClr val="accent1"/>
                </a:solidFill>
                <a:latin typeface="JetBrains Mono"/>
                <a:ea typeface="JetBrains Mono"/>
                <a:cs typeface="JetBrains Mono"/>
                <a:sym typeface="JetBrains Mono"/>
              </a:defRPr>
            </a:lvl1pPr>
          </a:lstStyle>
          <a:p>
            <a:pPr/>
            <a:r>
              <a:t>49 ms</a:t>
            </a:r>
          </a:p>
        </p:txBody>
      </p:sp>
      <p:sp>
        <p:nvSpPr>
          <p:cNvPr id="396" name="Text 11"/>
          <p:cNvSpPr txBox="1"/>
          <p:nvPr/>
        </p:nvSpPr>
        <p:spPr>
          <a:xfrm>
            <a:off x="7498060" y="2812008"/>
            <a:ext cx="3997574"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chemeClr val="accent2"/>
                </a:solidFill>
              </a:defRPr>
            </a:lvl1pPr>
          </a:lstStyle>
          <a:p>
            <a:pPr/>
            <a:r>
              <a:t>PEER: the engine finds the field</a:t>
            </a:r>
          </a:p>
        </p:txBody>
      </p:sp>
      <p:sp>
        <p:nvSpPr>
          <p:cNvPr id="397" name="Text 12"/>
          <p:cNvSpPr txBox="1"/>
          <p:nvPr/>
        </p:nvSpPr>
        <p:spPr>
          <a:xfrm>
            <a:off x="7498060" y="3220938"/>
            <a:ext cx="3997574"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4800"/>
              </a:lnSpc>
              <a:defRPr sz="4800">
                <a:solidFill>
                  <a:srgbClr val="ECE8DD"/>
                </a:solidFill>
                <a:latin typeface="JetBrains Mono"/>
                <a:ea typeface="JetBrains Mono"/>
                <a:cs typeface="JetBrains Mono"/>
                <a:sym typeface="JetBrains Mono"/>
              </a:defRPr>
            </a:lvl1pPr>
          </a:lstStyle>
          <a:p>
            <a:pPr/>
            <a:r>
              <a:t>20–27 ms</a:t>
            </a:r>
          </a:p>
        </p:txBody>
      </p:sp>
      <p:sp>
        <p:nvSpPr>
          <p:cNvPr id="398" name="Text 13"/>
          <p:cNvSpPr txBox="1"/>
          <p:nvPr/>
        </p:nvSpPr>
        <p:spPr>
          <a:xfrm>
            <a:off x="7498060" y="3855937"/>
            <a:ext cx="3997574"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chemeClr val="accent2"/>
                </a:solidFill>
              </a:defRPr>
            </a:lvl1pPr>
          </a:lstStyle>
          <a:p>
            <a:pPr/>
            <a:r>
              <a:t>AND:CLAIM-TEXT: you name it. Same claim.</a:t>
            </a:r>
          </a:p>
        </p:txBody>
      </p:sp>
      <p:sp>
        <p:nvSpPr>
          <p:cNvPr id="399" name="Text 14"/>
          <p:cNvSpPr txBox="1"/>
          <p:nvPr/>
        </p:nvSpPr>
        <p:spPr>
          <a:xfrm>
            <a:off x="812800" y="4459435"/>
            <a:ext cx="9810750" cy="6527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sz="1900">
                <a:solidFill>
                  <a:schemeClr val="accent2"/>
                </a:solidFill>
              </a:defRPr>
            </a:lvl1pPr>
          </a:lstStyle>
          <a:p>
            <a:pPr/>
            <a:r>
              <a:t>PEER asks for both words in the same field and names it. If you already know the field, saying so is about twice as fast.</a:t>
            </a:r>
          </a:p>
        </p:txBody>
      </p:sp>
    </p:spTree>
  </p:cSld>
  <p:clrMapOvr>
    <a:masterClrMapping/>
  </p:clrMapOvr>
  <p:transition xmlns:p14="http://schemas.microsoft.com/office/powerpoint/2010/main" spd="med" advClick="1"/>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3" name="Text 0"/>
          <p:cNvSpPr txBox="1"/>
          <p:nvPr/>
        </p:nvSpPr>
        <p:spPr>
          <a:xfrm>
            <a:off x="812799" y="7112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SCALE · WIKIPEDIA (2 million record ES Bulk Dump)</a:t>
            </a:r>
          </a:p>
        </p:txBody>
      </p:sp>
      <p:sp>
        <p:nvSpPr>
          <p:cNvPr id="404" name="Text 1"/>
          <p:cNvSpPr txBox="1"/>
          <p:nvPr>
            <p:ph type="title"/>
          </p:nvPr>
        </p:nvSpPr>
        <p:spPr>
          <a:xfrm>
            <a:off x="812799" y="1239490"/>
            <a:ext cx="10203182" cy="1412181"/>
          </a:xfrm>
          <a:prstGeom prst="rect">
            <a:avLst/>
          </a:prstGeom>
        </p:spPr>
        <p:txBody>
          <a:bodyPr/>
          <a:lstStyle>
            <a:lvl1pPr>
              <a:lnSpc>
                <a:spcPts val="5400"/>
              </a:lnSpc>
            </a:lvl1pPr>
          </a:lstStyle>
          <a:p>
            <a:pPr/>
            <a:r>
              <a:t>The second query is the one that matters.</a:t>
            </a:r>
          </a:p>
        </p:txBody>
      </p:sp>
      <p:sp>
        <p:nvSpPr>
          <p:cNvPr id="405" name="Shape 2"/>
          <p:cNvSpPr/>
          <p:nvPr/>
        </p:nvSpPr>
        <p:spPr>
          <a:xfrm>
            <a:off x="819150" y="2912021"/>
            <a:ext cx="5118100" cy="1932881"/>
          </a:xfrm>
          <a:prstGeom prst="roundRect">
            <a:avLst>
              <a:gd name="adj" fmla="val 3614"/>
            </a:avLst>
          </a:prstGeom>
          <a:ln w="12700">
            <a:solidFill>
              <a:schemeClr val="accent4"/>
            </a:solidFill>
          </a:ln>
        </p:spPr>
        <p:txBody>
          <a:bodyPr lIns="45719" rIns="45719"/>
          <a:lstStyle/>
          <a:p>
            <a:pPr>
              <a:defRPr>
                <a:solidFill>
                  <a:srgbClr val="ECE8DD"/>
                </a:solidFill>
              </a:defRPr>
            </a:pPr>
          </a:p>
        </p:txBody>
      </p:sp>
      <p:sp>
        <p:nvSpPr>
          <p:cNvPr id="406" name="Text 3"/>
          <p:cNvSpPr txBox="1"/>
          <p:nvPr/>
        </p:nvSpPr>
        <p:spPr>
          <a:xfrm>
            <a:off x="1079500" y="3146971"/>
            <a:ext cx="4735322"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800"/>
              </a:lnSpc>
              <a:defRPr sz="2000">
                <a:solidFill>
                  <a:schemeClr val="accent2"/>
                </a:solidFill>
                <a:latin typeface="JetBrains Mono"/>
                <a:ea typeface="JetBrains Mono"/>
                <a:cs typeface="JetBrains Mono"/>
                <a:sym typeface="JetBrains Mono"/>
              </a:defRPr>
            </a:lvl1pPr>
          </a:lstStyle>
          <a:p>
            <a:pPr/>
            <a:r>
              <a:t>editors</a:t>
            </a:r>
          </a:p>
        </p:txBody>
      </p:sp>
      <p:sp>
        <p:nvSpPr>
          <p:cNvPr id="407" name="Text 4"/>
          <p:cNvSpPr txBox="1"/>
          <p:nvPr/>
        </p:nvSpPr>
        <p:spPr>
          <a:xfrm>
            <a:off x="1079500" y="3604171"/>
            <a:ext cx="4735322" cy="6654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5000"/>
              </a:lnSpc>
              <a:defRPr sz="3600">
                <a:solidFill>
                  <a:srgbClr val="ECE8DD"/>
                </a:solidFill>
                <a:latin typeface="JetBrains Mono"/>
                <a:ea typeface="JetBrains Mono"/>
                <a:cs typeface="JetBrains Mono"/>
                <a:sym typeface="JetBrains Mono"/>
              </a:defRPr>
            </a:lvl1pPr>
          </a:lstStyle>
          <a:p>
            <a:pPr/>
            <a:r>
              <a:t>6 ms</a:t>
            </a:r>
          </a:p>
        </p:txBody>
      </p:sp>
      <p:sp>
        <p:nvSpPr>
          <p:cNvPr id="408" name="Text 5"/>
          <p:cNvSpPr txBox="1"/>
          <p:nvPr/>
        </p:nvSpPr>
        <p:spPr>
          <a:xfrm>
            <a:off x="1079500" y="4345830"/>
            <a:ext cx="4735322" cy="2895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600">
                <a:solidFill>
                  <a:schemeClr val="accent2"/>
                </a:solidFill>
              </a:defRPr>
            </a:lvl1pPr>
          </a:lstStyle>
          <a:p>
            <a:pPr/>
            <a:r>
              <a:t>300 hits, capped: the word is everywhere</a:t>
            </a:r>
          </a:p>
        </p:txBody>
      </p:sp>
      <p:sp>
        <p:nvSpPr>
          <p:cNvPr id="409" name="Shape 6"/>
          <p:cNvSpPr/>
          <p:nvPr/>
        </p:nvSpPr>
        <p:spPr>
          <a:xfrm>
            <a:off x="6254750" y="2912021"/>
            <a:ext cx="5118100" cy="1932881"/>
          </a:xfrm>
          <a:prstGeom prst="roundRect">
            <a:avLst>
              <a:gd name="adj" fmla="val 3614"/>
            </a:avLst>
          </a:prstGeom>
          <a:ln w="12700">
            <a:solidFill>
              <a:schemeClr val="accent1"/>
            </a:solidFill>
          </a:ln>
        </p:spPr>
        <p:txBody>
          <a:bodyPr lIns="45719" rIns="45719"/>
          <a:lstStyle/>
          <a:p>
            <a:pPr>
              <a:defRPr>
                <a:solidFill>
                  <a:srgbClr val="ECE8DD"/>
                </a:solidFill>
              </a:defRPr>
            </a:pPr>
          </a:p>
        </p:txBody>
      </p:sp>
      <p:sp>
        <p:nvSpPr>
          <p:cNvPr id="410" name="Text 7"/>
          <p:cNvSpPr txBox="1"/>
          <p:nvPr/>
        </p:nvSpPr>
        <p:spPr>
          <a:xfrm>
            <a:off x="6515100" y="3146971"/>
            <a:ext cx="4735322"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800"/>
              </a:lnSpc>
              <a:defRPr sz="2000">
                <a:solidFill>
                  <a:schemeClr val="accent1"/>
                </a:solidFill>
                <a:latin typeface="JetBrains Mono"/>
                <a:ea typeface="JetBrains Mono"/>
                <a:cs typeface="JetBrains Mono"/>
                <a:sym typeface="JetBrains Mono"/>
              </a:defRPr>
            </a:lvl1pPr>
          </a:lstStyle>
          <a:p>
            <a:pPr/>
            <a:r>
              <a:t>defaultsort/editors</a:t>
            </a:r>
          </a:p>
        </p:txBody>
      </p:sp>
      <p:sp>
        <p:nvSpPr>
          <p:cNvPr id="411" name="Text 8"/>
          <p:cNvSpPr txBox="1"/>
          <p:nvPr/>
        </p:nvSpPr>
        <p:spPr>
          <a:xfrm>
            <a:off x="6515100" y="3604171"/>
            <a:ext cx="4735322" cy="6654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5000"/>
              </a:lnSpc>
              <a:defRPr sz="3600">
                <a:solidFill>
                  <a:schemeClr val="accent1"/>
                </a:solidFill>
                <a:latin typeface="JetBrains Mono"/>
                <a:ea typeface="JetBrains Mono"/>
                <a:cs typeface="JetBrains Mono"/>
                <a:sym typeface="JetBrains Mono"/>
              </a:defRPr>
            </a:lvl1pPr>
          </a:lstStyle>
          <a:p>
            <a:pPr/>
            <a:r>
              <a:t>4 ms</a:t>
            </a:r>
          </a:p>
        </p:txBody>
      </p:sp>
      <p:sp>
        <p:nvSpPr>
          <p:cNvPr id="412" name="Text 9"/>
          <p:cNvSpPr txBox="1"/>
          <p:nvPr/>
        </p:nvSpPr>
        <p:spPr>
          <a:xfrm>
            <a:off x="6515100" y="4345830"/>
            <a:ext cx="4735322" cy="2895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600">
                <a:solidFill>
                  <a:srgbClr val="ECE8DD"/>
                </a:solidFill>
              </a:defRPr>
            </a:lvl1pPr>
          </a:lstStyle>
          <a:p>
            <a:pPr/>
            <a:r>
              <a:t>one record: the field that was asked for</a:t>
            </a:r>
          </a:p>
        </p:txBody>
      </p:sp>
      <p:sp>
        <p:nvSpPr>
          <p:cNvPr id="413" name="Text 10"/>
          <p:cNvSpPr txBox="1"/>
          <p:nvPr/>
        </p:nvSpPr>
        <p:spPr>
          <a:xfrm>
            <a:off x="812800" y="5130651"/>
            <a:ext cx="9810750" cy="6527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sz="1900">
                <a:solidFill>
                  <a:schemeClr val="accent2"/>
                </a:solidFill>
              </a:defRPr>
            </a:lvl1pPr>
          </a:lstStyle>
          <a:p>
            <a:pPr/>
            <a:r>
              <a:t>An agent that sees a flood can narrow with one more query, and each query costs milliseconds.</a:t>
            </a:r>
          </a:p>
        </p:txBody>
      </p:sp>
    </p:spTree>
  </p:cSld>
  <p:clrMapOvr>
    <a:masterClrMapping/>
  </p:clrMapOvr>
  <p:transition xmlns:p14="http://schemas.microsoft.com/office/powerpoint/2010/main" spd="med" advClick="1"/>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7" name="Text 0"/>
          <p:cNvSpPr txBox="1"/>
          <p:nvPr/>
        </p:nvSpPr>
        <p:spPr>
          <a:xfrm>
            <a:off x="812799" y="6604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DISPLAY EVIDENCE</a:t>
            </a:r>
          </a:p>
        </p:txBody>
      </p:sp>
      <p:sp>
        <p:nvSpPr>
          <p:cNvPr id="418" name="Text 1"/>
          <p:cNvSpPr txBox="1"/>
          <p:nvPr>
            <p:ph type="title"/>
          </p:nvPr>
        </p:nvSpPr>
        <p:spPr>
          <a:xfrm>
            <a:off x="812799" y="1125190"/>
            <a:ext cx="10203182" cy="1358901"/>
          </a:xfrm>
          <a:prstGeom prst="rect">
            <a:avLst/>
          </a:prstGeom>
        </p:spPr>
        <p:txBody>
          <a:bodyPr/>
          <a:lstStyle>
            <a:lvl1pPr>
              <a:lnSpc>
                <a:spcPts val="5200"/>
              </a:lnSpc>
              <a:defRPr sz="5000"/>
            </a:lvl1pPr>
          </a:lstStyle>
          <a:p>
            <a:pPr/>
            <a:r>
              <a:t>Show the passage that fits the reader, not the record.</a:t>
            </a:r>
          </a:p>
        </p:txBody>
      </p:sp>
      <p:sp>
        <p:nvSpPr>
          <p:cNvPr id="419" name="Shape 2"/>
          <p:cNvSpPr/>
          <p:nvPr/>
        </p:nvSpPr>
        <p:spPr>
          <a:xfrm>
            <a:off x="819150" y="2680940"/>
            <a:ext cx="5476081" cy="2389982"/>
          </a:xfrm>
          <a:prstGeom prst="roundRect">
            <a:avLst>
              <a:gd name="adj" fmla="val 2923"/>
            </a:avLst>
          </a:prstGeom>
          <a:solidFill>
            <a:srgbClr val="0D1015"/>
          </a:solidFill>
          <a:ln w="12700">
            <a:solidFill>
              <a:schemeClr val="accent4"/>
            </a:solidFill>
          </a:ln>
        </p:spPr>
        <p:txBody>
          <a:bodyPr lIns="45719" rIns="45719"/>
          <a:lstStyle/>
          <a:p>
            <a:pPr>
              <a:defRPr>
                <a:solidFill>
                  <a:srgbClr val="ECE8DD"/>
                </a:solidFill>
              </a:defRPr>
            </a:pPr>
          </a:p>
        </p:txBody>
      </p:sp>
      <p:sp>
        <p:nvSpPr>
          <p:cNvPr id="420" name="Text 3"/>
          <p:cNvSpPr txBox="1"/>
          <p:nvPr/>
        </p:nvSpPr>
        <p:spPr>
          <a:xfrm>
            <a:off x="1041400" y="2852390"/>
            <a:ext cx="5182530" cy="28128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300">
                <a:solidFill>
                  <a:schemeClr val="accent3"/>
                </a:solidFill>
                <a:latin typeface="JetBrains Mono"/>
                <a:ea typeface="JetBrains Mono"/>
                <a:cs typeface="JetBrains Mono"/>
                <a:sym typeface="JetBrains Mono"/>
              </a:defRPr>
            </a:lvl1pPr>
          </a:lstStyle>
          <a:p>
            <a:pPr/>
            <a:r>
              <a:t>$</a:t>
            </a:r>
          </a:p>
        </p:txBody>
      </p:sp>
      <p:sp>
        <p:nvSpPr>
          <p:cNvPr id="421" name="Text 4"/>
          <p:cNvSpPr txBox="1"/>
          <p:nvPr/>
        </p:nvSpPr>
        <p:spPr>
          <a:xfrm>
            <a:off x="1041400" y="3108275"/>
            <a:ext cx="5182530" cy="28128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300">
                <a:solidFill>
                  <a:srgbClr val="ECE8DD"/>
                </a:solidFill>
                <a:latin typeface="JetBrains Mono"/>
                <a:ea typeface="JetBrains Mono"/>
                <a:cs typeface="JetBrains Mono"/>
                <a:sym typeface="JetBrains Mono"/>
              </a:defRPr>
            </a:lvl1pPr>
          </a:lstStyle>
          <a:p>
            <a:pPr/>
            <a:r>
              <a:t>Isearch -d /tmp/P -show -max 2 patent</a:t>
            </a:r>
          </a:p>
        </p:txBody>
      </p:sp>
      <p:sp>
        <p:nvSpPr>
          <p:cNvPr id="422" name="Text 5"/>
          <p:cNvSpPr txBox="1"/>
          <p:nvPr/>
        </p:nvSpPr>
        <p:spPr>
          <a:xfrm>
            <a:off x="1041400" y="3364160"/>
            <a:ext cx="5182530" cy="28128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300">
                <a:solidFill>
                  <a:schemeClr val="accent3"/>
                </a:solidFill>
                <a:latin typeface="JetBrains Mono"/>
                <a:ea typeface="JetBrains Mono"/>
                <a:cs typeface="JetBrains Mono"/>
                <a:sym typeface="JetBrains Mono"/>
              </a:defRPr>
            </a:lvl1pPr>
          </a:lstStyle>
          <a:p>
            <a:pPr/>
            <a:r>
              <a:t>2 records of 86755 matched · 24 ms</a:t>
            </a:r>
          </a:p>
        </p:txBody>
      </p:sp>
      <p:sp>
        <p:nvSpPr>
          <p:cNvPr id="423" name="Text 6"/>
          <p:cNvSpPr txBox="1"/>
          <p:nvPr/>
        </p:nvSpPr>
        <p:spPr>
          <a:xfrm>
            <a:off x="1041400" y="3620046"/>
            <a:ext cx="5182530" cy="28128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300">
                <a:solidFill>
                  <a:schemeClr val="accent1"/>
                </a:solidFill>
                <a:latin typeface="JetBrains Mono"/>
                <a:ea typeface="JetBrains Mono"/>
                <a:cs typeface="JetBrains Mono"/>
                <a:sym typeface="JetBrains Mono"/>
              </a:defRPr>
            </a:lvl1pPr>
          </a:lstStyle>
          <a:p>
            <a:pPr/>
            <a:r>
              <a:t>Evidence: [P]</a:t>
            </a:r>
          </a:p>
        </p:txBody>
      </p:sp>
      <p:sp>
        <p:nvSpPr>
          <p:cNvPr id="424" name="Text 7"/>
          <p:cNvSpPr txBox="1"/>
          <p:nvPr/>
        </p:nvSpPr>
        <p:spPr>
          <a:xfrm>
            <a:off x="1041400" y="3875930"/>
            <a:ext cx="5182530" cy="28128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300">
                <a:solidFill>
                  <a:srgbClr val="ECE8DD"/>
                </a:solidFill>
                <a:latin typeface="JetBrains Mono"/>
                <a:ea typeface="JetBrains Mono"/>
                <a:cs typeface="JetBrains Mono"/>
                <a:sym typeface="JetBrains Mono"/>
              </a:defRPr>
            </a:lvl1pPr>
          </a:lstStyle>
          <a:p>
            <a:pPr/>
            <a:r>
              <a:t>graphic emulsions used in</a:t>
            </a:r>
          </a:p>
        </p:txBody>
      </p:sp>
      <p:sp>
        <p:nvSpPr>
          <p:cNvPr id="425" name="Text 8"/>
          <p:cNvSpPr txBox="1"/>
          <p:nvPr/>
        </p:nvSpPr>
        <p:spPr>
          <a:xfrm>
            <a:off x="1041400" y="4131816"/>
            <a:ext cx="5182530" cy="53717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300">
                <a:solidFill>
                  <a:srgbClr val="ECE8DD"/>
                </a:solidFill>
                <a:latin typeface="JetBrains Mono"/>
                <a:ea typeface="JetBrains Mono"/>
                <a:cs typeface="JetBrains Mono"/>
                <a:sym typeface="JetBrains Mono"/>
              </a:defRPr>
            </a:lvl1pPr>
          </a:lstStyle>
          <a:p>
            <a:pPr/>
            <a:r>
              <a:t>such methods are described in U.S. Patent Nos. 2,456,953,</a:t>
            </a:r>
          </a:p>
        </p:txBody>
      </p:sp>
      <p:sp>
        <p:nvSpPr>
          <p:cNvPr id="426" name="Text 9"/>
          <p:cNvSpPr txBox="1"/>
          <p:nvPr/>
        </p:nvSpPr>
        <p:spPr>
          <a:xfrm>
            <a:off x="1041400" y="4643585"/>
            <a:ext cx="5182530" cy="28128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300">
                <a:solidFill>
                  <a:srgbClr val="ECE8DD"/>
                </a:solidFill>
                <a:latin typeface="JetBrains Mono"/>
                <a:ea typeface="JetBrains Mono"/>
                <a:cs typeface="JetBrains Mono"/>
                <a:sym typeface="JetBrains Mono"/>
              </a:defRPr>
            </a:lvl1pPr>
          </a:lstStyle>
          <a:p>
            <a:pPr/>
            <a:r>
              <a:t>2,497,875, 2,497,876, 2,497,917, 2,507,154,</a:t>
            </a:r>
          </a:p>
        </p:txBody>
      </p:sp>
      <p:sp>
        <p:nvSpPr>
          <p:cNvPr id="427" name="Text 10"/>
          <p:cNvSpPr txBox="1"/>
          <p:nvPr/>
        </p:nvSpPr>
        <p:spPr>
          <a:xfrm>
            <a:off x="812799" y="5166171"/>
            <a:ext cx="5653447" cy="47109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chemeClr val="accent3"/>
                </a:solidFill>
              </a:defRPr>
            </a:lvl1pPr>
          </a:lstStyle>
          <a:p>
            <a:pPr/>
            <a:r>
              <a:t>[P] is the paragraph the hit sits in. The record is 86,755 patents’ worth of XML.</a:t>
            </a:r>
          </a:p>
        </p:txBody>
      </p:sp>
      <p:sp>
        <p:nvSpPr>
          <p:cNvPr id="428" name="Text 11"/>
          <p:cNvSpPr txBox="1"/>
          <p:nvPr/>
        </p:nvSpPr>
        <p:spPr>
          <a:xfrm>
            <a:off x="6606381" y="2674590"/>
            <a:ext cx="128390"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800"/>
              </a:lnSpc>
              <a:defRPr sz="2000">
                <a:solidFill>
                  <a:schemeClr val="accent1"/>
                </a:solidFill>
                <a:latin typeface="JetBrains Mono"/>
                <a:ea typeface="JetBrains Mono"/>
                <a:cs typeface="JetBrains Mono"/>
                <a:sym typeface="JetBrains Mono"/>
              </a:defRPr>
            </a:lvl1pPr>
          </a:lstStyle>
          <a:p>
            <a:pPr/>
            <a:r>
              <a:t>1</a:t>
            </a:r>
          </a:p>
        </p:txBody>
      </p:sp>
      <p:sp>
        <p:nvSpPr>
          <p:cNvPr id="429" name="Text 12"/>
          <p:cNvSpPr txBox="1"/>
          <p:nvPr/>
        </p:nvSpPr>
        <p:spPr>
          <a:xfrm>
            <a:off x="6810970" y="2738090"/>
            <a:ext cx="4705278" cy="8177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2000"/>
              </a:lnSpc>
              <a:defRPr b="1" sz="1600">
                <a:solidFill>
                  <a:srgbClr val="ECE8DD"/>
                </a:solidFill>
              </a:defRPr>
            </a:pPr>
            <a:r>
              <a:t>Choose the evidence.</a:t>
            </a:r>
            <a:r>
              <a:rPr b="0"/>
              <a:t> Covers and single hits compete; each extra byte past the budget costs more.</a:t>
            </a:r>
          </a:p>
        </p:txBody>
      </p:sp>
      <p:sp>
        <p:nvSpPr>
          <p:cNvPr id="430" name="Text 13"/>
          <p:cNvSpPr txBox="1"/>
          <p:nvPr/>
        </p:nvSpPr>
        <p:spPr>
          <a:xfrm>
            <a:off x="6606381" y="3644751"/>
            <a:ext cx="147787"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800"/>
              </a:lnSpc>
              <a:defRPr sz="2000">
                <a:solidFill>
                  <a:schemeClr val="accent1"/>
                </a:solidFill>
                <a:latin typeface="JetBrains Mono"/>
                <a:ea typeface="JetBrains Mono"/>
                <a:cs typeface="JetBrains Mono"/>
                <a:sym typeface="JetBrains Mono"/>
              </a:defRPr>
            </a:lvl1pPr>
          </a:lstStyle>
          <a:p>
            <a:pPr/>
            <a:r>
              <a:t>2</a:t>
            </a:r>
          </a:p>
        </p:txBody>
      </p:sp>
      <p:sp>
        <p:nvSpPr>
          <p:cNvPr id="431" name="Text 14"/>
          <p:cNvSpPr txBox="1"/>
          <p:nvPr/>
        </p:nvSpPr>
        <p:spPr>
          <a:xfrm>
            <a:off x="6830368" y="3708251"/>
            <a:ext cx="4685298" cy="5536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2000"/>
              </a:lnSpc>
              <a:defRPr b="1" sz="1600">
                <a:solidFill>
                  <a:srgbClr val="ECE8DD"/>
                </a:solidFill>
              </a:defRPr>
            </a:pPr>
            <a:r>
              <a:t>Find where it lives.</a:t>
            </a:r>
            <a:r>
              <a:rPr b="0"/>
              <a:t> One structural probe at a word inside it, then its ancestors.</a:t>
            </a:r>
          </a:p>
        </p:txBody>
      </p:sp>
      <p:sp>
        <p:nvSpPr>
          <p:cNvPr id="432" name="Text 15"/>
          <p:cNvSpPr txBox="1"/>
          <p:nvPr/>
        </p:nvSpPr>
        <p:spPr>
          <a:xfrm>
            <a:off x="6606381" y="4350792"/>
            <a:ext cx="123479"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800"/>
              </a:lnSpc>
              <a:defRPr sz="2000">
                <a:solidFill>
                  <a:schemeClr val="accent1"/>
                </a:solidFill>
                <a:latin typeface="JetBrains Mono"/>
                <a:ea typeface="JetBrains Mono"/>
                <a:cs typeface="JetBrains Mono"/>
                <a:sym typeface="JetBrains Mono"/>
              </a:defRPr>
            </a:lvl1pPr>
          </a:lstStyle>
          <a:p>
            <a:pPr/>
            <a:r>
              <a:t>3</a:t>
            </a:r>
          </a:p>
        </p:txBody>
      </p:sp>
      <p:sp>
        <p:nvSpPr>
          <p:cNvPr id="433" name="Text 16"/>
          <p:cNvSpPr txBox="1"/>
          <p:nvPr/>
        </p:nvSpPr>
        <p:spPr>
          <a:xfrm>
            <a:off x="6806058" y="4414292"/>
            <a:ext cx="4710336" cy="81776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2000"/>
              </a:lnSpc>
              <a:defRPr b="1" sz="1600">
                <a:solidFill>
                  <a:srgbClr val="ECE8DD"/>
                </a:solidFill>
              </a:defRPr>
            </a:pPr>
            <a:r>
              <a:t>Fit the budget.</a:t>
            </a:r>
            <a:r>
              <a:rPr b="0"/>
              <a:t> Whole container if it fits; otherwise pad around the evidence, but never past the container.</a:t>
            </a:r>
          </a:p>
        </p:txBody>
      </p:sp>
      <p:sp>
        <p:nvSpPr>
          <p:cNvPr id="434" name="Text 17"/>
          <p:cNvSpPr txBox="1"/>
          <p:nvPr/>
        </p:nvSpPr>
        <p:spPr>
          <a:xfrm>
            <a:off x="812799" y="5827762"/>
            <a:ext cx="10203182" cy="3225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300"/>
              </a:lnSpc>
              <a:defRPr>
                <a:solidFill>
                  <a:schemeClr val="accent2"/>
                </a:solidFill>
              </a:defRPr>
            </a:lvl1pPr>
          </a:lstStyle>
          <a:p>
            <a:pPr/>
            <a:r>
              <a:t>Structure is presentation, not evidence. It never competes with the words that matched.</a:t>
            </a:r>
          </a:p>
        </p:txBody>
      </p:sp>
    </p:spTree>
  </p:cSld>
  <p:clrMapOvr>
    <a:masterClrMapping/>
  </p:clrMapOvr>
  <p:transition xmlns:p14="http://schemas.microsoft.com/office/powerpoint/2010/main" spd="med" advClick="1"/>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8" name="Text 0"/>
          <p:cNvSpPr txBox="1"/>
          <p:nvPr/>
        </p:nvSpPr>
        <p:spPr>
          <a:xfrm>
            <a:off x="812799" y="7112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SEMANTIC SEARCH</a:t>
            </a:r>
          </a:p>
        </p:txBody>
      </p:sp>
      <p:sp>
        <p:nvSpPr>
          <p:cNvPr id="439" name="Text 1"/>
          <p:cNvSpPr txBox="1"/>
          <p:nvPr>
            <p:ph type="title"/>
          </p:nvPr>
        </p:nvSpPr>
        <p:spPr>
          <a:xfrm>
            <a:off x="812799" y="1214090"/>
            <a:ext cx="10203182" cy="1412181"/>
          </a:xfrm>
          <a:prstGeom prst="rect">
            <a:avLst/>
          </a:prstGeom>
        </p:spPr>
        <p:txBody>
          <a:bodyPr/>
          <a:lstStyle>
            <a:lvl1pPr>
              <a:lnSpc>
                <a:spcPts val="5400"/>
              </a:lnSpc>
            </a:lvl1pPr>
          </a:lstStyle>
          <a:p>
            <a:pPr/>
            <a:r>
              <a:t>Semantic search is a view, not a second database.</a:t>
            </a:r>
          </a:p>
        </p:txBody>
      </p:sp>
      <p:pic>
        <p:nvPicPr>
          <p:cNvPr id="440" name="Image 0" descr="Image 0"/>
          <p:cNvPicPr>
            <a:picLocks noChangeAspect="1"/>
          </p:cNvPicPr>
          <p:nvPr/>
        </p:nvPicPr>
        <p:blipFill>
          <a:blip r:embed="rId3">
            <a:extLst/>
          </a:blip>
          <a:stretch>
            <a:fillRect/>
          </a:stretch>
        </p:blipFill>
        <p:spPr>
          <a:xfrm>
            <a:off x="812800" y="2855461"/>
            <a:ext cx="10566400" cy="1903820"/>
          </a:xfrm>
          <a:prstGeom prst="rect">
            <a:avLst/>
          </a:prstGeom>
          <a:ln w="12700">
            <a:miter lim="400000"/>
          </a:ln>
        </p:spPr>
      </p:pic>
      <p:sp>
        <p:nvSpPr>
          <p:cNvPr id="441" name="Text 2"/>
          <p:cNvSpPr txBox="1"/>
          <p:nvPr/>
        </p:nvSpPr>
        <p:spPr>
          <a:xfrm>
            <a:off x="812800" y="5013871"/>
            <a:ext cx="9810750" cy="685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600"/>
              </a:lnSpc>
              <a:defRPr sz="2000">
                <a:solidFill>
                  <a:schemeClr val="accent2"/>
                </a:solidFill>
              </a:defRPr>
            </a:lvl1pPr>
          </a:lstStyle>
          <a:p>
            <a:pPr/>
            <a:r>
              <a:t>Because the hit is an address, it can be intersected with fields, records and word matches.</a:t>
            </a:r>
          </a:p>
        </p:txBody>
      </p:sp>
    </p:spTree>
  </p:cSld>
  <p:clrMapOvr>
    <a:masterClrMapping/>
  </p:clrMapOvr>
  <p:transition xmlns:p14="http://schemas.microsoft.com/office/powerpoint/2010/main" spd="med" advClick="1"/>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5" name="Text 0"/>
          <p:cNvSpPr txBox="1"/>
          <p:nvPr/>
        </p:nvSpPr>
        <p:spPr>
          <a:xfrm>
            <a:off x="812799" y="6604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SEMANTIC SEARCH</a:t>
            </a:r>
          </a:p>
        </p:txBody>
      </p:sp>
      <p:sp>
        <p:nvSpPr>
          <p:cNvPr id="446" name="Text 1"/>
          <p:cNvSpPr txBox="1"/>
          <p:nvPr>
            <p:ph type="title"/>
          </p:nvPr>
        </p:nvSpPr>
        <p:spPr>
          <a:xfrm>
            <a:off x="812799" y="1125190"/>
            <a:ext cx="10203182" cy="1358901"/>
          </a:xfrm>
          <a:prstGeom prst="rect">
            <a:avLst/>
          </a:prstGeom>
        </p:spPr>
        <p:txBody>
          <a:bodyPr/>
          <a:lstStyle>
            <a:lvl1pPr>
              <a:lnSpc>
                <a:spcPts val="5200"/>
              </a:lnSpc>
              <a:defRPr sz="5000"/>
            </a:lvl1pPr>
          </a:lstStyle>
          <a:p>
            <a:pPr/>
            <a:r>
              <a:t>A single vector can’t return every combination of documents.</a:t>
            </a:r>
          </a:p>
        </p:txBody>
      </p:sp>
      <p:sp>
        <p:nvSpPr>
          <p:cNvPr id="447" name="Text 2"/>
          <p:cNvSpPr txBox="1"/>
          <p:nvPr/>
        </p:nvSpPr>
        <p:spPr>
          <a:xfrm>
            <a:off x="812800" y="2674590"/>
            <a:ext cx="5258562"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pc="100" sz="1300">
                <a:solidFill>
                  <a:schemeClr val="accent3"/>
                </a:solidFill>
              </a:defRPr>
            </a:lvl1pPr>
          </a:lstStyle>
          <a:p>
            <a:pPr/>
            <a:r>
              <a:t>THE PROOF</a:t>
            </a:r>
          </a:p>
        </p:txBody>
      </p:sp>
      <p:sp>
        <p:nvSpPr>
          <p:cNvPr id="448" name="Text 3"/>
          <p:cNvSpPr txBox="1"/>
          <p:nvPr/>
        </p:nvSpPr>
        <p:spPr>
          <a:xfrm>
            <a:off x="812800" y="3020019"/>
            <a:ext cx="5258562" cy="114796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200"/>
              </a:lnSpc>
              <a:defRPr sz="1700">
                <a:solidFill>
                  <a:srgbClr val="ECE8DD"/>
                </a:solidFill>
              </a:defRPr>
            </a:lvl1pPr>
          </a:lstStyle>
          <a:p>
            <a:pPr/>
            <a:r>
              <a:t>The number of top-k sets a d-dimensional embedding can return is bounded by d. Some pairs of documents can never be returned together, for any query.</a:t>
            </a:r>
          </a:p>
        </p:txBody>
      </p:sp>
      <p:sp>
        <p:nvSpPr>
          <p:cNvPr id="449" name="Text 4"/>
          <p:cNvSpPr txBox="1"/>
          <p:nvPr/>
        </p:nvSpPr>
        <p:spPr>
          <a:xfrm>
            <a:off x="812800" y="4256880"/>
            <a:ext cx="5258562" cy="4876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800"/>
              </a:lnSpc>
              <a:defRPr sz="1300">
                <a:solidFill>
                  <a:schemeClr val="accent3"/>
                </a:solidFill>
              </a:defRPr>
            </a:pPr>
            <a:r>
              <a:t>Weller, Boratko, Naim &amp; Lee, </a:t>
            </a:r>
            <a:r>
              <a:rPr i="1"/>
              <a:t>On the Theoretical Limitations of Embedding-Based Retrieval</a:t>
            </a:r>
            <a:r>
              <a:t>, 2025 (ICLR 2026)</a:t>
            </a:r>
          </a:p>
        </p:txBody>
      </p:sp>
      <p:sp>
        <p:nvSpPr>
          <p:cNvPr id="450" name="Text 5"/>
          <p:cNvSpPr txBox="1"/>
          <p:nvPr/>
        </p:nvSpPr>
        <p:spPr>
          <a:xfrm>
            <a:off x="6273800" y="2674590"/>
            <a:ext cx="5258562"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pc="100" sz="1300">
                <a:solidFill>
                  <a:schemeClr val="accent1"/>
                </a:solidFill>
              </a:defRPr>
            </a:lvl1pPr>
          </a:lstStyle>
          <a:p>
            <a:pPr/>
            <a:r>
              <a:t>THE TEST: “WHO LIKES QUOKKAS?”</a:t>
            </a:r>
          </a:p>
        </p:txBody>
      </p:sp>
      <p:sp>
        <p:nvSpPr>
          <p:cNvPr id="451" name="Shape 6"/>
          <p:cNvSpPr/>
          <p:nvPr/>
        </p:nvSpPr>
        <p:spPr>
          <a:xfrm>
            <a:off x="6273800" y="3032719"/>
            <a:ext cx="2463800" cy="1"/>
          </a:xfrm>
          <a:prstGeom prst="line">
            <a:avLst/>
          </a:prstGeom>
          <a:ln w="25400">
            <a:solidFill>
              <a:schemeClr val="accent1"/>
            </a:solidFill>
          </a:ln>
        </p:spPr>
        <p:txBody>
          <a:bodyPr lIns="45719" rIns="45719"/>
          <a:lstStyle/>
          <a:p>
            <a:pPr>
              <a:defRPr>
                <a:solidFill>
                  <a:srgbClr val="ECE8DD"/>
                </a:solidFill>
              </a:defRPr>
            </a:pPr>
          </a:p>
        </p:txBody>
      </p:sp>
      <p:sp>
        <p:nvSpPr>
          <p:cNvPr id="452" name="Text 7"/>
          <p:cNvSpPr txBox="1"/>
          <p:nvPr/>
        </p:nvSpPr>
        <p:spPr>
          <a:xfrm>
            <a:off x="6273800" y="3134319"/>
            <a:ext cx="2537715" cy="5943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4400"/>
              </a:lnSpc>
              <a:defRPr sz="3200">
                <a:solidFill>
                  <a:schemeClr val="accent1"/>
                </a:solidFill>
                <a:latin typeface="JetBrains Mono"/>
                <a:ea typeface="JetBrains Mono"/>
                <a:cs typeface="JetBrains Mono"/>
                <a:sym typeface="JetBrains Mono"/>
              </a:defRPr>
            </a:lvl1pPr>
          </a:lstStyle>
          <a:p>
            <a:pPr/>
            <a:r>
              <a:t>10.0</a:t>
            </a:r>
          </a:p>
        </p:txBody>
      </p:sp>
      <p:sp>
        <p:nvSpPr>
          <p:cNvPr id="453" name="Text 8"/>
          <p:cNvSpPr txBox="1"/>
          <p:nvPr/>
        </p:nvSpPr>
        <p:spPr>
          <a:xfrm>
            <a:off x="6273800" y="3703241"/>
            <a:ext cx="2537715" cy="42158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200">
                <a:solidFill>
                  <a:schemeClr val="accent2"/>
                </a:solidFill>
              </a:defRPr>
            </a:lvl1pPr>
          </a:lstStyle>
          <a:p>
            <a:pPr/>
            <a:r>
              <a:t>Gemini Embed, 3072-d, recall@100</a:t>
            </a:r>
          </a:p>
        </p:txBody>
      </p:sp>
      <p:sp>
        <p:nvSpPr>
          <p:cNvPr id="454" name="Shape 9"/>
          <p:cNvSpPr/>
          <p:nvPr/>
        </p:nvSpPr>
        <p:spPr>
          <a:xfrm>
            <a:off x="8915400" y="3032719"/>
            <a:ext cx="2463800" cy="1"/>
          </a:xfrm>
          <a:prstGeom prst="line">
            <a:avLst/>
          </a:prstGeom>
          <a:ln w="25400">
            <a:solidFill>
              <a:schemeClr val="accent4"/>
            </a:solidFill>
          </a:ln>
        </p:spPr>
        <p:txBody>
          <a:bodyPr lIns="45719" rIns="45719"/>
          <a:lstStyle/>
          <a:p>
            <a:pPr>
              <a:defRPr>
                <a:solidFill>
                  <a:srgbClr val="ECE8DD"/>
                </a:solidFill>
              </a:defRPr>
            </a:pPr>
          </a:p>
        </p:txBody>
      </p:sp>
      <p:sp>
        <p:nvSpPr>
          <p:cNvPr id="455" name="Text 10"/>
          <p:cNvSpPr txBox="1"/>
          <p:nvPr/>
        </p:nvSpPr>
        <p:spPr>
          <a:xfrm>
            <a:off x="8915400" y="3134319"/>
            <a:ext cx="2537715" cy="5943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4400"/>
              </a:lnSpc>
              <a:defRPr sz="3200">
                <a:solidFill>
                  <a:srgbClr val="ECE8DD"/>
                </a:solidFill>
                <a:latin typeface="JetBrains Mono"/>
                <a:ea typeface="JetBrains Mono"/>
                <a:cs typeface="JetBrains Mono"/>
                <a:sym typeface="JetBrains Mono"/>
              </a:defRPr>
            </a:lvl1pPr>
          </a:lstStyle>
          <a:p>
            <a:pPr/>
            <a:r>
              <a:t>18.9</a:t>
            </a:r>
          </a:p>
        </p:txBody>
      </p:sp>
      <p:sp>
        <p:nvSpPr>
          <p:cNvPr id="456" name="Text 11"/>
          <p:cNvSpPr txBox="1"/>
          <p:nvPr/>
        </p:nvSpPr>
        <p:spPr>
          <a:xfrm>
            <a:off x="8915400" y="3703241"/>
            <a:ext cx="2537715" cy="2234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200">
                <a:solidFill>
                  <a:schemeClr val="accent2"/>
                </a:solidFill>
              </a:defRPr>
            </a:lvl1pPr>
          </a:lstStyle>
          <a:p>
            <a:pPr/>
            <a:r>
              <a:t>Promptriever, 4096-d, recall@100</a:t>
            </a:r>
          </a:p>
        </p:txBody>
      </p:sp>
      <p:sp>
        <p:nvSpPr>
          <p:cNvPr id="457" name="Text 12"/>
          <p:cNvSpPr txBox="1"/>
          <p:nvPr/>
        </p:nvSpPr>
        <p:spPr>
          <a:xfrm>
            <a:off x="6273800" y="4213721"/>
            <a:ext cx="5258562" cy="5054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chemeClr val="accent2"/>
                </a:solidFill>
              </a:defRPr>
            </a:lvl1pPr>
          </a:lstStyle>
          <a:p>
            <a:pPr/>
            <a:r>
              <a:t>50,000 documents, 1,000 one-attribute queries. A cross-encoder solved all 1,000.</a:t>
            </a:r>
          </a:p>
        </p:txBody>
      </p:sp>
      <p:sp>
        <p:nvSpPr>
          <p:cNvPr id="458" name="Text 13"/>
          <p:cNvSpPr txBox="1"/>
          <p:nvPr/>
        </p:nvSpPr>
        <p:spPr>
          <a:xfrm>
            <a:off x="812799" y="4935041"/>
            <a:ext cx="10203182" cy="3225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300"/>
              </a:lnSpc>
              <a:defRPr>
                <a:solidFill>
                  <a:srgbClr val="ECE8DD"/>
                </a:solidFill>
              </a:defRPr>
            </a:lvl1pPr>
          </a:lstStyle>
          <a:p>
            <a:pPr/>
            <a:r>
              <a:t>A vector is a lossy view. Keep the exact evidence beside it.</a:t>
            </a:r>
          </a:p>
        </p:txBody>
      </p:sp>
    </p:spTree>
  </p:cSld>
  <p:clrMapOvr>
    <a:masterClrMapping/>
  </p:clrMapOvr>
  <p:transition xmlns:p14="http://schemas.microsoft.com/office/powerpoint/2010/main" spd="med" advClick="1"/>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2" name="Text 0"/>
          <p:cNvSpPr txBox="1"/>
          <p:nvPr/>
        </p:nvSpPr>
        <p:spPr>
          <a:xfrm>
            <a:off x="812799" y="660400"/>
            <a:ext cx="10883394" cy="24809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b="1" spc="100" sz="1200">
                <a:solidFill>
                  <a:schemeClr val="accent1"/>
                </a:solidFill>
              </a:defRPr>
            </a:lvl1pPr>
          </a:lstStyle>
          <a:p>
            <a:pPr/>
            <a:r>
              <a:t>HYBRID EVIDENCE</a:t>
            </a:r>
          </a:p>
        </p:txBody>
      </p:sp>
      <p:sp>
        <p:nvSpPr>
          <p:cNvPr id="463" name="Text 1"/>
          <p:cNvSpPr txBox="1"/>
          <p:nvPr>
            <p:ph type="title"/>
          </p:nvPr>
        </p:nvSpPr>
        <p:spPr>
          <a:xfrm>
            <a:off x="812799" y="1111695"/>
            <a:ext cx="10203182" cy="1218656"/>
          </a:xfrm>
          <a:prstGeom prst="rect">
            <a:avLst/>
          </a:prstGeom>
        </p:spPr>
        <p:txBody>
          <a:bodyPr/>
          <a:lstStyle>
            <a:lvl1pPr>
              <a:lnSpc>
                <a:spcPts val="4700"/>
              </a:lnSpc>
              <a:defRPr sz="4400"/>
            </a:lvl1pPr>
          </a:lstStyle>
          <a:p>
            <a:pPr/>
            <a:r>
              <a:t>Every kind of evidence becomes energy before it is combined.</a:t>
            </a:r>
          </a:p>
        </p:txBody>
      </p:sp>
      <p:sp>
        <p:nvSpPr>
          <p:cNvPr id="464" name="Text 2"/>
          <p:cNvSpPr txBox="1"/>
          <p:nvPr/>
        </p:nvSpPr>
        <p:spPr>
          <a:xfrm>
            <a:off x="812800" y="2533550"/>
            <a:ext cx="5258562"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pc="100" sz="1300">
                <a:solidFill>
                  <a:schemeClr val="accent3"/>
                </a:solidFill>
              </a:defRPr>
            </a:lvl1pPr>
          </a:lstStyle>
          <a:p>
            <a:pPr/>
            <a:r>
              <a:t>WORDS</a:t>
            </a:r>
          </a:p>
        </p:txBody>
      </p:sp>
      <p:grpSp>
        <p:nvGrpSpPr>
          <p:cNvPr id="467" name="Text 3"/>
          <p:cNvGrpSpPr/>
          <p:nvPr/>
        </p:nvGrpSpPr>
        <p:grpSpPr>
          <a:xfrm>
            <a:off x="819150" y="2885331"/>
            <a:ext cx="5092700" cy="603251"/>
            <a:chOff x="0" y="0"/>
            <a:chExt cx="5092700" cy="603250"/>
          </a:xfrm>
        </p:grpSpPr>
        <p:sp>
          <p:nvSpPr>
            <p:cNvPr id="465" name="Rounded Rectangle"/>
            <p:cNvSpPr/>
            <p:nvPr/>
          </p:nvSpPr>
          <p:spPr>
            <a:xfrm>
              <a:off x="0" y="0"/>
              <a:ext cx="5092700" cy="603250"/>
            </a:xfrm>
            <a:prstGeom prst="roundRect">
              <a:avLst>
                <a:gd name="adj" fmla="val 11579"/>
              </a:avLst>
            </a:prstGeom>
            <a:solidFill>
              <a:srgbClr val="0D1015"/>
            </a:solidFill>
            <a:ln w="12700" cap="flat">
              <a:solidFill>
                <a:schemeClr val="accent4"/>
              </a:solidFill>
              <a:prstDash val="solid"/>
              <a:round/>
            </a:ln>
            <a:effectLst/>
          </p:spPr>
          <p:txBody>
            <a:bodyPr wrap="square" lIns="45719" tIns="45719" rIns="45719" bIns="45719" numCol="1" anchor="t">
              <a:noAutofit/>
            </a:bodyPr>
            <a:lstStyle/>
            <a:p>
              <a:pPr>
                <a:lnSpc>
                  <a:spcPts val="2200"/>
                </a:lnSpc>
                <a:defRPr sz="1500">
                  <a:solidFill>
                    <a:srgbClr val="ECE8DD"/>
                  </a:solidFill>
                </a:defRPr>
              </a:pPr>
            </a:p>
          </p:txBody>
        </p:sp>
        <p:sp>
          <p:nvSpPr>
            <p:cNvPr id="466" name="energy = found / possible"/>
            <p:cNvSpPr txBox="1"/>
            <p:nvPr/>
          </p:nvSpPr>
          <p:spPr>
            <a:xfrm>
              <a:off x="167016" y="116215"/>
              <a:ext cx="4898876" cy="39622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8884" tIns="48884" rIns="48884" bIns="48884" numCol="1" anchor="t">
              <a:normAutofit fontScale="100000" lnSpcReduction="0"/>
            </a:bodyPr>
            <a:lstStyle>
              <a:lvl1pPr>
                <a:lnSpc>
                  <a:spcPts val="2200"/>
                </a:lnSpc>
                <a:defRPr sz="1500">
                  <a:solidFill>
                    <a:srgbClr val="ECE8DD"/>
                  </a:solidFill>
                  <a:latin typeface="JetBrains Mono"/>
                  <a:ea typeface="JetBrains Mono"/>
                  <a:cs typeface="JetBrains Mono"/>
                  <a:sym typeface="JetBrains Mono"/>
                </a:defRPr>
              </a:lvl1pPr>
            </a:lstStyle>
            <a:p>
              <a:pPr/>
              <a:r>
                <a:t>energy = found / possible</a:t>
              </a:r>
            </a:p>
          </p:txBody>
        </p:sp>
      </p:grpSp>
      <p:sp>
        <p:nvSpPr>
          <p:cNvPr id="468" name="Text 4"/>
          <p:cNvSpPr txBox="1"/>
          <p:nvPr/>
        </p:nvSpPr>
        <p:spPr>
          <a:xfrm>
            <a:off x="812800" y="3609230"/>
            <a:ext cx="5258562" cy="53975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500">
                <a:solidFill>
                  <a:schemeClr val="accent2"/>
                </a:solidFill>
              </a:defRPr>
            </a:lvl1pPr>
          </a:lstStyle>
          <a:p>
            <a:pPr/>
            <a:r>
              <a:t>Two of three query terms inside the span: energy 0.67. A fraction of the evidence the query asked for.</a:t>
            </a:r>
          </a:p>
        </p:txBody>
      </p:sp>
      <p:sp>
        <p:nvSpPr>
          <p:cNvPr id="469" name="Text 5"/>
          <p:cNvSpPr txBox="1"/>
          <p:nvPr/>
        </p:nvSpPr>
        <p:spPr>
          <a:xfrm>
            <a:off x="812800" y="4237880"/>
            <a:ext cx="5258562"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pc="100" sz="1300">
                <a:solidFill>
                  <a:schemeClr val="accent3"/>
                </a:solidFill>
              </a:defRPr>
            </a:lvl1pPr>
          </a:lstStyle>
          <a:p>
            <a:pPr/>
            <a:r>
              <a:t>VECTORS</a:t>
            </a:r>
          </a:p>
        </p:txBody>
      </p:sp>
      <p:sp>
        <p:nvSpPr>
          <p:cNvPr id="470" name="Shape 6"/>
          <p:cNvSpPr/>
          <p:nvPr/>
        </p:nvSpPr>
        <p:spPr>
          <a:xfrm>
            <a:off x="819150" y="4589660"/>
            <a:ext cx="5092700" cy="850901"/>
          </a:xfrm>
          <a:prstGeom prst="roundRect">
            <a:avLst>
              <a:gd name="adj" fmla="val 8209"/>
            </a:avLst>
          </a:prstGeom>
          <a:solidFill>
            <a:srgbClr val="0D1015"/>
          </a:solidFill>
          <a:ln w="12700">
            <a:solidFill>
              <a:schemeClr val="accent1"/>
            </a:solidFill>
          </a:ln>
        </p:spPr>
        <p:txBody>
          <a:bodyPr lIns="45719" rIns="45719"/>
          <a:lstStyle/>
          <a:p>
            <a:pPr>
              <a:defRPr>
                <a:solidFill>
                  <a:srgbClr val="ECE8DD"/>
                </a:solidFill>
              </a:defRPr>
            </a:pPr>
          </a:p>
        </p:txBody>
      </p:sp>
      <p:sp>
        <p:nvSpPr>
          <p:cNvPr id="471" name="Text 7"/>
          <p:cNvSpPr txBox="1"/>
          <p:nvPr/>
        </p:nvSpPr>
        <p:spPr>
          <a:xfrm>
            <a:off x="1028699" y="4748410"/>
            <a:ext cx="4813810"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400">
                <a:solidFill>
                  <a:srgbClr val="ECE8DD"/>
                </a:solidFill>
                <a:latin typeface="JetBrains Mono"/>
                <a:ea typeface="JetBrains Mono"/>
                <a:cs typeface="JetBrains Mono"/>
                <a:sym typeface="JetBrains Mono"/>
              </a:defRPr>
            </a:lvl1pPr>
          </a:lstStyle>
          <a:p>
            <a:pPr/>
            <a:r>
              <a:t>tail = (N − rank + 1) / (N + 1)</a:t>
            </a:r>
          </a:p>
        </p:txBody>
      </p:sp>
      <p:sp>
        <p:nvSpPr>
          <p:cNvPr id="472" name="Text 8"/>
          <p:cNvSpPr txBox="1"/>
          <p:nvPr/>
        </p:nvSpPr>
        <p:spPr>
          <a:xfrm>
            <a:off x="1028699" y="5015110"/>
            <a:ext cx="4813810"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400">
                <a:solidFill>
                  <a:srgbClr val="ECE8DD"/>
                </a:solidFill>
                <a:latin typeface="JetBrains Mono"/>
                <a:ea typeface="JetBrains Mono"/>
                <a:cs typeface="JetBrains Mono"/>
                <a:sym typeface="JetBrains Mono"/>
              </a:defRPr>
            </a:lvl1pPr>
          </a:lstStyle>
          <a:p>
            <a:pPr/>
            <a:r>
              <a:t>information = −log(tail)</a:t>
            </a:r>
          </a:p>
        </p:txBody>
      </p:sp>
      <p:sp>
        <p:nvSpPr>
          <p:cNvPr id="473" name="Text 9"/>
          <p:cNvSpPr txBox="1"/>
          <p:nvPr/>
        </p:nvSpPr>
        <p:spPr>
          <a:xfrm>
            <a:off x="812800" y="5561210"/>
            <a:ext cx="5258562" cy="53975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500">
                <a:solidFill>
                  <a:schemeClr val="accent2"/>
                </a:solidFill>
              </a:defRPr>
            </a:lvl1pPr>
          </a:lstStyle>
          <a:p>
            <a:pPr/>
            <a:r>
              <a:t>A cosine score means nothing alone. How rare is it against a sampled background for this model and field?</a:t>
            </a:r>
          </a:p>
        </p:txBody>
      </p:sp>
      <p:pic>
        <p:nvPicPr>
          <p:cNvPr id="474" name="Image 0" descr="Image 0"/>
          <p:cNvPicPr>
            <a:picLocks noChangeAspect="1"/>
          </p:cNvPicPr>
          <p:nvPr/>
        </p:nvPicPr>
        <p:blipFill>
          <a:blip r:embed="rId3">
            <a:extLst/>
          </a:blip>
          <a:stretch>
            <a:fillRect/>
          </a:stretch>
        </p:blipFill>
        <p:spPr>
          <a:xfrm>
            <a:off x="6273800" y="2533550"/>
            <a:ext cx="4826000" cy="3302001"/>
          </a:xfrm>
          <a:prstGeom prst="rect">
            <a:avLst/>
          </a:prstGeom>
          <a:ln w="12700">
            <a:miter lim="400000"/>
          </a:ln>
        </p:spPr>
      </p:pic>
      <p:sp>
        <p:nvSpPr>
          <p:cNvPr id="475" name="Text 10"/>
          <p:cNvSpPr txBox="1"/>
          <p:nvPr/>
        </p:nvSpPr>
        <p:spPr>
          <a:xfrm>
            <a:off x="812799" y="5931694"/>
            <a:ext cx="10203182" cy="291307"/>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600">
                <a:solidFill>
                  <a:schemeClr val="accent2"/>
                </a:solidFill>
              </a:defRPr>
            </a:lvl1pPr>
          </a:lstStyle>
          <a:p>
            <a:pPr/>
            <a:r>
              <a:t>Rarity is not relevance. It only gives vectors and words a common, bounded scale.</a:t>
            </a:r>
          </a:p>
        </p:txBody>
      </p:sp>
    </p:spTree>
  </p:cSld>
  <p:clrMapOvr>
    <a:masterClrMapping/>
  </p:clrMapOvr>
  <p:transition xmlns:p14="http://schemas.microsoft.com/office/powerpoint/2010/main" spd="med" advClick="1"/>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79" name="IB_ Lexical + vector, one score-1.png" descr="IB_ Lexical + vector, one score-1.png"/>
          <p:cNvPicPr>
            <a:picLocks noChangeAspect="1"/>
          </p:cNvPicPr>
          <p:nvPr/>
        </p:nvPicPr>
        <p:blipFill>
          <a:blip r:embed="rId2">
            <a:extLst/>
          </a:blip>
          <a:stretch>
            <a:fillRect/>
          </a:stretch>
        </p:blipFill>
        <p:spPr>
          <a:xfrm>
            <a:off x="3239" y="-1"/>
            <a:ext cx="12185522" cy="6858001"/>
          </a:xfrm>
          <a:prstGeom prst="rect">
            <a:avLst/>
          </a:prstGeom>
          <a:ln w="12700">
            <a:miter lim="400000"/>
          </a:ln>
        </p:spPr>
      </p:pic>
    </p:spTree>
  </p:cSld>
  <p:clrMapOvr>
    <a:masterClrMapping/>
  </p:clrMapOvr>
  <p:transition xmlns:p14="http://schemas.microsoft.com/office/powerpoint/2010/main" spd="med" advClick="1"/>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81" name="Parallel evidence routes to weighted fusion-2.png" descr="Parallel evidence routes to weighted fusion-2.png"/>
          <p:cNvPicPr>
            <a:picLocks noChangeAspect="1"/>
          </p:cNvPicPr>
          <p:nvPr/>
        </p:nvPicPr>
        <p:blipFill>
          <a:blip r:embed="rId2">
            <a:extLst/>
          </a:blip>
          <a:stretch>
            <a:fillRect/>
          </a:stretch>
        </p:blipFill>
        <p:spPr>
          <a:xfrm>
            <a:off x="3239" y="0"/>
            <a:ext cx="12185522" cy="6858001"/>
          </a:xfrm>
          <a:prstGeom prst="rect">
            <a:avLst/>
          </a:prstGeom>
          <a:ln w="12700">
            <a:miter lim="400000"/>
          </a:ln>
        </p:spPr>
      </p:pic>
    </p:spTree>
  </p:cSld>
  <p:clrMapOvr>
    <a:masterClrMapping/>
  </p:clrMapOvr>
  <p:transition xmlns:p14="http://schemas.microsoft.com/office/powerpoint/2010/main" spd="med" advClick="1"/>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83" name="IB E2_ Two-phase score normalization.png" descr="IB E2_ Two-phase score normalization.png"/>
          <p:cNvPicPr>
            <a:picLocks noChangeAspect="1"/>
          </p:cNvPicPr>
          <p:nvPr/>
        </p:nvPicPr>
        <p:blipFill>
          <a:blip r:embed="rId2">
            <a:extLst/>
          </a:blip>
          <a:stretch>
            <a:fillRect/>
          </a:stretch>
        </p:blipFill>
        <p:spPr>
          <a:xfrm>
            <a:off x="-113682" y="0"/>
            <a:ext cx="12185523" cy="6858001"/>
          </a:xfrm>
          <a:prstGeom prst="rect">
            <a:avLst/>
          </a:prstGeom>
          <a:ln w="12700">
            <a:miter lim="400000"/>
          </a:ln>
        </p:spPr>
      </p:pic>
    </p:spTree>
  </p:cSld>
  <p:clrMapOvr>
    <a:masterClrMapping/>
  </p:clrMapOvr>
  <p:transition xmlns:p14="http://schemas.microsoft.com/office/powerpoint/2010/main" spd="med" advClick="1"/>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5" name="Text 0"/>
          <p:cNvSpPr txBox="1"/>
          <p:nvPr/>
        </p:nvSpPr>
        <p:spPr>
          <a:xfrm>
            <a:off x="812799" y="6604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HYBRID EVIDENCE</a:t>
            </a:r>
          </a:p>
        </p:txBody>
      </p:sp>
      <p:sp>
        <p:nvSpPr>
          <p:cNvPr id="486" name="Text 1"/>
          <p:cNvSpPr txBox="1"/>
          <p:nvPr>
            <p:ph type="title"/>
          </p:nvPr>
        </p:nvSpPr>
        <p:spPr>
          <a:xfrm>
            <a:off x="812799" y="1137890"/>
            <a:ext cx="10203182" cy="1358901"/>
          </a:xfrm>
          <a:prstGeom prst="rect">
            <a:avLst/>
          </a:prstGeom>
        </p:spPr>
        <p:txBody>
          <a:bodyPr/>
          <a:lstStyle>
            <a:lvl1pPr>
              <a:lnSpc>
                <a:spcPts val="5200"/>
              </a:lnSpc>
              <a:defRPr sz="5000"/>
            </a:lvl1pPr>
          </a:lstStyle>
          <a:p>
            <a:pPr/>
            <a:r>
              <a:t>A cover wins by holding more evidence in less space.</a:t>
            </a:r>
          </a:p>
        </p:txBody>
      </p:sp>
      <p:sp>
        <p:nvSpPr>
          <p:cNvPr id="487" name="Shape 2"/>
          <p:cNvSpPr/>
          <p:nvPr/>
        </p:nvSpPr>
        <p:spPr>
          <a:xfrm>
            <a:off x="819150" y="2706340"/>
            <a:ext cx="9893300" cy="1404591"/>
          </a:xfrm>
          <a:prstGeom prst="roundRect">
            <a:avLst>
              <a:gd name="adj" fmla="val 4973"/>
            </a:avLst>
          </a:prstGeom>
          <a:solidFill>
            <a:srgbClr val="0D1015"/>
          </a:solidFill>
          <a:ln w="12700">
            <a:solidFill>
              <a:schemeClr val="accent4"/>
            </a:solidFill>
          </a:ln>
        </p:spPr>
        <p:txBody>
          <a:bodyPr lIns="45719" rIns="45719"/>
          <a:lstStyle/>
          <a:p>
            <a:pPr>
              <a:defRPr>
                <a:solidFill>
                  <a:srgbClr val="ECE8DD"/>
                </a:solidFill>
              </a:defRPr>
            </a:pPr>
          </a:p>
        </p:txBody>
      </p:sp>
      <p:sp>
        <p:nvSpPr>
          <p:cNvPr id="488" name="Text 3"/>
          <p:cNvSpPr txBox="1"/>
          <p:nvPr/>
        </p:nvSpPr>
        <p:spPr>
          <a:xfrm>
            <a:off x="1079499" y="2890490"/>
            <a:ext cx="9653780" cy="3708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700"/>
              </a:lnSpc>
              <a:defRPr sz="1700">
                <a:solidFill>
                  <a:srgbClr val="ECE8DD"/>
                </a:solidFill>
                <a:latin typeface="JetBrains Mono"/>
                <a:ea typeface="JetBrains Mono"/>
                <a:cs typeface="JetBrains Mono"/>
                <a:sym typeface="JetBrains Mono"/>
              </a:defRPr>
            </a:lvl1pPr>
          </a:lstStyle>
          <a:p>
            <a:pPr/>
            <a:r>
              <a:t>rank = energy</a:t>
            </a:r>
          </a:p>
        </p:txBody>
      </p:sp>
      <p:sp>
        <p:nvSpPr>
          <p:cNvPr id="489" name="Text 4"/>
          <p:cNvSpPr txBox="1"/>
          <p:nvPr/>
        </p:nvSpPr>
        <p:spPr>
          <a:xfrm>
            <a:off x="1079499" y="3235919"/>
            <a:ext cx="9653780" cy="3708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700"/>
              </a:lnSpc>
              <a:defRPr sz="1700">
                <a:solidFill>
                  <a:srgbClr val="ECE8DD"/>
                </a:solidFill>
                <a:latin typeface="JetBrains Mono"/>
                <a:ea typeface="JetBrains Mono"/>
                <a:cs typeface="JetBrains Mono"/>
                <a:sym typeface="JetBrains Mono"/>
              </a:defRPr>
            </a:lvl1pPr>
          </a:lstStyle>
          <a:p>
            <a:pPr/>
            <a:r>
              <a:t>× 1 / (1 + dispersion / 32)</a:t>
            </a:r>
          </a:p>
        </p:txBody>
      </p:sp>
      <p:sp>
        <p:nvSpPr>
          <p:cNvPr id="490" name="Text 5"/>
          <p:cNvSpPr txBox="1"/>
          <p:nvPr/>
        </p:nvSpPr>
        <p:spPr>
          <a:xfrm>
            <a:off x="1079499" y="3581350"/>
            <a:ext cx="9653780" cy="3708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700"/>
              </a:lnSpc>
              <a:defRPr sz="1700">
                <a:solidFill>
                  <a:schemeClr val="accent3"/>
                </a:solidFill>
                <a:latin typeface="JetBrains Mono"/>
                <a:ea typeface="JetBrains Mono"/>
                <a:cs typeface="JetBrains Mono"/>
                <a:sym typeface="JetBrains Mono"/>
              </a:defRPr>
            </a:lvl1pPr>
          </a:lstStyle>
          <a:p>
            <a:pPr/>
            <a:r>
              <a:t>dispersion = extent width in bytes ÷ evidence items</a:t>
            </a:r>
          </a:p>
        </p:txBody>
      </p:sp>
      <p:sp>
        <p:nvSpPr>
          <p:cNvPr id="491" name="Shape 6"/>
          <p:cNvSpPr/>
          <p:nvPr/>
        </p:nvSpPr>
        <p:spPr>
          <a:xfrm>
            <a:off x="812800" y="4358580"/>
            <a:ext cx="3386634" cy="1"/>
          </a:xfrm>
          <a:prstGeom prst="line">
            <a:avLst/>
          </a:prstGeom>
          <a:ln w="25400">
            <a:solidFill>
              <a:schemeClr val="accent1"/>
            </a:solidFill>
          </a:ln>
        </p:spPr>
        <p:txBody>
          <a:bodyPr lIns="45719" rIns="45719"/>
          <a:lstStyle/>
          <a:p>
            <a:pPr>
              <a:defRPr>
                <a:solidFill>
                  <a:srgbClr val="ECE8DD"/>
                </a:solidFill>
              </a:defRPr>
            </a:pPr>
          </a:p>
        </p:txBody>
      </p:sp>
      <p:sp>
        <p:nvSpPr>
          <p:cNvPr id="492" name="Text 7"/>
          <p:cNvSpPr txBox="1"/>
          <p:nvPr/>
        </p:nvSpPr>
        <p:spPr>
          <a:xfrm>
            <a:off x="812800" y="4498280"/>
            <a:ext cx="3488233" cy="5943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4400"/>
              </a:lnSpc>
              <a:defRPr sz="3200">
                <a:solidFill>
                  <a:schemeClr val="accent1"/>
                </a:solidFill>
                <a:latin typeface="JetBrains Mono"/>
                <a:ea typeface="JetBrains Mono"/>
                <a:cs typeface="JetBrains Mono"/>
                <a:sym typeface="JetBrains Mono"/>
              </a:defRPr>
            </a:lvl1pPr>
          </a:lstStyle>
          <a:p>
            <a:pPr/>
            <a:r>
              <a:t>0.62</a:t>
            </a:r>
          </a:p>
        </p:txBody>
      </p:sp>
      <p:sp>
        <p:nvSpPr>
          <p:cNvPr id="493" name="Text 8"/>
          <p:cNvSpPr txBox="1"/>
          <p:nvPr/>
        </p:nvSpPr>
        <p:spPr>
          <a:xfrm>
            <a:off x="812800" y="5118001"/>
            <a:ext cx="3488233"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rgbClr val="ECE8DD"/>
                </a:solidFill>
              </a:defRPr>
            </a:lvl1pPr>
          </a:lstStyle>
          <a:p>
            <a:pPr/>
            <a:r>
              <a:t>both terms within 40 bytes</a:t>
            </a:r>
          </a:p>
        </p:txBody>
      </p:sp>
      <p:sp>
        <p:nvSpPr>
          <p:cNvPr id="494" name="Shape 9"/>
          <p:cNvSpPr/>
          <p:nvPr/>
        </p:nvSpPr>
        <p:spPr>
          <a:xfrm>
            <a:off x="4402633" y="4358580"/>
            <a:ext cx="3386684" cy="1"/>
          </a:xfrm>
          <a:prstGeom prst="line">
            <a:avLst/>
          </a:prstGeom>
          <a:ln w="25400">
            <a:solidFill>
              <a:schemeClr val="accent4"/>
            </a:solidFill>
          </a:ln>
        </p:spPr>
        <p:txBody>
          <a:bodyPr lIns="45719" rIns="45719"/>
          <a:lstStyle/>
          <a:p>
            <a:pPr>
              <a:defRPr>
                <a:solidFill>
                  <a:srgbClr val="ECE8DD"/>
                </a:solidFill>
              </a:defRPr>
            </a:pPr>
          </a:p>
        </p:txBody>
      </p:sp>
      <p:sp>
        <p:nvSpPr>
          <p:cNvPr id="495" name="Text 10"/>
          <p:cNvSpPr txBox="1"/>
          <p:nvPr/>
        </p:nvSpPr>
        <p:spPr>
          <a:xfrm>
            <a:off x="4402633" y="4498280"/>
            <a:ext cx="3488285" cy="5943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4400"/>
              </a:lnSpc>
              <a:defRPr sz="3200">
                <a:solidFill>
                  <a:srgbClr val="ECE8DD"/>
                </a:solidFill>
                <a:latin typeface="JetBrains Mono"/>
                <a:ea typeface="JetBrains Mono"/>
                <a:cs typeface="JetBrains Mono"/>
                <a:sym typeface="JetBrains Mono"/>
              </a:defRPr>
            </a:lvl1pPr>
          </a:lstStyle>
          <a:p>
            <a:pPr/>
            <a:r>
              <a:t>0.28</a:t>
            </a:r>
          </a:p>
        </p:txBody>
      </p:sp>
      <p:sp>
        <p:nvSpPr>
          <p:cNvPr id="496" name="Text 11"/>
          <p:cNvSpPr txBox="1"/>
          <p:nvPr/>
        </p:nvSpPr>
        <p:spPr>
          <a:xfrm>
            <a:off x="4402633" y="5118001"/>
            <a:ext cx="3488285"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chemeClr val="accent2"/>
                </a:solidFill>
              </a:defRPr>
            </a:lvl1pPr>
          </a:lstStyle>
          <a:p>
            <a:pPr/>
            <a:r>
              <a:t>one term, 8 bytes</a:t>
            </a:r>
          </a:p>
        </p:txBody>
      </p:sp>
      <p:sp>
        <p:nvSpPr>
          <p:cNvPr id="497" name="Shape 12"/>
          <p:cNvSpPr/>
          <p:nvPr/>
        </p:nvSpPr>
        <p:spPr>
          <a:xfrm>
            <a:off x="7992516" y="4358580"/>
            <a:ext cx="3386683" cy="1"/>
          </a:xfrm>
          <a:prstGeom prst="line">
            <a:avLst/>
          </a:prstGeom>
          <a:ln w="25400">
            <a:solidFill>
              <a:schemeClr val="accent4"/>
            </a:solidFill>
          </a:ln>
        </p:spPr>
        <p:txBody>
          <a:bodyPr lIns="45719" rIns="45719"/>
          <a:lstStyle/>
          <a:p>
            <a:pPr>
              <a:defRPr>
                <a:solidFill>
                  <a:srgbClr val="ECE8DD"/>
                </a:solidFill>
              </a:defRPr>
            </a:pPr>
          </a:p>
        </p:txBody>
      </p:sp>
      <p:sp>
        <p:nvSpPr>
          <p:cNvPr id="498" name="Text 13"/>
          <p:cNvSpPr txBox="1"/>
          <p:nvPr/>
        </p:nvSpPr>
        <p:spPr>
          <a:xfrm>
            <a:off x="7992516" y="4498280"/>
            <a:ext cx="3488285" cy="5943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4400"/>
              </a:lnSpc>
              <a:defRPr sz="3200">
                <a:solidFill>
                  <a:srgbClr val="ECE8DD"/>
                </a:solidFill>
                <a:latin typeface="JetBrains Mono"/>
                <a:ea typeface="JetBrains Mono"/>
                <a:cs typeface="JetBrains Mono"/>
                <a:sym typeface="JetBrains Mono"/>
              </a:defRPr>
            </a:lvl1pPr>
          </a:lstStyle>
          <a:p>
            <a:pPr/>
            <a:r>
              <a:t>0.14</a:t>
            </a:r>
          </a:p>
        </p:txBody>
      </p:sp>
      <p:sp>
        <p:nvSpPr>
          <p:cNvPr id="499" name="Text 14"/>
          <p:cNvSpPr txBox="1"/>
          <p:nvPr/>
        </p:nvSpPr>
        <p:spPr>
          <a:xfrm>
            <a:off x="7992516" y="5118001"/>
            <a:ext cx="3488285"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chemeClr val="accent2"/>
                </a:solidFill>
              </a:defRPr>
            </a:lvl1pPr>
          </a:lstStyle>
          <a:p>
            <a:pPr/>
            <a:r>
              <a:t>both terms spread over 400 bytes</a:t>
            </a:r>
          </a:p>
        </p:txBody>
      </p:sp>
      <p:sp>
        <p:nvSpPr>
          <p:cNvPr id="500" name="Text 15"/>
          <p:cNvSpPr txBox="1"/>
          <p:nvPr/>
        </p:nvSpPr>
        <p:spPr>
          <a:xfrm>
            <a:off x="812799" y="5577730"/>
            <a:ext cx="10203182" cy="26541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chemeClr val="accent3"/>
                </a:solidFill>
              </a:defRPr>
            </a:lvl1pPr>
          </a:lstStyle>
          <a:p>
            <a:pPr/>
            <a:r>
              <a:t>Worked example for a two-term query, computed from the formula. Illustration, not a measurement.</a:t>
            </a:r>
          </a:p>
        </p:txBody>
      </p:sp>
    </p:spTree>
  </p:cSld>
  <p:clrMapOvr>
    <a:masterClrMapping/>
  </p:clrMapOvr>
  <p:transition xmlns:p14="http://schemas.microsoft.com/office/powerpoint/2010/main" spd="med" advClick="1"/>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04" name="From query hits to evidence.png" descr="From query hits to evidence.png"/>
          <p:cNvPicPr>
            <a:picLocks noChangeAspect="1"/>
          </p:cNvPicPr>
          <p:nvPr/>
        </p:nvPicPr>
        <p:blipFill>
          <a:blip r:embed="rId2">
            <a:extLst/>
          </a:blip>
          <a:stretch>
            <a:fillRect/>
          </a:stretch>
        </p:blipFill>
        <p:spPr>
          <a:xfrm>
            <a:off x="3239" y="0"/>
            <a:ext cx="12185522" cy="6858001"/>
          </a:xfrm>
          <a:prstGeom prst="rect">
            <a:avLst/>
          </a:prstGeom>
          <a:ln w="12700">
            <a:miter lim="400000"/>
          </a:ln>
        </p:spPr>
      </p:pic>
    </p:spTree>
  </p:cSld>
  <p:clrMapOvr>
    <a:masterClrMapping/>
  </p:clrMapOvr>
  <p:transition xmlns:p14="http://schemas.microsoft.com/office/powerpoint/2010/main" spd="med" advClick="1"/>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6" name="Text 0"/>
          <p:cNvSpPr txBox="1"/>
          <p:nvPr/>
        </p:nvSpPr>
        <p:spPr>
          <a:xfrm>
            <a:off x="812799" y="7112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SEMANTIC SEARCH</a:t>
            </a:r>
          </a:p>
        </p:txBody>
      </p:sp>
      <p:sp>
        <p:nvSpPr>
          <p:cNvPr id="507" name="Text 1"/>
          <p:cNvSpPr txBox="1"/>
          <p:nvPr>
            <p:ph type="title"/>
          </p:nvPr>
        </p:nvSpPr>
        <p:spPr>
          <a:xfrm>
            <a:off x="812799" y="1239490"/>
            <a:ext cx="10203182" cy="718791"/>
          </a:xfrm>
          <a:prstGeom prst="rect">
            <a:avLst/>
          </a:prstGeom>
        </p:spPr>
        <p:txBody>
          <a:bodyPr/>
          <a:lstStyle>
            <a:lvl1pPr>
              <a:lnSpc>
                <a:spcPts val="5400"/>
              </a:lnSpc>
            </a:lvl1pPr>
          </a:lstStyle>
          <a:p>
            <a:pPr/>
            <a:r>
              <a:t>Similar is not the same as true.</a:t>
            </a:r>
          </a:p>
        </p:txBody>
      </p:sp>
      <p:sp>
        <p:nvSpPr>
          <p:cNvPr id="508" name="Shape 2"/>
          <p:cNvSpPr/>
          <p:nvPr/>
        </p:nvSpPr>
        <p:spPr>
          <a:xfrm>
            <a:off x="819150" y="2369790"/>
            <a:ext cx="10553700" cy="706091"/>
          </a:xfrm>
          <a:prstGeom prst="roundRect">
            <a:avLst>
              <a:gd name="adj" fmla="val 9892"/>
            </a:avLst>
          </a:prstGeom>
          <a:solidFill>
            <a:srgbClr val="0D1015"/>
          </a:solidFill>
          <a:ln w="12700">
            <a:solidFill>
              <a:schemeClr val="accent4"/>
            </a:solidFill>
          </a:ln>
        </p:spPr>
        <p:txBody>
          <a:bodyPr lIns="45719" rIns="45719"/>
          <a:lstStyle/>
          <a:p>
            <a:pPr>
              <a:defRPr>
                <a:solidFill>
                  <a:srgbClr val="ECE8DD"/>
                </a:solidFill>
              </a:defRPr>
            </a:pPr>
          </a:p>
        </p:txBody>
      </p:sp>
      <p:sp>
        <p:nvSpPr>
          <p:cNvPr id="509" name="Text 3"/>
          <p:cNvSpPr txBox="1"/>
          <p:nvPr/>
        </p:nvSpPr>
        <p:spPr>
          <a:xfrm>
            <a:off x="955166" y="2212280"/>
            <a:ext cx="10281668" cy="38735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800"/>
              </a:lnSpc>
              <a:defRPr sz="1900">
                <a:solidFill>
                  <a:schemeClr val="accent3"/>
                </a:solidFill>
                <a:latin typeface="JetBrains Mono"/>
                <a:ea typeface="JetBrains Mono"/>
                <a:cs typeface="JetBrains Mono"/>
                <a:sym typeface="JetBrains Mono"/>
              </a:defRPr>
            </a:lvl1pPr>
          </a:lstStyle>
          <a:p>
            <a:pPr/>
            <a:r>
              <a:t>query</a:t>
            </a:r>
          </a:p>
        </p:txBody>
      </p:sp>
      <p:sp>
        <p:nvSpPr>
          <p:cNvPr id="510" name="Text 4"/>
          <p:cNvSpPr txBox="1"/>
          <p:nvPr/>
        </p:nvSpPr>
        <p:spPr>
          <a:xfrm>
            <a:off x="955166" y="2637730"/>
            <a:ext cx="10281668" cy="38735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800"/>
              </a:lnSpc>
              <a:defRPr sz="1900">
                <a:solidFill>
                  <a:srgbClr val="ECE8DD"/>
                </a:solidFill>
                <a:latin typeface="JetBrains Mono"/>
                <a:ea typeface="JetBrains Mono"/>
                <a:cs typeface="JetBrains Mono"/>
                <a:sym typeface="JetBrains Mono"/>
              </a:defRPr>
            </a:lvl1pPr>
          </a:lstStyle>
          <a:p>
            <a:pPr/>
            <a:r>
              <a:t>who won the 2016 election</a:t>
            </a:r>
          </a:p>
        </p:txBody>
      </p:sp>
      <p:grpSp>
        <p:nvGrpSpPr>
          <p:cNvPr id="513" name="Text 5"/>
          <p:cNvGrpSpPr/>
          <p:nvPr/>
        </p:nvGrpSpPr>
        <p:grpSpPr>
          <a:xfrm>
            <a:off x="436518" y="3520935"/>
            <a:ext cx="11318964" cy="2193918"/>
            <a:chOff x="0" y="0"/>
            <a:chExt cx="11318963" cy="2193917"/>
          </a:xfrm>
        </p:grpSpPr>
        <p:sp>
          <p:nvSpPr>
            <p:cNvPr id="511" name="Rounded Rectangle"/>
            <p:cNvSpPr/>
            <p:nvPr/>
          </p:nvSpPr>
          <p:spPr>
            <a:xfrm>
              <a:off x="0" y="0"/>
              <a:ext cx="11318964" cy="2193918"/>
            </a:xfrm>
            <a:prstGeom prst="roundRect">
              <a:avLst>
                <a:gd name="adj" fmla="val 3415"/>
              </a:avLst>
            </a:prstGeom>
            <a:solidFill>
              <a:srgbClr val="0D1015"/>
            </a:solidFill>
            <a:ln w="12700" cap="flat">
              <a:solidFill>
                <a:schemeClr val="accent1"/>
              </a:solidFill>
              <a:prstDash val="solid"/>
              <a:round/>
            </a:ln>
            <a:effectLst/>
          </p:spPr>
          <p:txBody>
            <a:bodyPr wrap="square" lIns="45719" tIns="45719" rIns="45719" bIns="45719" numCol="1" anchor="t">
              <a:noAutofit/>
            </a:bodyPr>
            <a:lstStyle/>
            <a:p>
              <a:pPr>
                <a:lnSpc>
                  <a:spcPts val="2400"/>
                </a:lnSpc>
                <a:defRPr sz="1600">
                  <a:solidFill>
                    <a:srgbClr val="ECE8DD"/>
                  </a:solidFill>
                </a:defRPr>
              </a:pPr>
            </a:p>
          </p:txBody>
        </p:sp>
        <p:sp>
          <p:nvSpPr>
            <p:cNvPr id="512" name="default32]&gt; search who won the 2016 election…"/>
            <p:cNvSpPr txBox="1"/>
            <p:nvPr/>
          </p:nvSpPr>
          <p:spPr>
            <a:xfrm>
              <a:off x="38600" y="46342"/>
              <a:ext cx="11241763" cy="21012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rmAutofit fontScale="100000" lnSpcReduction="0"/>
            </a:bodyPr>
            <a:lstStyle/>
            <a:p>
              <a:pPr defTabSz="658368">
                <a:lnSpc>
                  <a:spcPts val="1700"/>
                </a:lnSpc>
                <a:defRPr sz="1152">
                  <a:solidFill>
                    <a:srgbClr val="ECE8DD"/>
                  </a:solidFill>
                  <a:latin typeface="JetBrains Mono"/>
                  <a:ea typeface="JetBrains Mono"/>
                  <a:cs typeface="JetBrains Mono"/>
                  <a:sym typeface="JetBrains Mono"/>
                </a:defRPr>
              </a:pPr>
              <a:r>
                <a:t>default32]&gt; search who won the 2016 election</a:t>
              </a:r>
            </a:p>
            <a:p>
              <a:pPr>
                <a:tabLst>
                  <a:tab pos="254000" algn="l"/>
                  <a:tab pos="508000" algn="l"/>
                  <a:tab pos="762000" algn="l"/>
                  <a:tab pos="1016000" algn="l"/>
                  <a:tab pos="1270000" algn="l"/>
                  <a:tab pos="1524000" algn="l"/>
                  <a:tab pos="1790700" algn="l"/>
                  <a:tab pos="2044700" algn="l"/>
                  <a:tab pos="2298700" algn="l"/>
                  <a:tab pos="2552700" algn="l"/>
                  <a:tab pos="2806700" algn="l"/>
                  <a:tab pos="3060700" algn="l"/>
                </a:tabLst>
                <a:defRPr sz="1296">
                  <a:solidFill>
                    <a:srgbClr val="C9C9C9"/>
                  </a:solidFill>
                  <a:latin typeface="Menlo Regular"/>
                  <a:ea typeface="Menlo Regular"/>
                  <a:cs typeface="Menlo Regular"/>
                  <a:sym typeface="Menlo Regular"/>
                </a:defRPr>
              </a:pPr>
              <a:r>
                <a:rPr>
                  <a:solidFill>
                    <a:srgbClr val="000000"/>
                  </a:solidFill>
                </a:rPr>
                <a:t> - [score=</a:t>
              </a:r>
              <a:r>
                <a:rPr>
                  <a:solidFill>
                    <a:srgbClr val="38C1FF"/>
                  </a:solidFill>
                </a:rPr>
                <a:t>0.897411</a:t>
              </a:r>
              <a:r>
                <a:rPr>
                  <a:solidFill>
                    <a:srgbClr val="000000"/>
                  </a:solidFill>
                </a:rPr>
                <a:t>, sid=</a:t>
              </a:r>
              <a:r>
                <a:rPr>
                  <a:solidFill>
                    <a:srgbClr val="67FF16"/>
                  </a:solidFill>
                </a:rPr>
                <a:t>9</a:t>
              </a:r>
              <a:r>
                <a:rPr>
                  <a:solidFill>
                    <a:srgbClr val="000000"/>
                  </a:solidFill>
                </a:rPr>
                <a:t>, label=</a:t>
              </a:r>
              <a:r>
                <a:rPr>
                  <a:solidFill>
                    <a:srgbClr val="FF981F"/>
                  </a:solidFill>
                </a:rPr>
                <a:t>8</a:t>
              </a:r>
              <a:r>
                <a:rPr>
                  <a:solidFill>
                    <a:srgbClr val="000000"/>
                  </a:solidFill>
                </a:rPr>
                <a:t>, tokens=[0,9]] </a:t>
              </a:r>
              <a:r>
                <a:t>Donald Trump won the election for President against Clinton</a:t>
              </a:r>
              <a:endParaRPr>
                <a:solidFill>
                  <a:srgbClr val="000000"/>
                </a:solidFill>
              </a:endParaRPr>
            </a:p>
            <a:p>
              <a:pPr>
                <a:tabLst>
                  <a:tab pos="254000" algn="l"/>
                  <a:tab pos="508000" algn="l"/>
                  <a:tab pos="762000" algn="l"/>
                  <a:tab pos="1016000" algn="l"/>
                  <a:tab pos="1270000" algn="l"/>
                  <a:tab pos="1524000" algn="l"/>
                  <a:tab pos="1790700" algn="l"/>
                  <a:tab pos="2044700" algn="l"/>
                  <a:tab pos="2298700" algn="l"/>
                  <a:tab pos="2552700" algn="l"/>
                  <a:tab pos="2806700" algn="l"/>
                  <a:tab pos="3060700" algn="l"/>
                </a:tabLst>
                <a:defRPr sz="1296">
                  <a:solidFill>
                    <a:srgbClr val="C9C9C9"/>
                  </a:solidFill>
                  <a:latin typeface="Menlo Regular"/>
                  <a:ea typeface="Menlo Regular"/>
                  <a:cs typeface="Menlo Regular"/>
                  <a:sym typeface="Menlo Regular"/>
                </a:defRPr>
              </a:pPr>
              <a:r>
                <a:rPr>
                  <a:solidFill>
                    <a:srgbClr val="000000"/>
                  </a:solidFill>
                </a:rPr>
                <a:t> - [score=</a:t>
              </a:r>
              <a:r>
                <a:rPr>
                  <a:solidFill>
                    <a:srgbClr val="38C1FF"/>
                  </a:solidFill>
                </a:rPr>
                <a:t>0.884343</a:t>
              </a:r>
              <a:r>
                <a:rPr>
                  <a:solidFill>
                    <a:srgbClr val="000000"/>
                  </a:solidFill>
                </a:rPr>
                <a:t>, sid=</a:t>
              </a:r>
              <a:r>
                <a:rPr>
                  <a:solidFill>
                    <a:srgbClr val="67FF16"/>
                  </a:solidFill>
                </a:rPr>
                <a:t>10</a:t>
              </a:r>
              <a:r>
                <a:rPr>
                  <a:solidFill>
                    <a:srgbClr val="000000"/>
                  </a:solidFill>
                </a:rPr>
                <a:t>, label=</a:t>
              </a:r>
              <a:r>
                <a:rPr>
                  <a:solidFill>
                    <a:srgbClr val="FF981F"/>
                  </a:solidFill>
                </a:rPr>
                <a:t>9</a:t>
              </a:r>
              <a:r>
                <a:rPr>
                  <a:solidFill>
                    <a:srgbClr val="000000"/>
                  </a:solidFill>
                </a:rPr>
                <a:t>, tokens=[0,6]] </a:t>
              </a:r>
              <a:r>
                <a:t>Biden won the election against Trump</a:t>
              </a:r>
              <a:endParaRPr>
                <a:solidFill>
                  <a:srgbClr val="000000"/>
                </a:solidFill>
              </a:endParaRPr>
            </a:p>
            <a:p>
              <a:pPr>
                <a:tabLst>
                  <a:tab pos="254000" algn="l"/>
                  <a:tab pos="508000" algn="l"/>
                  <a:tab pos="762000" algn="l"/>
                  <a:tab pos="1016000" algn="l"/>
                  <a:tab pos="1270000" algn="l"/>
                  <a:tab pos="1524000" algn="l"/>
                  <a:tab pos="1790700" algn="l"/>
                  <a:tab pos="2044700" algn="l"/>
                  <a:tab pos="2298700" algn="l"/>
                  <a:tab pos="2552700" algn="l"/>
                  <a:tab pos="2806700" algn="l"/>
                  <a:tab pos="3060700" algn="l"/>
                </a:tabLst>
                <a:defRPr sz="1296">
                  <a:solidFill>
                    <a:srgbClr val="C9C9C9"/>
                  </a:solidFill>
                  <a:latin typeface="Menlo Regular"/>
                  <a:ea typeface="Menlo Regular"/>
                  <a:cs typeface="Menlo Regular"/>
                  <a:sym typeface="Menlo Regular"/>
                </a:defRPr>
              </a:pPr>
              <a:r>
                <a:rPr>
                  <a:solidFill>
                    <a:srgbClr val="000000"/>
                  </a:solidFill>
                </a:rPr>
                <a:t> - [score=</a:t>
              </a:r>
              <a:r>
                <a:rPr>
                  <a:solidFill>
                    <a:srgbClr val="38C1FF"/>
                  </a:solidFill>
                </a:rPr>
                <a:t>0.880801</a:t>
              </a:r>
              <a:r>
                <a:rPr>
                  <a:solidFill>
                    <a:srgbClr val="000000"/>
                  </a:solidFill>
                </a:rPr>
                <a:t>, sid=</a:t>
              </a:r>
              <a:r>
                <a:rPr>
                  <a:solidFill>
                    <a:srgbClr val="67FF16"/>
                  </a:solidFill>
                </a:rPr>
                <a:t>8</a:t>
              </a:r>
              <a:r>
                <a:rPr>
                  <a:solidFill>
                    <a:srgbClr val="000000"/>
                  </a:solidFill>
                </a:rPr>
                <a:t>, label=</a:t>
              </a:r>
              <a:r>
                <a:rPr>
                  <a:solidFill>
                    <a:srgbClr val="FF981F"/>
                  </a:solidFill>
                </a:rPr>
                <a:t>7</a:t>
              </a:r>
              <a:r>
                <a:rPr>
                  <a:solidFill>
                    <a:srgbClr val="000000"/>
                  </a:solidFill>
                </a:rPr>
                <a:t>, tokens=[0,8]] </a:t>
              </a:r>
              <a:r>
                <a:t>Hilary Clinton lost the election against Donald Trump</a:t>
              </a:r>
              <a:endParaRPr>
                <a:solidFill>
                  <a:srgbClr val="000000"/>
                </a:solidFill>
              </a:endParaRPr>
            </a:p>
            <a:p>
              <a:pPr>
                <a:tabLst>
                  <a:tab pos="254000" algn="l"/>
                  <a:tab pos="508000" algn="l"/>
                  <a:tab pos="762000" algn="l"/>
                  <a:tab pos="1016000" algn="l"/>
                  <a:tab pos="1270000" algn="l"/>
                  <a:tab pos="1524000" algn="l"/>
                  <a:tab pos="1790700" algn="l"/>
                  <a:tab pos="2044700" algn="l"/>
                  <a:tab pos="2298700" algn="l"/>
                  <a:tab pos="2552700" algn="l"/>
                  <a:tab pos="2806700" algn="l"/>
                  <a:tab pos="3060700" algn="l"/>
                </a:tabLst>
                <a:defRPr sz="1296">
                  <a:solidFill>
                    <a:srgbClr val="C9C9C9"/>
                  </a:solidFill>
                  <a:latin typeface="Menlo Regular"/>
                  <a:ea typeface="Menlo Regular"/>
                  <a:cs typeface="Menlo Regular"/>
                  <a:sym typeface="Menlo Regular"/>
                </a:defRPr>
              </a:pPr>
              <a:r>
                <a:rPr>
                  <a:solidFill>
                    <a:srgbClr val="000000"/>
                  </a:solidFill>
                </a:rPr>
                <a:t> - [score=</a:t>
              </a:r>
              <a:r>
                <a:rPr>
                  <a:solidFill>
                    <a:srgbClr val="38C1FF"/>
                  </a:solidFill>
                </a:rPr>
                <a:t>0.876038</a:t>
              </a:r>
              <a:r>
                <a:rPr>
                  <a:solidFill>
                    <a:srgbClr val="000000"/>
                  </a:solidFill>
                </a:rPr>
                <a:t>, sid=</a:t>
              </a:r>
              <a:r>
                <a:rPr>
                  <a:solidFill>
                    <a:srgbClr val="67FF16"/>
                  </a:solidFill>
                </a:rPr>
                <a:t>491</a:t>
              </a:r>
              <a:r>
                <a:rPr>
                  <a:solidFill>
                    <a:srgbClr val="000000"/>
                  </a:solidFill>
                </a:rPr>
                <a:t>, label=</a:t>
              </a:r>
              <a:r>
                <a:rPr>
                  <a:solidFill>
                    <a:srgbClr val="FF981F"/>
                  </a:solidFill>
                </a:rPr>
                <a:t>490</a:t>
              </a:r>
              <a:r>
                <a:rPr>
                  <a:solidFill>
                    <a:srgbClr val="000000"/>
                  </a:solidFill>
                </a:rPr>
                <a:t>, tokens=[0,23]] </a:t>
              </a:r>
              <a:r>
                <a:t>The 2016 presidential election shocked political observers when Donald Trump defeated Hillary Clinton despite losing the popular vote by nearly three million ballots.</a:t>
              </a:r>
              <a:endParaRPr>
                <a:solidFill>
                  <a:srgbClr val="000000"/>
                </a:solidFill>
              </a:endParaRPr>
            </a:p>
            <a:p>
              <a:pPr>
                <a:tabLst>
                  <a:tab pos="254000" algn="l"/>
                  <a:tab pos="508000" algn="l"/>
                  <a:tab pos="762000" algn="l"/>
                  <a:tab pos="1016000" algn="l"/>
                  <a:tab pos="1270000" algn="l"/>
                  <a:tab pos="1524000" algn="l"/>
                  <a:tab pos="1790700" algn="l"/>
                  <a:tab pos="2044700" algn="l"/>
                  <a:tab pos="2298700" algn="l"/>
                  <a:tab pos="2552700" algn="l"/>
                  <a:tab pos="2806700" algn="l"/>
                  <a:tab pos="3060700" algn="l"/>
                </a:tabLst>
                <a:defRPr sz="1296">
                  <a:solidFill>
                    <a:srgbClr val="C9C9C9"/>
                  </a:solidFill>
                  <a:latin typeface="Menlo Regular"/>
                  <a:ea typeface="Menlo Regular"/>
                  <a:cs typeface="Menlo Regular"/>
                  <a:sym typeface="Menlo Regular"/>
                </a:defRPr>
              </a:pPr>
              <a:r>
                <a:rPr>
                  <a:solidFill>
                    <a:srgbClr val="000000"/>
                  </a:solidFill>
                </a:rPr>
                <a:t> - [score=</a:t>
              </a:r>
              <a:r>
                <a:rPr>
                  <a:solidFill>
                    <a:srgbClr val="38C1FF"/>
                  </a:solidFill>
                </a:rPr>
                <a:t>0.871397</a:t>
              </a:r>
              <a:r>
                <a:rPr>
                  <a:solidFill>
                    <a:srgbClr val="000000"/>
                  </a:solidFill>
                </a:rPr>
                <a:t>, sid=</a:t>
              </a:r>
              <a:r>
                <a:rPr>
                  <a:solidFill>
                    <a:srgbClr val="67FF16"/>
                  </a:solidFill>
                </a:rPr>
                <a:t>507</a:t>
              </a:r>
              <a:r>
                <a:rPr>
                  <a:solidFill>
                    <a:srgbClr val="000000"/>
                  </a:solidFill>
                </a:rPr>
                <a:t>, label=</a:t>
              </a:r>
              <a:r>
                <a:rPr>
                  <a:solidFill>
                    <a:srgbClr val="FF981F"/>
                  </a:solidFill>
                </a:rPr>
                <a:t>506</a:t>
              </a:r>
              <a:r>
                <a:rPr>
                  <a:solidFill>
                    <a:srgbClr val="000000"/>
                  </a:solidFill>
                </a:rPr>
                <a:t>, tokens=[0,27]] </a:t>
              </a:r>
              <a:r>
                <a:t>Joe Biden defeated Donald Trump in the 2020 presidential election with over seven million more votes and 306 electoral votes in a contest marked by record turnout.</a:t>
              </a:r>
              <a:endParaRPr>
                <a:solidFill>
                  <a:srgbClr val="000000"/>
                </a:solidFill>
              </a:endParaRPr>
            </a:p>
            <a:p>
              <a:pPr>
                <a:tabLst>
                  <a:tab pos="254000" algn="l"/>
                  <a:tab pos="508000" algn="l"/>
                  <a:tab pos="762000" algn="l"/>
                  <a:tab pos="1016000" algn="l"/>
                  <a:tab pos="1270000" algn="l"/>
                  <a:tab pos="1524000" algn="l"/>
                  <a:tab pos="1790700" algn="l"/>
                  <a:tab pos="2044700" algn="l"/>
                  <a:tab pos="2298700" algn="l"/>
                  <a:tab pos="2552700" algn="l"/>
                  <a:tab pos="2806700" algn="l"/>
                  <a:tab pos="3060700" algn="l"/>
                </a:tabLst>
                <a:defRPr sz="1296">
                  <a:solidFill>
                    <a:srgbClr val="000000"/>
                  </a:solidFill>
                  <a:latin typeface="Menlo Regular"/>
                  <a:ea typeface="Menlo Regular"/>
                  <a:cs typeface="Menlo Regular"/>
                  <a:sym typeface="Menlo Regular"/>
                </a:defRPr>
              </a:pPr>
              <a:r>
                <a:t>[default32]&gt; </a:t>
              </a:r>
            </a:p>
          </p:txBody>
        </p:sp>
      </p:grpSp>
      <p:sp>
        <p:nvSpPr>
          <p:cNvPr id="514" name="Text 6"/>
          <p:cNvSpPr txBox="1"/>
          <p:nvPr/>
        </p:nvSpPr>
        <p:spPr>
          <a:xfrm>
            <a:off x="799898" y="6205119"/>
            <a:ext cx="9810751" cy="33908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sz="1900">
                <a:solidFill>
                  <a:schemeClr val="accent2"/>
                </a:solidFill>
              </a:defRPr>
            </a:lvl1pPr>
          </a:lstStyle>
          <a:p>
            <a:pPr/>
            <a:r>
              <a:t>A vector finds text about the question. It does not know which text answers it.</a:t>
            </a:r>
          </a:p>
        </p:txBody>
      </p:sp>
    </p:spTree>
  </p:cSld>
  <p:clrMapOvr>
    <a:masterClrMapping/>
  </p:clrMapOvr>
  <p:transition xmlns:p14="http://schemas.microsoft.com/office/powerpoint/2010/main" spd="med" advClick="1"/>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8" name="Text 0"/>
          <p:cNvSpPr txBox="1"/>
          <p:nvPr/>
        </p:nvSpPr>
        <p:spPr>
          <a:xfrm>
            <a:off x="812799" y="6604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SEMANTIC SEARCH</a:t>
            </a:r>
          </a:p>
        </p:txBody>
      </p:sp>
      <p:sp>
        <p:nvSpPr>
          <p:cNvPr id="519" name="Text 1"/>
          <p:cNvSpPr txBox="1"/>
          <p:nvPr>
            <p:ph type="title"/>
          </p:nvPr>
        </p:nvSpPr>
        <p:spPr>
          <a:xfrm>
            <a:off x="812799" y="1125190"/>
            <a:ext cx="10203182" cy="692151"/>
          </a:xfrm>
          <a:prstGeom prst="rect">
            <a:avLst/>
          </a:prstGeom>
        </p:spPr>
        <p:txBody>
          <a:bodyPr/>
          <a:lstStyle>
            <a:lvl1pPr>
              <a:lnSpc>
                <a:spcPts val="5200"/>
              </a:lnSpc>
              <a:defRPr sz="5000"/>
            </a:lvl1pPr>
          </a:lstStyle>
          <a:p>
            <a:pPr/>
            <a:r>
              <a:t>Similar is not the same as true.</a:t>
            </a:r>
          </a:p>
        </p:txBody>
      </p:sp>
      <p:sp>
        <p:nvSpPr>
          <p:cNvPr id="520" name="Text 2"/>
          <p:cNvSpPr txBox="1"/>
          <p:nvPr/>
        </p:nvSpPr>
        <p:spPr>
          <a:xfrm>
            <a:off x="812799" y="2007840"/>
            <a:ext cx="10883394" cy="3454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500"/>
              </a:lnSpc>
              <a:defRPr>
                <a:solidFill>
                  <a:srgbClr val="ECE8DD"/>
                </a:solidFill>
                <a:latin typeface="JetBrains Mono"/>
                <a:ea typeface="JetBrains Mono"/>
                <a:cs typeface="JetBrains Mono"/>
                <a:sym typeface="JetBrains Mono"/>
              </a:defRPr>
            </a:lvl1pPr>
          </a:lstStyle>
          <a:p>
            <a:pPr/>
            <a:r>
              <a:t>who won the 2016 election</a:t>
            </a:r>
          </a:p>
        </p:txBody>
      </p:sp>
      <p:sp>
        <p:nvSpPr>
          <p:cNvPr id="521" name="Shape 3"/>
          <p:cNvSpPr/>
          <p:nvPr/>
        </p:nvSpPr>
        <p:spPr>
          <a:xfrm>
            <a:off x="819150" y="2550119"/>
            <a:ext cx="9893300" cy="1746201"/>
          </a:xfrm>
          <a:prstGeom prst="roundRect">
            <a:avLst>
              <a:gd name="adj" fmla="val 4000"/>
            </a:avLst>
          </a:prstGeom>
          <a:solidFill>
            <a:srgbClr val="0D1015"/>
          </a:solidFill>
          <a:ln w="12700">
            <a:solidFill>
              <a:schemeClr val="accent4"/>
            </a:solidFill>
          </a:ln>
        </p:spPr>
        <p:txBody>
          <a:bodyPr lIns="45719" rIns="45719"/>
          <a:lstStyle/>
          <a:p>
            <a:pPr>
              <a:defRPr>
                <a:solidFill>
                  <a:srgbClr val="ECE8DD"/>
                </a:solidFill>
              </a:defRPr>
            </a:pPr>
          </a:p>
        </p:txBody>
      </p:sp>
      <p:sp>
        <p:nvSpPr>
          <p:cNvPr id="522" name="Text 4"/>
          <p:cNvSpPr txBox="1"/>
          <p:nvPr/>
        </p:nvSpPr>
        <p:spPr>
          <a:xfrm>
            <a:off x="1054100" y="2734269"/>
            <a:ext cx="660400" cy="30098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400">
                <a:solidFill>
                  <a:schemeClr val="accent3"/>
                </a:solidFill>
                <a:latin typeface="JetBrains Mono"/>
                <a:ea typeface="JetBrains Mono"/>
                <a:cs typeface="JetBrains Mono"/>
                <a:sym typeface="JetBrains Mono"/>
              </a:defRPr>
            </a:lvl1pPr>
          </a:lstStyle>
          <a:p>
            <a:pPr/>
            <a:r>
              <a:t>0.897</a:t>
            </a:r>
          </a:p>
        </p:txBody>
      </p:sp>
      <p:sp>
        <p:nvSpPr>
          <p:cNvPr id="523" name="Text 5"/>
          <p:cNvSpPr txBox="1"/>
          <p:nvPr/>
        </p:nvSpPr>
        <p:spPr>
          <a:xfrm>
            <a:off x="1816100" y="2734269"/>
            <a:ext cx="5742802" cy="30098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400">
                <a:solidFill>
                  <a:srgbClr val="ECE8DD"/>
                </a:solidFill>
              </a:defRPr>
            </a:lvl1pPr>
          </a:lstStyle>
          <a:p>
            <a:pPr/>
            <a:r>
              <a:t>Donald Trump won the election for President against Clinton</a:t>
            </a:r>
          </a:p>
        </p:txBody>
      </p:sp>
      <p:sp>
        <p:nvSpPr>
          <p:cNvPr id="524" name="Text 6"/>
          <p:cNvSpPr txBox="1"/>
          <p:nvPr/>
        </p:nvSpPr>
        <p:spPr>
          <a:xfrm>
            <a:off x="1054100" y="3009850"/>
            <a:ext cx="660400" cy="30098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400">
                <a:solidFill>
                  <a:schemeClr val="accent1"/>
                </a:solidFill>
                <a:latin typeface="JetBrains Mono"/>
                <a:ea typeface="JetBrains Mono"/>
                <a:cs typeface="JetBrains Mono"/>
                <a:sym typeface="JetBrains Mono"/>
              </a:defRPr>
            </a:lvl1pPr>
          </a:lstStyle>
          <a:p>
            <a:pPr/>
            <a:r>
              <a:t>0.884</a:t>
            </a:r>
          </a:p>
        </p:txBody>
      </p:sp>
      <p:sp>
        <p:nvSpPr>
          <p:cNvPr id="525" name="Text 7"/>
          <p:cNvSpPr txBox="1"/>
          <p:nvPr/>
        </p:nvSpPr>
        <p:spPr>
          <a:xfrm>
            <a:off x="1816100" y="3009850"/>
            <a:ext cx="3605392" cy="30098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400">
                <a:solidFill>
                  <a:schemeClr val="accent1"/>
                </a:solidFill>
              </a:defRPr>
            </a:lvl1pPr>
          </a:lstStyle>
          <a:p>
            <a:pPr/>
            <a:r>
              <a:t>Biden won the election against Trump</a:t>
            </a:r>
          </a:p>
        </p:txBody>
      </p:sp>
      <p:sp>
        <p:nvSpPr>
          <p:cNvPr id="526" name="Text 8"/>
          <p:cNvSpPr txBox="1"/>
          <p:nvPr/>
        </p:nvSpPr>
        <p:spPr>
          <a:xfrm>
            <a:off x="1054100" y="3285430"/>
            <a:ext cx="660400" cy="30098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400">
                <a:solidFill>
                  <a:schemeClr val="accent3"/>
                </a:solidFill>
                <a:latin typeface="JetBrains Mono"/>
                <a:ea typeface="JetBrains Mono"/>
                <a:cs typeface="JetBrains Mono"/>
                <a:sym typeface="JetBrains Mono"/>
              </a:defRPr>
            </a:lvl1pPr>
          </a:lstStyle>
          <a:p>
            <a:pPr/>
            <a:r>
              <a:t>0.881</a:t>
            </a:r>
          </a:p>
        </p:txBody>
      </p:sp>
      <p:sp>
        <p:nvSpPr>
          <p:cNvPr id="527" name="Text 9"/>
          <p:cNvSpPr txBox="1"/>
          <p:nvPr/>
        </p:nvSpPr>
        <p:spPr>
          <a:xfrm>
            <a:off x="1816100" y="3285430"/>
            <a:ext cx="5025093" cy="30098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400">
                <a:solidFill>
                  <a:srgbClr val="ECE8DD"/>
                </a:solidFill>
              </a:defRPr>
            </a:lvl1pPr>
          </a:lstStyle>
          <a:p>
            <a:pPr/>
            <a:r>
              <a:t>Hilary Clinton lost the election against Donald Trump</a:t>
            </a:r>
          </a:p>
        </p:txBody>
      </p:sp>
      <p:sp>
        <p:nvSpPr>
          <p:cNvPr id="528" name="Text 10"/>
          <p:cNvSpPr txBox="1"/>
          <p:nvPr/>
        </p:nvSpPr>
        <p:spPr>
          <a:xfrm>
            <a:off x="1054100" y="3561010"/>
            <a:ext cx="660400" cy="30098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400">
                <a:solidFill>
                  <a:schemeClr val="accent3"/>
                </a:solidFill>
                <a:latin typeface="JetBrains Mono"/>
                <a:ea typeface="JetBrains Mono"/>
                <a:cs typeface="JetBrains Mono"/>
                <a:sym typeface="JetBrains Mono"/>
              </a:defRPr>
            </a:lvl1pPr>
          </a:lstStyle>
          <a:p>
            <a:pPr/>
            <a:r>
              <a:t>0.876</a:t>
            </a:r>
          </a:p>
        </p:txBody>
      </p:sp>
      <p:sp>
        <p:nvSpPr>
          <p:cNvPr id="529" name="Text 11"/>
          <p:cNvSpPr txBox="1"/>
          <p:nvPr/>
        </p:nvSpPr>
        <p:spPr>
          <a:xfrm>
            <a:off x="1816100" y="3561010"/>
            <a:ext cx="8890000" cy="30098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400">
                <a:solidFill>
                  <a:srgbClr val="ECE8DD"/>
                </a:solidFill>
              </a:defRPr>
            </a:lvl1pPr>
          </a:lstStyle>
          <a:p>
            <a:pPr/>
            <a:r>
              <a:t>The 2016 presidential election shocked political observers when Donald Trump defeated Hillary Clinton…</a:t>
            </a:r>
          </a:p>
        </p:txBody>
      </p:sp>
      <p:sp>
        <p:nvSpPr>
          <p:cNvPr id="530" name="Text 12"/>
          <p:cNvSpPr txBox="1"/>
          <p:nvPr/>
        </p:nvSpPr>
        <p:spPr>
          <a:xfrm>
            <a:off x="1054100" y="3836591"/>
            <a:ext cx="660400" cy="30098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400">
                <a:solidFill>
                  <a:schemeClr val="accent3"/>
                </a:solidFill>
                <a:latin typeface="JetBrains Mono"/>
                <a:ea typeface="JetBrains Mono"/>
                <a:cs typeface="JetBrains Mono"/>
                <a:sym typeface="JetBrains Mono"/>
              </a:defRPr>
            </a:lvl1pPr>
          </a:lstStyle>
          <a:p>
            <a:pPr/>
            <a:r>
              <a:t>0.871</a:t>
            </a:r>
          </a:p>
        </p:txBody>
      </p:sp>
      <p:sp>
        <p:nvSpPr>
          <p:cNvPr id="531" name="Text 13"/>
          <p:cNvSpPr txBox="1"/>
          <p:nvPr/>
        </p:nvSpPr>
        <p:spPr>
          <a:xfrm>
            <a:off x="1816100" y="3836591"/>
            <a:ext cx="6587312" cy="30098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400">
                <a:solidFill>
                  <a:srgbClr val="ECE8DD"/>
                </a:solidFill>
              </a:defRPr>
            </a:lvl1pPr>
          </a:lstStyle>
          <a:p>
            <a:pPr/>
            <a:r>
              <a:t>Joe Biden defeated Donald Trump in the 2020 presidential election…</a:t>
            </a:r>
          </a:p>
        </p:txBody>
      </p:sp>
      <p:sp>
        <p:nvSpPr>
          <p:cNvPr id="532" name="Text 14"/>
          <p:cNvSpPr txBox="1"/>
          <p:nvPr/>
        </p:nvSpPr>
        <p:spPr>
          <a:xfrm>
            <a:off x="812799" y="4518571"/>
            <a:ext cx="10203182" cy="30604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200"/>
              </a:lnSpc>
              <a:defRPr sz="1700">
                <a:solidFill>
                  <a:schemeClr val="accent2"/>
                </a:solidFill>
              </a:defRPr>
            </a:lvl1pPr>
          </a:lstStyle>
          <a:p>
            <a:pPr/>
            <a:r>
              <a:t>Rank 2 gets the winner wrong, and the only sentence that says “2016” ranks fourth.</a:t>
            </a:r>
          </a:p>
        </p:txBody>
      </p:sp>
    </p:spTree>
  </p:cSld>
  <p:clrMapOvr>
    <a:masterClrMapping/>
  </p:clrMapOvr>
  <p:transition xmlns:p14="http://schemas.microsoft.com/office/powerpoint/2010/main" spd="med" advClick="1"/>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6" name="Text 0"/>
          <p:cNvSpPr txBox="1"/>
          <p:nvPr/>
        </p:nvSpPr>
        <p:spPr>
          <a:xfrm>
            <a:off x="812799" y="660400"/>
            <a:ext cx="10883394" cy="27081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VECTOR SCALE</a:t>
            </a:r>
          </a:p>
        </p:txBody>
      </p:sp>
      <p:sp>
        <p:nvSpPr>
          <p:cNvPr id="537" name="Text 1"/>
          <p:cNvSpPr txBox="1"/>
          <p:nvPr>
            <p:ph type="title"/>
          </p:nvPr>
        </p:nvSpPr>
        <p:spPr>
          <a:xfrm>
            <a:off x="812799" y="1134417"/>
            <a:ext cx="10203182" cy="1340446"/>
          </a:xfrm>
          <a:prstGeom prst="rect">
            <a:avLst/>
          </a:prstGeom>
        </p:spPr>
        <p:txBody>
          <a:bodyPr/>
          <a:lstStyle>
            <a:lvl1pPr>
              <a:lnSpc>
                <a:spcPts val="5100"/>
              </a:lnSpc>
              <a:defRPr sz="4900"/>
            </a:lvl1pPr>
          </a:lstStyle>
          <a:p>
            <a:pPr/>
            <a:r>
              <a:t>In high dimensions, some vectors are everyone’s neighbour.</a:t>
            </a:r>
          </a:p>
        </p:txBody>
      </p:sp>
      <p:sp>
        <p:nvSpPr>
          <p:cNvPr id="538" name="Text 2"/>
          <p:cNvSpPr txBox="1"/>
          <p:nvPr/>
        </p:nvSpPr>
        <p:spPr>
          <a:xfrm>
            <a:off x="812800" y="2678063"/>
            <a:ext cx="5258562"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pc="100" sz="1300">
                <a:solidFill>
                  <a:schemeClr val="accent3"/>
                </a:solidFill>
              </a:defRPr>
            </a:lvl1pPr>
          </a:lstStyle>
          <a:p>
            <a:pPr/>
            <a:r>
              <a:t>HUBNESS</a:t>
            </a:r>
          </a:p>
        </p:txBody>
      </p:sp>
      <p:sp>
        <p:nvSpPr>
          <p:cNvPr id="539" name="Text 3"/>
          <p:cNvSpPr txBox="1"/>
          <p:nvPr/>
        </p:nvSpPr>
        <p:spPr>
          <a:xfrm>
            <a:off x="812800" y="3010792"/>
            <a:ext cx="5258562" cy="10541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700"/>
              </a:lnSpc>
              <a:defRPr i="1" sz="2000">
                <a:solidFill>
                  <a:srgbClr val="ECE8DD"/>
                </a:solidFill>
                <a:latin typeface="EB Garamond"/>
                <a:ea typeface="EB Garamond"/>
                <a:cs typeface="EB Garamond"/>
                <a:sym typeface="EB Garamond"/>
              </a:defRPr>
            </a:lvl1pPr>
          </a:lstStyle>
          <a:p>
            <a:pPr/>
            <a:r>
              <a:t>“Popular” nearest neighbors: a few points appear in far more neighbour lists than the rest, and the skew grows with dimension.</a:t>
            </a:r>
          </a:p>
        </p:txBody>
      </p:sp>
      <p:sp>
        <p:nvSpPr>
          <p:cNvPr id="540" name="Text 4"/>
          <p:cNvSpPr txBox="1"/>
          <p:nvPr/>
        </p:nvSpPr>
        <p:spPr>
          <a:xfrm>
            <a:off x="812800" y="4141092"/>
            <a:ext cx="5258562"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600"/>
              </a:lnSpc>
              <a:defRPr sz="1200">
                <a:solidFill>
                  <a:schemeClr val="accent3"/>
                </a:solidFill>
              </a:defRPr>
            </a:pPr>
            <a:r>
              <a:t>Radovanović, Nanopoulos &amp; Ivanović, </a:t>
            </a:r>
            <a:r>
              <a:rPr i="1"/>
              <a:t>Hubs in Space</a:t>
            </a:r>
            <a:r>
              <a:t>, JMLR 2010</a:t>
            </a:r>
          </a:p>
        </p:txBody>
      </p:sp>
      <p:sp>
        <p:nvSpPr>
          <p:cNvPr id="541" name="Text 5"/>
          <p:cNvSpPr txBox="1"/>
          <p:nvPr/>
        </p:nvSpPr>
        <p:spPr>
          <a:xfrm>
            <a:off x="6273800" y="2678063"/>
            <a:ext cx="5258562"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pc="100" sz="1300">
                <a:solidFill>
                  <a:schemeClr val="accent1"/>
                </a:solidFill>
              </a:defRPr>
            </a:lvl1pPr>
          </a:lstStyle>
          <a:p>
            <a:pPr/>
            <a:r>
              <a:t>HNSW RUNS ON THEM</a:t>
            </a:r>
          </a:p>
        </p:txBody>
      </p:sp>
      <p:sp>
        <p:nvSpPr>
          <p:cNvPr id="542" name="Text 6"/>
          <p:cNvSpPr txBox="1"/>
          <p:nvPr/>
        </p:nvSpPr>
        <p:spPr>
          <a:xfrm>
            <a:off x="6273800" y="3010792"/>
            <a:ext cx="5258562" cy="58668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200"/>
              </a:lnSpc>
              <a:defRPr sz="1700">
                <a:solidFill>
                  <a:srgbClr val="ECE8DD"/>
                </a:solidFill>
              </a:defRPr>
            </a:lvl1pPr>
          </a:lstStyle>
          <a:p>
            <a:pPr/>
            <a:r>
              <a:t>Hubs act as highways that route queries early in the search. The hierarchy was supposed to do that job.</a:t>
            </a:r>
          </a:p>
        </p:txBody>
      </p:sp>
      <p:sp>
        <p:nvSpPr>
          <p:cNvPr id="543" name="Shape 7"/>
          <p:cNvSpPr/>
          <p:nvPr/>
        </p:nvSpPr>
        <p:spPr>
          <a:xfrm>
            <a:off x="6273800" y="3686373"/>
            <a:ext cx="5105400" cy="1"/>
          </a:xfrm>
          <a:prstGeom prst="line">
            <a:avLst/>
          </a:prstGeom>
          <a:ln w="25400">
            <a:solidFill>
              <a:schemeClr val="accent1"/>
            </a:solidFill>
          </a:ln>
        </p:spPr>
        <p:txBody>
          <a:bodyPr lIns="45719" rIns="45719"/>
          <a:lstStyle/>
          <a:p>
            <a:pPr>
              <a:defRPr>
                <a:solidFill>
                  <a:srgbClr val="ECE8DD"/>
                </a:solidFill>
              </a:defRPr>
            </a:pPr>
          </a:p>
        </p:txBody>
      </p:sp>
      <p:sp>
        <p:nvSpPr>
          <p:cNvPr id="544" name="Text 8"/>
          <p:cNvSpPr txBox="1"/>
          <p:nvPr/>
        </p:nvSpPr>
        <p:spPr>
          <a:xfrm>
            <a:off x="6273800" y="3787973"/>
            <a:ext cx="1153221" cy="11632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4400"/>
              </a:lnSpc>
              <a:defRPr sz="3200">
                <a:solidFill>
                  <a:schemeClr val="accent1"/>
                </a:solidFill>
                <a:latin typeface="JetBrains Mono"/>
                <a:ea typeface="JetBrains Mono"/>
                <a:cs typeface="JetBrains Mono"/>
                <a:sym typeface="JetBrains Mono"/>
              </a:defRPr>
            </a:lvl1pPr>
          </a:lstStyle>
          <a:p>
            <a:pPr/>
            <a:r>
              <a:t>d &lt; 32</a:t>
            </a:r>
          </a:p>
        </p:txBody>
      </p:sp>
      <p:sp>
        <p:nvSpPr>
          <p:cNvPr id="545" name="Text 9"/>
          <p:cNvSpPr txBox="1"/>
          <p:nvPr/>
        </p:nvSpPr>
        <p:spPr>
          <a:xfrm>
            <a:off x="7503220" y="4038798"/>
            <a:ext cx="3992261" cy="4876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chemeClr val="accent2"/>
                </a:solidFill>
              </a:defRPr>
            </a:lvl1pPr>
          </a:lstStyle>
          <a:p>
            <a:pPr/>
            <a:r>
              <a:t>is where the hierarchy helped. Our embeddings are 384 to 4096.</a:t>
            </a:r>
          </a:p>
        </p:txBody>
      </p:sp>
      <p:sp>
        <p:nvSpPr>
          <p:cNvPr id="546" name="Text 10"/>
          <p:cNvSpPr txBox="1"/>
          <p:nvPr/>
        </p:nvSpPr>
        <p:spPr>
          <a:xfrm>
            <a:off x="6273800" y="5027414"/>
            <a:ext cx="5258562" cy="4520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1600"/>
              </a:lnSpc>
              <a:defRPr sz="1200">
                <a:solidFill>
                  <a:schemeClr val="accent3"/>
                </a:solidFill>
              </a:defRPr>
            </a:pPr>
            <a:r>
              <a:t>Munyampirwa, Lakshman &amp; Coleman, </a:t>
            </a:r>
            <a:r>
              <a:rPr i="1"/>
              <a:t>The ‘H’ in HNSW Stands for “Hubs”</a:t>
            </a:r>
            <a:r>
              <a:t>, ICML 2025 workshop</a:t>
            </a:r>
          </a:p>
        </p:txBody>
      </p:sp>
      <p:sp>
        <p:nvSpPr>
          <p:cNvPr id="547" name="Text 11"/>
          <p:cNvSpPr txBox="1"/>
          <p:nvPr/>
        </p:nvSpPr>
        <p:spPr>
          <a:xfrm>
            <a:off x="812800" y="5644157"/>
            <a:ext cx="11379200" cy="57884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200"/>
              </a:lnSpc>
              <a:defRPr sz="1600">
                <a:solidFill>
                  <a:schemeClr val="accent2"/>
                </a:solidFill>
              </a:defRPr>
            </a:lvl1pPr>
          </a:lstStyle>
          <a:p>
            <a:pPr/>
            <a:r>
              <a:t>The thing that makes the graph fast is the same thing that makes some vectors show up for everything.</a:t>
            </a:r>
          </a:p>
        </p:txBody>
      </p:sp>
    </p:spTree>
  </p:cSld>
  <p:clrMapOvr>
    <a:masterClrMapping/>
  </p:clrMapOvr>
  <p:transition xmlns:p14="http://schemas.microsoft.com/office/powerpoint/2010/main" spd="med" advClick="1"/>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1" name="Text 0"/>
          <p:cNvSpPr txBox="1"/>
          <p:nvPr/>
        </p:nvSpPr>
        <p:spPr>
          <a:xfrm>
            <a:off x="812799" y="6604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VECTOR SCALE</a:t>
            </a:r>
          </a:p>
        </p:txBody>
      </p:sp>
      <p:sp>
        <p:nvSpPr>
          <p:cNvPr id="552" name="Text 1"/>
          <p:cNvSpPr txBox="1"/>
          <p:nvPr>
            <p:ph type="title"/>
          </p:nvPr>
        </p:nvSpPr>
        <p:spPr>
          <a:xfrm>
            <a:off x="812799" y="1099790"/>
            <a:ext cx="10203182" cy="1358901"/>
          </a:xfrm>
          <a:prstGeom prst="rect">
            <a:avLst/>
          </a:prstGeom>
        </p:spPr>
        <p:txBody>
          <a:bodyPr/>
          <a:lstStyle>
            <a:lvl1pPr>
              <a:lnSpc>
                <a:spcPts val="5200"/>
              </a:lnSpc>
              <a:defRPr sz="5000"/>
            </a:lvl1pPr>
          </a:lstStyle>
          <a:p>
            <a:pPr/>
            <a:r>
              <a:t>Sharding bounds the graph. It doesn’t spread the answer.</a:t>
            </a:r>
          </a:p>
        </p:txBody>
      </p:sp>
      <p:pic>
        <p:nvPicPr>
          <p:cNvPr id="553" name="Image 0" descr="Image 0"/>
          <p:cNvPicPr>
            <a:picLocks noChangeAspect="1"/>
          </p:cNvPicPr>
          <p:nvPr/>
        </p:nvPicPr>
        <p:blipFill>
          <a:blip r:embed="rId3">
            <a:extLst/>
          </a:blip>
          <a:stretch>
            <a:fillRect/>
          </a:stretch>
        </p:blipFill>
        <p:spPr>
          <a:xfrm>
            <a:off x="812800" y="2623790"/>
            <a:ext cx="10566400" cy="1981201"/>
          </a:xfrm>
          <a:prstGeom prst="rect">
            <a:avLst/>
          </a:prstGeom>
          <a:ln w="12700">
            <a:miter lim="400000"/>
          </a:ln>
        </p:spPr>
      </p:pic>
      <p:sp>
        <p:nvSpPr>
          <p:cNvPr id="554" name="Text 2"/>
          <p:cNvSpPr txBox="1"/>
          <p:nvPr/>
        </p:nvSpPr>
        <p:spPr>
          <a:xfrm>
            <a:off x="812800" y="4795489"/>
            <a:ext cx="4780492"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pc="100" sz="1300">
                <a:solidFill>
                  <a:schemeClr val="accent3"/>
                </a:solidFill>
              </a:defRPr>
            </a:lvl1pPr>
          </a:lstStyle>
          <a:p>
            <a:pPr/>
            <a:r>
              <a:t>WHY SHARD</a:t>
            </a:r>
          </a:p>
        </p:txBody>
      </p:sp>
      <p:sp>
        <p:nvSpPr>
          <p:cNvPr id="555" name="Text 3"/>
          <p:cNvSpPr txBox="1"/>
          <p:nvPr/>
        </p:nvSpPr>
        <p:spPr>
          <a:xfrm>
            <a:off x="812800" y="5090119"/>
            <a:ext cx="958055" cy="102106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900"/>
              </a:lnSpc>
              <a:defRPr sz="2800">
                <a:solidFill>
                  <a:schemeClr val="accent1"/>
                </a:solidFill>
                <a:latin typeface="JetBrains Mono"/>
                <a:ea typeface="JetBrains Mono"/>
                <a:cs typeface="JetBrains Mono"/>
                <a:sym typeface="JetBrains Mono"/>
              </a:defRPr>
            </a:lvl1pPr>
          </a:lstStyle>
          <a:p>
            <a:pPr/>
            <a:r>
              <a:t>183 GB</a:t>
            </a:r>
          </a:p>
        </p:txBody>
      </p:sp>
      <p:sp>
        <p:nvSpPr>
          <p:cNvPr id="556" name="Text 4"/>
          <p:cNvSpPr txBox="1"/>
          <p:nvPr/>
        </p:nvSpPr>
        <p:spPr>
          <a:xfrm>
            <a:off x="1834356" y="5296494"/>
            <a:ext cx="3728290" cy="4546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300">
                <a:solidFill>
                  <a:schemeClr val="accent2"/>
                </a:solidFill>
              </a:defRPr>
            </a:lvl1pPr>
          </a:lstStyle>
          <a:p>
            <a:pPr/>
            <a:r>
              <a:t>peak memory to build a 100M-vector HNSW graph (BigANN, hnswlib)</a:t>
            </a:r>
          </a:p>
        </p:txBody>
      </p:sp>
      <p:sp>
        <p:nvSpPr>
          <p:cNvPr id="557" name="Text 5"/>
          <p:cNvSpPr txBox="1"/>
          <p:nvPr/>
        </p:nvSpPr>
        <p:spPr>
          <a:xfrm>
            <a:off x="5809655" y="4795489"/>
            <a:ext cx="5736633"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pc="100" sz="1300">
                <a:solidFill>
                  <a:schemeClr val="accent1"/>
                </a:solidFill>
              </a:defRPr>
            </a:lvl1pPr>
          </a:lstStyle>
          <a:p>
            <a:pPr/>
            <a:r>
              <a:t>WHY IT ISN’T ENOUGH</a:t>
            </a:r>
          </a:p>
        </p:txBody>
      </p:sp>
      <p:sp>
        <p:nvSpPr>
          <p:cNvPr id="558" name="Text 6"/>
          <p:cNvSpPr txBox="1"/>
          <p:nvPr/>
        </p:nvSpPr>
        <p:spPr>
          <a:xfrm>
            <a:off x="5809655" y="5090119"/>
            <a:ext cx="5736633" cy="76835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sz="1500">
                <a:solidFill>
                  <a:srgbClr val="ECE8DD"/>
                </a:solidFill>
              </a:defRPr>
            </a:lvl1pPr>
          </a:lstStyle>
          <a:p>
            <a:pPr/>
            <a:r>
              <a:t>Each shard returns its own top-k. Here k = 5: shard 2 holds seven relevant vectors and loses two, while three shards return five non-answers each.</a:t>
            </a:r>
          </a:p>
        </p:txBody>
      </p:sp>
    </p:spTree>
  </p:cSld>
  <p:clrMapOvr>
    <a:masterClrMapping/>
  </p:clrMapOvr>
  <p:transition xmlns:p14="http://schemas.microsoft.com/office/powerpoint/2010/main" spd="med" advClick="1"/>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2" name="Text 0"/>
          <p:cNvSpPr txBox="1"/>
          <p:nvPr/>
        </p:nvSpPr>
        <p:spPr>
          <a:xfrm>
            <a:off x="812799" y="6604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VECTOR SCALE</a:t>
            </a:r>
          </a:p>
        </p:txBody>
      </p:sp>
      <p:sp>
        <p:nvSpPr>
          <p:cNvPr id="563" name="Text 1"/>
          <p:cNvSpPr txBox="1"/>
          <p:nvPr>
            <p:ph type="title"/>
          </p:nvPr>
        </p:nvSpPr>
        <p:spPr>
          <a:xfrm>
            <a:off x="812799" y="1137890"/>
            <a:ext cx="10203182" cy="1358901"/>
          </a:xfrm>
          <a:prstGeom prst="rect">
            <a:avLst/>
          </a:prstGeom>
        </p:spPr>
        <p:txBody>
          <a:bodyPr/>
          <a:lstStyle>
            <a:lvl1pPr>
              <a:lnSpc>
                <a:spcPts val="5200"/>
              </a:lnSpc>
              <a:defRPr sz="5000"/>
            </a:lvl1pPr>
          </a:lstStyle>
          <a:p>
            <a:pPr/>
            <a:r>
              <a:t>Keep shards small: about 50,000 vectors.</a:t>
            </a:r>
          </a:p>
        </p:txBody>
      </p:sp>
      <p:sp>
        <p:nvSpPr>
          <p:cNvPr id="564" name="Shape 2"/>
          <p:cNvSpPr/>
          <p:nvPr/>
        </p:nvSpPr>
        <p:spPr>
          <a:xfrm>
            <a:off x="812800" y="2712690"/>
            <a:ext cx="3386634" cy="1"/>
          </a:xfrm>
          <a:prstGeom prst="line">
            <a:avLst/>
          </a:prstGeom>
          <a:ln w="25400">
            <a:solidFill>
              <a:schemeClr val="accent1"/>
            </a:solidFill>
          </a:ln>
        </p:spPr>
        <p:txBody>
          <a:bodyPr lIns="45719" rIns="45719"/>
          <a:lstStyle/>
          <a:p>
            <a:pPr>
              <a:defRPr>
                <a:solidFill>
                  <a:srgbClr val="ECE8DD"/>
                </a:solidFill>
              </a:defRPr>
            </a:pPr>
          </a:p>
        </p:txBody>
      </p:sp>
      <p:sp>
        <p:nvSpPr>
          <p:cNvPr id="565" name="Text 3"/>
          <p:cNvSpPr txBox="1"/>
          <p:nvPr/>
        </p:nvSpPr>
        <p:spPr>
          <a:xfrm>
            <a:off x="812800" y="2839690"/>
            <a:ext cx="3488233" cy="6654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5000"/>
              </a:lnSpc>
              <a:defRPr sz="3600">
                <a:solidFill>
                  <a:schemeClr val="accent1"/>
                </a:solidFill>
                <a:latin typeface="JetBrains Mono"/>
                <a:ea typeface="JetBrains Mono"/>
                <a:cs typeface="JetBrains Mono"/>
                <a:sym typeface="JetBrains Mono"/>
              </a:defRPr>
            </a:lvl1pPr>
          </a:lstStyle>
          <a:p>
            <a:pPr/>
            <a:r>
              <a:t>50k</a:t>
            </a:r>
          </a:p>
        </p:txBody>
      </p:sp>
      <p:sp>
        <p:nvSpPr>
          <p:cNvPr id="566" name="Text 4"/>
          <p:cNvSpPr txBox="1"/>
          <p:nvPr/>
        </p:nvSpPr>
        <p:spPr>
          <a:xfrm>
            <a:off x="812800" y="3530550"/>
            <a:ext cx="3488233"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rgbClr val="ECE8DD"/>
                </a:solidFill>
              </a:defRPr>
            </a:lvl1pPr>
          </a:lstStyle>
          <a:p>
            <a:pPr/>
            <a:r>
              <a:t>comfortable</a:t>
            </a:r>
          </a:p>
        </p:txBody>
      </p:sp>
      <p:sp>
        <p:nvSpPr>
          <p:cNvPr id="567" name="Shape 5"/>
          <p:cNvSpPr/>
          <p:nvPr/>
        </p:nvSpPr>
        <p:spPr>
          <a:xfrm>
            <a:off x="4402633" y="2712690"/>
            <a:ext cx="3386684" cy="1"/>
          </a:xfrm>
          <a:prstGeom prst="line">
            <a:avLst/>
          </a:prstGeom>
          <a:ln w="25400">
            <a:solidFill>
              <a:schemeClr val="accent4"/>
            </a:solidFill>
          </a:ln>
        </p:spPr>
        <p:txBody>
          <a:bodyPr lIns="45719" rIns="45719"/>
          <a:lstStyle/>
          <a:p>
            <a:pPr>
              <a:defRPr>
                <a:solidFill>
                  <a:srgbClr val="ECE8DD"/>
                </a:solidFill>
              </a:defRPr>
            </a:pPr>
          </a:p>
        </p:txBody>
      </p:sp>
      <p:sp>
        <p:nvSpPr>
          <p:cNvPr id="568" name="Text 6"/>
          <p:cNvSpPr txBox="1"/>
          <p:nvPr/>
        </p:nvSpPr>
        <p:spPr>
          <a:xfrm>
            <a:off x="4402633" y="2839690"/>
            <a:ext cx="3488285" cy="6654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5000"/>
              </a:lnSpc>
              <a:defRPr sz="3600">
                <a:solidFill>
                  <a:srgbClr val="ECE8DD"/>
                </a:solidFill>
                <a:latin typeface="JetBrains Mono"/>
                <a:ea typeface="JetBrains Mono"/>
                <a:cs typeface="JetBrains Mono"/>
                <a:sym typeface="JetBrains Mono"/>
              </a:defRPr>
            </a:lvl1pPr>
          </a:lstStyle>
          <a:p>
            <a:pPr/>
            <a:r>
              <a:t>100k</a:t>
            </a:r>
          </a:p>
        </p:txBody>
      </p:sp>
      <p:sp>
        <p:nvSpPr>
          <p:cNvPr id="569" name="Text 7"/>
          <p:cNvSpPr txBox="1"/>
          <p:nvPr/>
        </p:nvSpPr>
        <p:spPr>
          <a:xfrm>
            <a:off x="4402633" y="3530550"/>
            <a:ext cx="3488285"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chemeClr val="accent2"/>
                </a:solidFill>
              </a:defRPr>
            </a:lvl1pPr>
          </a:lstStyle>
          <a:p>
            <a:pPr/>
            <a:r>
              <a:t>still OK, the ceiling</a:t>
            </a:r>
          </a:p>
        </p:txBody>
      </p:sp>
      <p:sp>
        <p:nvSpPr>
          <p:cNvPr id="570" name="Shape 8"/>
          <p:cNvSpPr/>
          <p:nvPr/>
        </p:nvSpPr>
        <p:spPr>
          <a:xfrm>
            <a:off x="7992516" y="2712690"/>
            <a:ext cx="3386683" cy="1"/>
          </a:xfrm>
          <a:prstGeom prst="line">
            <a:avLst/>
          </a:prstGeom>
          <a:ln w="25400">
            <a:solidFill>
              <a:schemeClr val="accent4"/>
            </a:solidFill>
          </a:ln>
        </p:spPr>
        <p:txBody>
          <a:bodyPr lIns="45719" rIns="45719"/>
          <a:lstStyle/>
          <a:p>
            <a:pPr>
              <a:defRPr>
                <a:solidFill>
                  <a:srgbClr val="ECE8DD"/>
                </a:solidFill>
              </a:defRPr>
            </a:pPr>
          </a:p>
        </p:txBody>
      </p:sp>
      <p:sp>
        <p:nvSpPr>
          <p:cNvPr id="571" name="Text 9"/>
          <p:cNvSpPr txBox="1"/>
          <p:nvPr/>
        </p:nvSpPr>
        <p:spPr>
          <a:xfrm>
            <a:off x="7992516" y="2839690"/>
            <a:ext cx="3488285" cy="6654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5000"/>
              </a:lnSpc>
              <a:defRPr sz="3600">
                <a:solidFill>
                  <a:srgbClr val="ECE8DD"/>
                </a:solidFill>
                <a:latin typeface="JetBrains Mono"/>
                <a:ea typeface="JetBrains Mono"/>
                <a:cs typeface="JetBrains Mono"/>
                <a:sym typeface="JetBrains Mono"/>
              </a:defRPr>
            </a:lvl1pPr>
          </a:lstStyle>
          <a:p>
            <a:pPr/>
            <a:r>
              <a:t>&gt;100k</a:t>
            </a:r>
          </a:p>
        </p:txBody>
      </p:sp>
      <p:sp>
        <p:nvSpPr>
          <p:cNvPr id="572" name="Text 10"/>
          <p:cNvSpPr txBox="1"/>
          <p:nvPr/>
        </p:nvSpPr>
        <p:spPr>
          <a:xfrm>
            <a:off x="7992516" y="3530550"/>
            <a:ext cx="3488285"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chemeClr val="accent2"/>
                </a:solidFill>
              </a:defRPr>
            </a:lvl1pPr>
          </a:lstStyle>
          <a:p>
            <a:pPr/>
            <a:r>
              <a:t>quality and latency fall off in our tests</a:t>
            </a:r>
          </a:p>
        </p:txBody>
      </p:sp>
      <p:grpSp>
        <p:nvGrpSpPr>
          <p:cNvPr id="575" name="Text 11"/>
          <p:cNvGrpSpPr/>
          <p:nvPr/>
        </p:nvGrpSpPr>
        <p:grpSpPr>
          <a:xfrm>
            <a:off x="819150" y="3996630"/>
            <a:ext cx="9893300" cy="566391"/>
            <a:chOff x="0" y="0"/>
            <a:chExt cx="9893300" cy="566389"/>
          </a:xfrm>
        </p:grpSpPr>
        <p:sp>
          <p:nvSpPr>
            <p:cNvPr id="573" name="Rounded Rectangle"/>
            <p:cNvSpPr/>
            <p:nvPr/>
          </p:nvSpPr>
          <p:spPr>
            <a:xfrm>
              <a:off x="0" y="0"/>
              <a:ext cx="9893300" cy="566390"/>
            </a:xfrm>
            <a:prstGeom prst="roundRect">
              <a:avLst>
                <a:gd name="adj" fmla="val 12332"/>
              </a:avLst>
            </a:prstGeom>
            <a:solidFill>
              <a:srgbClr val="0D1015"/>
            </a:solidFill>
            <a:ln w="12700" cap="flat">
              <a:solidFill>
                <a:schemeClr val="accent4"/>
              </a:solidFill>
              <a:prstDash val="dash"/>
              <a:round/>
            </a:ln>
            <a:effectLst/>
          </p:spPr>
          <p:txBody>
            <a:bodyPr wrap="square" lIns="45719" tIns="45719" rIns="45719" bIns="45719" numCol="1" anchor="t">
              <a:noAutofit/>
            </a:bodyPr>
            <a:lstStyle/>
            <a:p>
              <a:pPr>
                <a:lnSpc>
                  <a:spcPts val="1900"/>
                </a:lnSpc>
                <a:defRPr sz="1400">
                  <a:solidFill>
                    <a:srgbClr val="ECE8DD"/>
                  </a:solidFill>
                </a:defRPr>
              </a:pPr>
            </a:p>
          </p:txBody>
        </p:sp>
        <p:sp>
          <p:nvSpPr>
            <p:cNvPr id="574" name="[Your measurements here: recall@10 and latency at 50k, 100k and 200k vectors, same model, same machine]"/>
            <p:cNvSpPr txBox="1"/>
            <p:nvPr/>
          </p:nvSpPr>
          <p:spPr>
            <a:xfrm>
              <a:off x="215900" y="165099"/>
              <a:ext cx="9650592" cy="26159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rmAutofit fontScale="100000" lnSpcReduction="0"/>
            </a:bodyPr>
            <a:lstStyle>
              <a:lvl1pPr>
                <a:lnSpc>
                  <a:spcPts val="1900"/>
                </a:lnSpc>
                <a:defRPr sz="1400">
                  <a:solidFill>
                    <a:schemeClr val="accent3"/>
                  </a:solidFill>
                </a:defRPr>
              </a:lvl1pPr>
            </a:lstStyle>
            <a:p>
              <a:pPr/>
              <a:r>
                <a:t>[Your measurements here: recall@10 and latency at 50k, 100k and 200k vectors, same model, same machine]</a:t>
              </a:r>
            </a:p>
          </p:txBody>
        </p:sp>
      </p:grpSp>
      <p:sp>
        <p:nvSpPr>
          <p:cNvPr id="576" name="Text 12"/>
          <p:cNvSpPr txBox="1"/>
          <p:nvPr/>
        </p:nvSpPr>
        <p:spPr>
          <a:xfrm>
            <a:off x="812799" y="4797971"/>
            <a:ext cx="10203182" cy="30604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200"/>
              </a:lnSpc>
              <a:defRPr sz="1700">
                <a:solidFill>
                  <a:srgbClr val="ECE8DD"/>
                </a:solidFill>
              </a:defRPr>
            </a:lvl1pPr>
          </a:lstStyle>
          <a:p>
            <a:pPr/>
            <a:r>
              <a:t>1,000,000 vectors is 20 shards. A rule like that only works if you can say which shards to ask.</a:t>
            </a:r>
          </a:p>
        </p:txBody>
      </p:sp>
    </p:spTree>
  </p:cSld>
  <p:clrMapOvr>
    <a:masterClrMapping/>
  </p:clrMapOvr>
  <p:transition xmlns:p14="http://schemas.microsoft.com/office/powerpoint/2010/main" spd="med" advClick="1"/>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0" name="Text 0"/>
          <p:cNvSpPr txBox="1"/>
          <p:nvPr/>
        </p:nvSpPr>
        <p:spPr>
          <a:xfrm>
            <a:off x="812799" y="6096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VECTOR SCALE</a:t>
            </a:r>
          </a:p>
        </p:txBody>
      </p:sp>
      <p:sp>
        <p:nvSpPr>
          <p:cNvPr id="581" name="Text 1"/>
          <p:cNvSpPr txBox="1"/>
          <p:nvPr>
            <p:ph type="title"/>
          </p:nvPr>
        </p:nvSpPr>
        <p:spPr>
          <a:xfrm>
            <a:off x="812799" y="1048990"/>
            <a:ext cx="10203182" cy="1305521"/>
          </a:xfrm>
          <a:prstGeom prst="rect">
            <a:avLst/>
          </a:prstGeom>
        </p:spPr>
        <p:txBody>
          <a:bodyPr/>
          <a:lstStyle>
            <a:lvl1pPr>
              <a:lnSpc>
                <a:spcPts val="5000"/>
              </a:lnSpc>
              <a:defRPr sz="4800"/>
            </a:lvl1pPr>
          </a:lstStyle>
          <a:p>
            <a:pPr/>
            <a:r>
              <a:t>Context anchors a vector. It doesn’t solve scale.</a:t>
            </a:r>
          </a:p>
        </p:txBody>
      </p:sp>
      <p:sp>
        <p:nvSpPr>
          <p:cNvPr id="582" name="Text 2"/>
          <p:cNvSpPr txBox="1"/>
          <p:nvPr/>
        </p:nvSpPr>
        <p:spPr>
          <a:xfrm>
            <a:off x="812800" y="2519610"/>
            <a:ext cx="5610319"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3"/>
                </a:solidFill>
              </a:defRPr>
            </a:lvl1pPr>
          </a:lstStyle>
          <a:p>
            <a:pPr/>
            <a:r>
              <a:t>WHAT OTHERS PUBLISH</a:t>
            </a:r>
          </a:p>
        </p:txBody>
      </p:sp>
      <p:sp>
        <p:nvSpPr>
          <p:cNvPr id="583" name="Shape 3"/>
          <p:cNvSpPr/>
          <p:nvPr/>
        </p:nvSpPr>
        <p:spPr>
          <a:xfrm>
            <a:off x="812800" y="3162796"/>
            <a:ext cx="5446911" cy="1"/>
          </a:xfrm>
          <a:prstGeom prst="line">
            <a:avLst/>
          </a:prstGeom>
          <a:ln w="6350">
            <a:solidFill>
              <a:schemeClr val="accent4"/>
            </a:solidFill>
          </a:ln>
        </p:spPr>
        <p:txBody>
          <a:bodyPr lIns="45719" rIns="45719"/>
          <a:lstStyle/>
          <a:p>
            <a:pPr>
              <a:defRPr>
                <a:solidFill>
                  <a:srgbClr val="ECE8DD"/>
                </a:solidFill>
              </a:defRPr>
            </a:pPr>
          </a:p>
        </p:txBody>
      </p:sp>
      <p:sp>
        <p:nvSpPr>
          <p:cNvPr id="584" name="Text 4"/>
          <p:cNvSpPr txBox="1"/>
          <p:nvPr/>
        </p:nvSpPr>
        <p:spPr>
          <a:xfrm>
            <a:off x="812799" y="2840881"/>
            <a:ext cx="2402683"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sz="1400">
                <a:solidFill>
                  <a:schemeClr val="accent2"/>
                </a:solidFill>
              </a:defRPr>
            </a:lvl1pPr>
          </a:lstStyle>
          <a:p>
            <a:pPr/>
            <a:r>
              <a:t>Milvus, manual partitions</a:t>
            </a:r>
          </a:p>
        </p:txBody>
      </p:sp>
      <p:sp>
        <p:nvSpPr>
          <p:cNvPr id="585" name="Text 5"/>
          <p:cNvSpPr txBox="1"/>
          <p:nvPr/>
        </p:nvSpPr>
        <p:spPr>
          <a:xfrm>
            <a:off x="4595455" y="2840881"/>
            <a:ext cx="1664257"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900"/>
              </a:lnSpc>
              <a:defRPr sz="1400">
                <a:solidFill>
                  <a:srgbClr val="ECE8DD"/>
                </a:solidFill>
                <a:latin typeface="JetBrains Mono"/>
                <a:ea typeface="JetBrains Mono"/>
                <a:cs typeface="JetBrains Mono"/>
                <a:sym typeface="JetBrains Mono"/>
              </a:defRPr>
            </a:lvl1pPr>
          </a:lstStyle>
          <a:p>
            <a:pPr/>
            <a:r>
              <a:t>~20–100K rows</a:t>
            </a:r>
          </a:p>
        </p:txBody>
      </p:sp>
      <p:sp>
        <p:nvSpPr>
          <p:cNvPr id="586" name="Shape 6"/>
          <p:cNvSpPr/>
          <p:nvPr/>
        </p:nvSpPr>
        <p:spPr>
          <a:xfrm>
            <a:off x="812800" y="3595835"/>
            <a:ext cx="5446911" cy="1"/>
          </a:xfrm>
          <a:prstGeom prst="line">
            <a:avLst/>
          </a:prstGeom>
          <a:ln w="6350">
            <a:solidFill>
              <a:schemeClr val="accent4"/>
            </a:solidFill>
          </a:ln>
        </p:spPr>
        <p:txBody>
          <a:bodyPr lIns="45719" rIns="45719"/>
          <a:lstStyle/>
          <a:p>
            <a:pPr>
              <a:defRPr>
                <a:solidFill>
                  <a:srgbClr val="ECE8DD"/>
                </a:solidFill>
              </a:defRPr>
            </a:pPr>
          </a:p>
        </p:txBody>
      </p:sp>
      <p:sp>
        <p:nvSpPr>
          <p:cNvPr id="587" name="Text 7"/>
          <p:cNvSpPr txBox="1"/>
          <p:nvPr/>
        </p:nvSpPr>
        <p:spPr>
          <a:xfrm>
            <a:off x="812800" y="3273921"/>
            <a:ext cx="2230279"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sz="1400">
                <a:solidFill>
                  <a:schemeClr val="accent2"/>
                </a:solidFill>
              </a:defRPr>
            </a:lvl1pPr>
          </a:lstStyle>
          <a:p>
            <a:pPr/>
            <a:r>
              <a:t>Weaviate, flat → HNSW</a:t>
            </a:r>
          </a:p>
        </p:txBody>
      </p:sp>
      <p:sp>
        <p:nvSpPr>
          <p:cNvPr id="588" name="Text 8"/>
          <p:cNvSpPr txBox="1"/>
          <p:nvPr/>
        </p:nvSpPr>
        <p:spPr>
          <a:xfrm>
            <a:off x="4467462" y="3273921"/>
            <a:ext cx="1792249"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900"/>
              </a:lnSpc>
              <a:defRPr sz="1400">
                <a:solidFill>
                  <a:srgbClr val="ECE8DD"/>
                </a:solidFill>
                <a:latin typeface="JetBrains Mono"/>
                <a:ea typeface="JetBrains Mono"/>
                <a:cs typeface="JetBrains Mono"/>
                <a:sym typeface="JetBrains Mono"/>
              </a:defRPr>
            </a:lvl1pPr>
          </a:lstStyle>
          <a:p>
            <a:pPr/>
            <a:r>
              <a:t>10,000 objects</a:t>
            </a:r>
          </a:p>
        </p:txBody>
      </p:sp>
      <p:sp>
        <p:nvSpPr>
          <p:cNvPr id="589" name="Shape 9"/>
          <p:cNvSpPr/>
          <p:nvPr/>
        </p:nvSpPr>
        <p:spPr>
          <a:xfrm>
            <a:off x="812800" y="4028876"/>
            <a:ext cx="5446911" cy="1"/>
          </a:xfrm>
          <a:prstGeom prst="line">
            <a:avLst/>
          </a:prstGeom>
          <a:ln w="6350">
            <a:solidFill>
              <a:schemeClr val="accent4"/>
            </a:solidFill>
          </a:ln>
        </p:spPr>
        <p:txBody>
          <a:bodyPr lIns="45719" rIns="45719"/>
          <a:lstStyle/>
          <a:p>
            <a:pPr>
              <a:defRPr>
                <a:solidFill>
                  <a:srgbClr val="ECE8DD"/>
                </a:solidFill>
              </a:defRPr>
            </a:pPr>
          </a:p>
        </p:txBody>
      </p:sp>
      <p:sp>
        <p:nvSpPr>
          <p:cNvPr id="590" name="Text 10"/>
          <p:cNvSpPr txBox="1"/>
          <p:nvPr/>
        </p:nvSpPr>
        <p:spPr>
          <a:xfrm>
            <a:off x="812800" y="3706960"/>
            <a:ext cx="2630746"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sz="1400">
                <a:solidFill>
                  <a:schemeClr val="accent2"/>
                </a:solidFill>
              </a:defRPr>
            </a:lvl1pPr>
          </a:lstStyle>
          <a:p>
            <a:pPr/>
            <a:r>
              <a:t>Weaviate, flat-search cutoff</a:t>
            </a:r>
          </a:p>
        </p:txBody>
      </p:sp>
      <p:sp>
        <p:nvSpPr>
          <p:cNvPr id="591" name="Text 11"/>
          <p:cNvSpPr txBox="1"/>
          <p:nvPr/>
        </p:nvSpPr>
        <p:spPr>
          <a:xfrm>
            <a:off x="5491579" y="3706960"/>
            <a:ext cx="768133"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900"/>
              </a:lnSpc>
              <a:defRPr sz="1400">
                <a:solidFill>
                  <a:srgbClr val="ECE8DD"/>
                </a:solidFill>
                <a:latin typeface="JetBrains Mono"/>
                <a:ea typeface="JetBrains Mono"/>
                <a:cs typeface="JetBrains Mono"/>
                <a:sym typeface="JetBrains Mono"/>
              </a:defRPr>
            </a:lvl1pPr>
          </a:lstStyle>
          <a:p>
            <a:pPr/>
            <a:r>
              <a:t>40,000</a:t>
            </a:r>
          </a:p>
        </p:txBody>
      </p:sp>
      <p:sp>
        <p:nvSpPr>
          <p:cNvPr id="592" name="Shape 12"/>
          <p:cNvSpPr/>
          <p:nvPr/>
        </p:nvSpPr>
        <p:spPr>
          <a:xfrm>
            <a:off x="812800" y="4461917"/>
            <a:ext cx="5446911" cy="1"/>
          </a:xfrm>
          <a:prstGeom prst="line">
            <a:avLst/>
          </a:prstGeom>
          <a:ln w="6350">
            <a:solidFill>
              <a:schemeClr val="accent4"/>
            </a:solidFill>
          </a:ln>
        </p:spPr>
        <p:txBody>
          <a:bodyPr lIns="45719" rIns="45719"/>
          <a:lstStyle/>
          <a:p>
            <a:pPr>
              <a:defRPr>
                <a:solidFill>
                  <a:srgbClr val="ECE8DD"/>
                </a:solidFill>
              </a:defRPr>
            </a:pPr>
          </a:p>
        </p:txBody>
      </p:sp>
      <p:sp>
        <p:nvSpPr>
          <p:cNvPr id="593" name="Text 13"/>
          <p:cNvSpPr txBox="1"/>
          <p:nvPr/>
        </p:nvSpPr>
        <p:spPr>
          <a:xfrm>
            <a:off x="812800" y="4140001"/>
            <a:ext cx="2809102"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sz="1400">
                <a:solidFill>
                  <a:schemeClr val="accent2"/>
                </a:solidFill>
              </a:defRPr>
            </a:lvl1pPr>
          </a:lstStyle>
          <a:p>
            <a:pPr/>
            <a:r>
              <a:t>Weaviate, before enabling PQ</a:t>
            </a:r>
          </a:p>
        </p:txBody>
      </p:sp>
      <p:sp>
        <p:nvSpPr>
          <p:cNvPr id="594" name="Text 14"/>
          <p:cNvSpPr txBox="1"/>
          <p:nvPr/>
        </p:nvSpPr>
        <p:spPr>
          <a:xfrm>
            <a:off x="3955374" y="4140001"/>
            <a:ext cx="2304337"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900"/>
              </a:lnSpc>
              <a:defRPr sz="1400">
                <a:solidFill>
                  <a:srgbClr val="ECE8DD"/>
                </a:solidFill>
                <a:latin typeface="JetBrains Mono"/>
                <a:ea typeface="JetBrains Mono"/>
                <a:cs typeface="JetBrains Mono"/>
                <a:sym typeface="JetBrains Mono"/>
              </a:defRPr>
            </a:lvl1pPr>
          </a:lstStyle>
          <a:p>
            <a:pPr/>
            <a:r>
              <a:t>10K–100K per shard</a:t>
            </a:r>
          </a:p>
        </p:txBody>
      </p:sp>
      <p:sp>
        <p:nvSpPr>
          <p:cNvPr id="595" name="Text 15"/>
          <p:cNvSpPr txBox="1"/>
          <p:nvPr/>
        </p:nvSpPr>
        <p:spPr>
          <a:xfrm>
            <a:off x="812800" y="4573042"/>
            <a:ext cx="2610268"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sz="1400">
                <a:solidFill>
                  <a:schemeClr val="accent2"/>
                </a:solidFill>
              </a:defRPr>
            </a:lvl1pPr>
          </a:lstStyle>
          <a:p>
            <a:pPr/>
            <a:r>
              <a:t>Qdrant, binary quantization</a:t>
            </a:r>
          </a:p>
        </p:txBody>
      </p:sp>
      <p:sp>
        <p:nvSpPr>
          <p:cNvPr id="596" name="Text 16"/>
          <p:cNvSpPr txBox="1"/>
          <p:nvPr/>
        </p:nvSpPr>
        <p:spPr>
          <a:xfrm>
            <a:off x="4083427" y="4573042"/>
            <a:ext cx="2176285"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900"/>
              </a:lnSpc>
              <a:defRPr sz="1400">
                <a:solidFill>
                  <a:srgbClr val="ECE8DD"/>
                </a:solidFill>
                <a:latin typeface="JetBrains Mono"/>
                <a:ea typeface="JetBrains Mono"/>
                <a:cs typeface="JetBrains Mono"/>
                <a:sym typeface="JetBrains Mono"/>
              </a:defRPr>
            </a:lvl1pPr>
          </a:lstStyle>
          <a:p>
            <a:pPr/>
            <a:r>
              <a:t>up to 32× smaller</a:t>
            </a:r>
          </a:p>
        </p:txBody>
      </p:sp>
      <p:sp>
        <p:nvSpPr>
          <p:cNvPr id="597" name="Shape 17"/>
          <p:cNvSpPr/>
          <p:nvPr/>
        </p:nvSpPr>
        <p:spPr>
          <a:xfrm>
            <a:off x="6570860" y="2525960"/>
            <a:ext cx="4801990" cy="1739802"/>
          </a:xfrm>
          <a:prstGeom prst="roundRect">
            <a:avLst>
              <a:gd name="adj" fmla="val 4015"/>
            </a:avLst>
          </a:prstGeom>
          <a:ln w="12700">
            <a:solidFill>
              <a:schemeClr val="accent1"/>
            </a:solidFill>
          </a:ln>
        </p:spPr>
        <p:txBody>
          <a:bodyPr lIns="45719" rIns="45719"/>
          <a:lstStyle/>
          <a:p>
            <a:pPr>
              <a:defRPr>
                <a:solidFill>
                  <a:srgbClr val="ECE8DD"/>
                </a:solidFill>
              </a:defRPr>
            </a:pPr>
          </a:p>
        </p:txBody>
      </p:sp>
      <p:sp>
        <p:nvSpPr>
          <p:cNvPr id="598" name="Text 18"/>
          <p:cNvSpPr txBox="1"/>
          <p:nvPr/>
        </p:nvSpPr>
        <p:spPr>
          <a:xfrm>
            <a:off x="6793110" y="2710110"/>
            <a:ext cx="4488215"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b="1" spc="100" sz="1200">
                <a:solidFill>
                  <a:schemeClr val="accent1"/>
                </a:solidFill>
              </a:defRPr>
            </a:lvl1pPr>
          </a:lstStyle>
          <a:p>
            <a:pPr/>
            <a:r>
              <a:t>OUR RULE OF THUMB</a:t>
            </a:r>
          </a:p>
        </p:txBody>
      </p:sp>
      <p:sp>
        <p:nvSpPr>
          <p:cNvPr id="599" name="Text 19"/>
          <p:cNvSpPr txBox="1"/>
          <p:nvPr/>
        </p:nvSpPr>
        <p:spPr>
          <a:xfrm>
            <a:off x="6793110" y="2986931"/>
            <a:ext cx="4488215" cy="5943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4400"/>
              </a:lnSpc>
              <a:defRPr sz="3200">
                <a:solidFill>
                  <a:srgbClr val="ECE8DD"/>
                </a:solidFill>
                <a:latin typeface="JetBrains Mono"/>
                <a:ea typeface="JetBrains Mono"/>
                <a:cs typeface="JetBrains Mono"/>
                <a:sym typeface="JetBrains Mono"/>
              </a:defRPr>
            </a:lvl1pPr>
          </a:lstStyle>
          <a:p>
            <a:pPr/>
            <a:r>
              <a:t>50k–100k</a:t>
            </a:r>
          </a:p>
        </p:txBody>
      </p:sp>
      <p:sp>
        <p:nvSpPr>
          <p:cNvPr id="600" name="Text 20"/>
          <p:cNvSpPr txBox="1"/>
          <p:nvPr/>
        </p:nvSpPr>
        <p:spPr>
          <a:xfrm>
            <a:off x="6793110" y="3619351"/>
            <a:ext cx="4488215" cy="4876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chemeClr val="accent2"/>
                </a:solidFill>
              </a:defRPr>
            </a:lvl1pPr>
          </a:lstStyle>
          <a:p>
            <a:pPr/>
            <a:r>
              <a:t>vectors per shard, from our own tests on commodity hardware</a:t>
            </a:r>
          </a:p>
        </p:txBody>
      </p:sp>
      <p:sp>
        <p:nvSpPr>
          <p:cNvPr id="601" name="Text 21"/>
          <p:cNvSpPr txBox="1"/>
          <p:nvPr/>
        </p:nvSpPr>
        <p:spPr>
          <a:xfrm>
            <a:off x="812799" y="5082282"/>
            <a:ext cx="10203182" cy="79692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500">
                <a:solidFill>
                  <a:srgbClr val="ECE8DD"/>
                </a:solidFill>
              </a:defRPr>
            </a:lvl1pPr>
          </a:lstStyle>
          <a:p>
            <a:pPr/>
            <a:r>
              <a:t>Embeddings crowd into a narrow cone (anisotropy). Cookie-cutter text like abstracts should crowd them further, so the one sentence that carries the finding hides among look-alikes. Our own top-5 scores for one query span 0.897 to 0.871.</a:t>
            </a:r>
          </a:p>
        </p:txBody>
      </p:sp>
    </p:spTree>
  </p:cSld>
  <p:clrMapOvr>
    <a:masterClrMapping/>
  </p:clrMapOvr>
  <p:transition xmlns:p14="http://schemas.microsoft.com/office/powerpoint/2010/main" spd="med" advClick="1"/>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5" name="Text 0"/>
          <p:cNvSpPr txBox="1"/>
          <p:nvPr/>
        </p:nvSpPr>
        <p:spPr>
          <a:xfrm>
            <a:off x="812799" y="6604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VECTOR SCALE</a:t>
            </a:r>
          </a:p>
        </p:txBody>
      </p:sp>
      <p:sp>
        <p:nvSpPr>
          <p:cNvPr id="606" name="Text 1"/>
          <p:cNvSpPr txBox="1"/>
          <p:nvPr>
            <p:ph type="title"/>
          </p:nvPr>
        </p:nvSpPr>
        <p:spPr>
          <a:xfrm>
            <a:off x="812799" y="1137890"/>
            <a:ext cx="10203182" cy="692151"/>
          </a:xfrm>
          <a:prstGeom prst="rect">
            <a:avLst/>
          </a:prstGeom>
        </p:spPr>
        <p:txBody>
          <a:bodyPr/>
          <a:lstStyle>
            <a:lvl1pPr>
              <a:lnSpc>
                <a:spcPts val="5200"/>
              </a:lnSpc>
              <a:defRPr sz="5000"/>
            </a:lvl1pPr>
          </a:lstStyle>
          <a:p>
            <a:pPr/>
            <a:r>
              <a:t>IVF scales. It also needs a plan.</a:t>
            </a:r>
          </a:p>
        </p:txBody>
      </p:sp>
      <p:sp>
        <p:nvSpPr>
          <p:cNvPr id="607" name="Shape 2"/>
          <p:cNvSpPr/>
          <p:nvPr/>
        </p:nvSpPr>
        <p:spPr>
          <a:xfrm>
            <a:off x="812800" y="2045940"/>
            <a:ext cx="2489200" cy="1"/>
          </a:xfrm>
          <a:prstGeom prst="line">
            <a:avLst/>
          </a:prstGeom>
          <a:ln w="25400">
            <a:solidFill>
              <a:schemeClr val="accent4"/>
            </a:solidFill>
          </a:ln>
        </p:spPr>
        <p:txBody>
          <a:bodyPr lIns="45719" rIns="45719"/>
          <a:lstStyle/>
          <a:p>
            <a:pPr>
              <a:defRPr>
                <a:solidFill>
                  <a:srgbClr val="ECE8DD"/>
                </a:solidFill>
              </a:defRPr>
            </a:pPr>
          </a:p>
        </p:txBody>
      </p:sp>
      <p:sp>
        <p:nvSpPr>
          <p:cNvPr id="608" name="Text 3"/>
          <p:cNvSpPr txBox="1"/>
          <p:nvPr/>
        </p:nvSpPr>
        <p:spPr>
          <a:xfrm>
            <a:off x="812799" y="2172940"/>
            <a:ext cx="2563878" cy="3454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500"/>
              </a:lnSpc>
              <a:defRPr b="1">
                <a:solidFill>
                  <a:srgbClr val="ECE8DD"/>
                </a:solidFill>
              </a:defRPr>
            </a:lvl1pPr>
          </a:lstStyle>
          <a:p>
            <a:pPr/>
            <a:r>
              <a:t>Train first</a:t>
            </a:r>
          </a:p>
        </p:txBody>
      </p:sp>
      <p:sp>
        <p:nvSpPr>
          <p:cNvPr id="609" name="Text 4"/>
          <p:cNvSpPr txBox="1"/>
          <p:nvPr/>
        </p:nvSpPr>
        <p:spPr>
          <a:xfrm>
            <a:off x="812799" y="2556469"/>
            <a:ext cx="2563878" cy="7454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chemeClr val="accent2"/>
                </a:solidFill>
              </a:defRPr>
            </a:lvl1pPr>
          </a:lstStyle>
          <a:p>
            <a:pPr/>
            <a:r>
              <a:t>Cluster centres have to be learned from the data before anything can be added.</a:t>
            </a:r>
          </a:p>
        </p:txBody>
      </p:sp>
      <p:sp>
        <p:nvSpPr>
          <p:cNvPr id="610" name="Shape 5"/>
          <p:cNvSpPr/>
          <p:nvPr/>
        </p:nvSpPr>
        <p:spPr>
          <a:xfrm>
            <a:off x="3505200" y="2045940"/>
            <a:ext cx="2489200" cy="1"/>
          </a:xfrm>
          <a:prstGeom prst="line">
            <a:avLst/>
          </a:prstGeom>
          <a:ln w="25400">
            <a:solidFill>
              <a:schemeClr val="accent4"/>
            </a:solidFill>
          </a:ln>
        </p:spPr>
        <p:txBody>
          <a:bodyPr lIns="45719" rIns="45719"/>
          <a:lstStyle/>
          <a:p>
            <a:pPr>
              <a:defRPr>
                <a:solidFill>
                  <a:srgbClr val="ECE8DD"/>
                </a:solidFill>
              </a:defRPr>
            </a:pPr>
          </a:p>
        </p:txBody>
      </p:sp>
      <p:sp>
        <p:nvSpPr>
          <p:cNvPr id="611" name="Text 6"/>
          <p:cNvSpPr txBox="1"/>
          <p:nvPr/>
        </p:nvSpPr>
        <p:spPr>
          <a:xfrm>
            <a:off x="3505200" y="2172940"/>
            <a:ext cx="2563877" cy="3454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500"/>
              </a:lnSpc>
              <a:defRPr b="1">
                <a:solidFill>
                  <a:srgbClr val="ECE8DD"/>
                </a:solidFill>
              </a:defRPr>
            </a:lvl1pPr>
          </a:lstStyle>
          <a:p>
            <a:pPr/>
            <a:r>
              <a:t>Uneven cells</a:t>
            </a:r>
          </a:p>
        </p:txBody>
      </p:sp>
      <p:sp>
        <p:nvSpPr>
          <p:cNvPr id="612" name="Text 7"/>
          <p:cNvSpPr txBox="1"/>
          <p:nvPr/>
        </p:nvSpPr>
        <p:spPr>
          <a:xfrm>
            <a:off x="3505200" y="2556469"/>
            <a:ext cx="2563877" cy="7454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chemeClr val="accent2"/>
                </a:solidFill>
              </a:defRPr>
            </a:lvl1pPr>
          </a:lstStyle>
          <a:p>
            <a:pPr/>
            <a:r>
              <a:t>Lists end up very different sizes, so query cost depends on which cells a query lands in.</a:t>
            </a:r>
          </a:p>
        </p:txBody>
      </p:sp>
      <p:sp>
        <p:nvSpPr>
          <p:cNvPr id="613" name="Shape 8"/>
          <p:cNvSpPr/>
          <p:nvPr/>
        </p:nvSpPr>
        <p:spPr>
          <a:xfrm>
            <a:off x="6197600" y="2045940"/>
            <a:ext cx="2489200" cy="1"/>
          </a:xfrm>
          <a:prstGeom prst="line">
            <a:avLst/>
          </a:prstGeom>
          <a:ln w="25400">
            <a:solidFill>
              <a:schemeClr val="accent4"/>
            </a:solidFill>
          </a:ln>
        </p:spPr>
        <p:txBody>
          <a:bodyPr lIns="45719" rIns="45719"/>
          <a:lstStyle/>
          <a:p>
            <a:pPr>
              <a:defRPr>
                <a:solidFill>
                  <a:srgbClr val="ECE8DD"/>
                </a:solidFill>
              </a:defRPr>
            </a:pPr>
          </a:p>
        </p:txBody>
      </p:sp>
      <p:sp>
        <p:nvSpPr>
          <p:cNvPr id="614" name="Text 9"/>
          <p:cNvSpPr txBox="1"/>
          <p:nvPr/>
        </p:nvSpPr>
        <p:spPr>
          <a:xfrm>
            <a:off x="6197600" y="2172940"/>
            <a:ext cx="2563877" cy="3454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500"/>
              </a:lnSpc>
              <a:defRPr b="1">
                <a:solidFill>
                  <a:srgbClr val="ECE8DD"/>
                </a:solidFill>
              </a:defRPr>
            </a:lvl1pPr>
          </a:lstStyle>
          <a:p>
            <a:pPr/>
            <a:r>
              <a:t>Tuned probing</a:t>
            </a:r>
          </a:p>
        </p:txBody>
      </p:sp>
      <p:sp>
        <p:nvSpPr>
          <p:cNvPr id="615" name="Text 10"/>
          <p:cNvSpPr txBox="1"/>
          <p:nvPr/>
        </p:nvSpPr>
        <p:spPr>
          <a:xfrm>
            <a:off x="6197600" y="2556469"/>
            <a:ext cx="2563877" cy="9854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chemeClr val="accent2"/>
                </a:solidFill>
              </a:defRPr>
            </a:lvl1pPr>
          </a:lstStyle>
          <a:p>
            <a:pPr/>
            <a:r>
              <a:t>Recall depends on how many cells you visit. Neighbours across a boundary are missed unless you probe more.</a:t>
            </a:r>
          </a:p>
        </p:txBody>
      </p:sp>
      <p:sp>
        <p:nvSpPr>
          <p:cNvPr id="616" name="Shape 11"/>
          <p:cNvSpPr/>
          <p:nvPr/>
        </p:nvSpPr>
        <p:spPr>
          <a:xfrm>
            <a:off x="8890000" y="2045940"/>
            <a:ext cx="2489200" cy="1"/>
          </a:xfrm>
          <a:prstGeom prst="line">
            <a:avLst/>
          </a:prstGeom>
          <a:ln w="25400">
            <a:solidFill>
              <a:schemeClr val="accent1"/>
            </a:solidFill>
          </a:ln>
        </p:spPr>
        <p:txBody>
          <a:bodyPr lIns="45719" rIns="45719"/>
          <a:lstStyle/>
          <a:p>
            <a:pPr>
              <a:defRPr>
                <a:solidFill>
                  <a:srgbClr val="ECE8DD"/>
                </a:solidFill>
              </a:defRPr>
            </a:pPr>
          </a:p>
        </p:txBody>
      </p:sp>
      <p:sp>
        <p:nvSpPr>
          <p:cNvPr id="617" name="Text 12"/>
          <p:cNvSpPr txBox="1"/>
          <p:nvPr/>
        </p:nvSpPr>
        <p:spPr>
          <a:xfrm>
            <a:off x="8890000" y="2172940"/>
            <a:ext cx="2563877" cy="3454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500"/>
              </a:lnSpc>
              <a:defRPr b="1">
                <a:solidFill>
                  <a:srgbClr val="ECE8DD"/>
                </a:solidFill>
              </a:defRPr>
            </a:lvl1pPr>
          </a:lstStyle>
          <a:p>
            <a:pPr/>
            <a:r>
              <a:t>Drift</a:t>
            </a:r>
          </a:p>
        </p:txBody>
      </p:sp>
      <p:sp>
        <p:nvSpPr>
          <p:cNvPr id="618" name="Text 13"/>
          <p:cNvSpPr txBox="1"/>
          <p:nvPr/>
        </p:nvSpPr>
        <p:spPr>
          <a:xfrm>
            <a:off x="8890000" y="2556469"/>
            <a:ext cx="2563877" cy="7454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chemeClr val="accent2"/>
                </a:solidFill>
              </a:defRPr>
            </a:lvl1pPr>
          </a:lstStyle>
          <a:p>
            <a:pPr/>
            <a:r>
              <a:t>When the collection changes, the centres go stale and the index has to be rebuilt.</a:t>
            </a:r>
          </a:p>
        </p:txBody>
      </p:sp>
      <p:sp>
        <p:nvSpPr>
          <p:cNvPr id="619" name="Text 14"/>
          <p:cNvSpPr txBox="1"/>
          <p:nvPr/>
        </p:nvSpPr>
        <p:spPr>
          <a:xfrm>
            <a:off x="812799" y="3745110"/>
            <a:ext cx="10203182" cy="3225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300"/>
              </a:lnSpc>
              <a:defRPr>
                <a:solidFill>
                  <a:srgbClr val="ECE8DD"/>
                </a:solidFill>
              </a:defRPr>
            </a:lvl1pPr>
          </a:lstStyle>
          <a:p>
            <a:pPr/>
            <a:r>
              <a:t>That suits a managed cluster. It is harder to ask of a laptop that appends documents all day.</a:t>
            </a:r>
          </a:p>
        </p:txBody>
      </p:sp>
    </p:spTree>
  </p:cSld>
  <p:clrMapOvr>
    <a:masterClrMapping/>
  </p:clrMapOvr>
  <p:transition xmlns:p14="http://schemas.microsoft.com/office/powerpoint/2010/main" spd="med" advClick="1"/>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3" name="Text 0"/>
          <p:cNvSpPr txBox="1"/>
          <p:nvPr/>
        </p:nvSpPr>
        <p:spPr>
          <a:xfrm>
            <a:off x="812799" y="6604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BACK TO THE START</a:t>
            </a:r>
          </a:p>
        </p:txBody>
      </p:sp>
      <p:sp>
        <p:nvSpPr>
          <p:cNvPr id="624" name="Text 1"/>
          <p:cNvSpPr txBox="1"/>
          <p:nvPr>
            <p:ph type="title"/>
          </p:nvPr>
        </p:nvSpPr>
        <p:spPr>
          <a:xfrm>
            <a:off x="812799" y="1137890"/>
            <a:ext cx="10203182" cy="692151"/>
          </a:xfrm>
          <a:prstGeom prst="rect">
            <a:avLst/>
          </a:prstGeom>
        </p:spPr>
        <p:txBody>
          <a:bodyPr/>
          <a:lstStyle>
            <a:lvl1pPr>
              <a:lnSpc>
                <a:spcPts val="5200"/>
              </a:lnSpc>
              <a:defRPr sz="5000"/>
            </a:lvl1pPr>
          </a:lstStyle>
          <a:p>
            <a:pPr/>
            <a:r>
              <a:t>Exact search has no hubs.</a:t>
            </a:r>
          </a:p>
        </p:txBody>
      </p:sp>
      <p:sp>
        <p:nvSpPr>
          <p:cNvPr id="625" name="Text 2"/>
          <p:cNvSpPr txBox="1"/>
          <p:nvPr/>
        </p:nvSpPr>
        <p:spPr>
          <a:xfrm>
            <a:off x="812799" y="2033240"/>
            <a:ext cx="5248600" cy="86732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200"/>
              </a:lnSpc>
              <a:defRPr sz="1700">
                <a:solidFill>
                  <a:srgbClr val="ECE8DD"/>
                </a:solidFill>
              </a:defRPr>
            </a:lvl1pPr>
          </a:lstStyle>
          <a:p>
            <a:pPr/>
            <a:r>
              <a:t>A word hit is a fact about the text. A typed field, a date or a number is exact. Neither has a popularity bias or a capacity limit.</a:t>
            </a:r>
          </a:p>
        </p:txBody>
      </p:sp>
      <p:sp>
        <p:nvSpPr>
          <p:cNvPr id="626" name="Text 3"/>
          <p:cNvSpPr txBox="1"/>
          <p:nvPr/>
        </p:nvSpPr>
        <p:spPr>
          <a:xfrm>
            <a:off x="812799" y="3002160"/>
            <a:ext cx="5248600" cy="58668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200"/>
              </a:lnSpc>
              <a:defRPr sz="1700">
                <a:solidFill>
                  <a:srgbClr val="ECE8DD"/>
                </a:solidFill>
              </a:defRPr>
            </a:lvl1pPr>
          </a:lstStyle>
          <a:p>
            <a:pPr/>
            <a:r>
              <a:t>So use them to say where to look, and let the vector say what is similar inside it.</a:t>
            </a:r>
          </a:p>
        </p:txBody>
      </p:sp>
      <p:sp>
        <p:nvSpPr>
          <p:cNvPr id="627" name="Shape 4"/>
          <p:cNvSpPr/>
          <p:nvPr/>
        </p:nvSpPr>
        <p:spPr>
          <a:xfrm>
            <a:off x="6270476" y="2039590"/>
            <a:ext cx="5102374" cy="1666181"/>
          </a:xfrm>
          <a:prstGeom prst="roundRect">
            <a:avLst>
              <a:gd name="adj" fmla="val 4192"/>
            </a:avLst>
          </a:prstGeom>
          <a:solidFill>
            <a:srgbClr val="0D1015"/>
          </a:solidFill>
          <a:ln w="12700">
            <a:solidFill>
              <a:schemeClr val="accent1"/>
            </a:solidFill>
          </a:ln>
        </p:spPr>
        <p:txBody>
          <a:bodyPr lIns="45719" rIns="45719"/>
          <a:lstStyle/>
          <a:p>
            <a:pPr>
              <a:defRPr>
                <a:solidFill>
                  <a:srgbClr val="ECE8DD"/>
                </a:solidFill>
              </a:defRPr>
            </a:pPr>
          </a:p>
        </p:txBody>
      </p:sp>
      <p:sp>
        <p:nvSpPr>
          <p:cNvPr id="628" name="Text 5"/>
          <p:cNvSpPr txBox="1"/>
          <p:nvPr/>
        </p:nvSpPr>
        <p:spPr>
          <a:xfrm>
            <a:off x="6505426" y="2236440"/>
            <a:ext cx="4771449"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sz="1400">
                <a:solidFill>
                  <a:srgbClr val="ECE8DD"/>
                </a:solidFill>
                <a:latin typeface="JetBrains Mono"/>
                <a:ea typeface="JetBrains Mono"/>
                <a:cs typeface="JetBrains Mono"/>
                <a:sym typeface="JetBrains Mono"/>
              </a:defRPr>
            </a:lvl1pPr>
          </a:lstStyle>
          <a:p>
            <a:pPr/>
            <a:r>
              <a:t>risc matrix AND:CLAIM-TEXT</a:t>
            </a:r>
          </a:p>
        </p:txBody>
      </p:sp>
      <p:sp>
        <p:nvSpPr>
          <p:cNvPr id="629" name="Text 6"/>
          <p:cNvSpPr txBox="1"/>
          <p:nvPr/>
        </p:nvSpPr>
        <p:spPr>
          <a:xfrm>
            <a:off x="6505426" y="2561530"/>
            <a:ext cx="3622119" cy="6654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5000"/>
              </a:lnSpc>
              <a:defRPr sz="3600">
                <a:solidFill>
                  <a:schemeClr val="accent1"/>
                </a:solidFill>
                <a:latin typeface="JetBrains Mono"/>
                <a:ea typeface="JetBrains Mono"/>
                <a:cs typeface="JetBrains Mono"/>
                <a:sym typeface="JetBrains Mono"/>
              </a:defRPr>
            </a:lvl1pPr>
          </a:lstStyle>
          <a:p>
            <a:pPr/>
            <a:r>
              <a:t>656,519 → 1</a:t>
            </a:r>
          </a:p>
        </p:txBody>
      </p:sp>
      <p:sp>
        <p:nvSpPr>
          <p:cNvPr id="630" name="Text 7"/>
          <p:cNvSpPr txBox="1"/>
          <p:nvPr/>
        </p:nvSpPr>
        <p:spPr>
          <a:xfrm>
            <a:off x="6505426" y="3277791"/>
            <a:ext cx="4771449"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400">
                <a:solidFill>
                  <a:schemeClr val="accent2"/>
                </a:solidFill>
              </a:defRPr>
            </a:lvl1pPr>
          </a:lstStyle>
          <a:p>
            <a:pPr/>
            <a:r>
              <a:t>patents, narrowed to the claim in about 17 ms</a:t>
            </a:r>
          </a:p>
        </p:txBody>
      </p:sp>
      <p:sp>
        <p:nvSpPr>
          <p:cNvPr id="631" name="Text 8"/>
          <p:cNvSpPr txBox="1"/>
          <p:nvPr/>
        </p:nvSpPr>
        <p:spPr>
          <a:xfrm>
            <a:off x="812799" y="3940721"/>
            <a:ext cx="10203182" cy="3225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300"/>
              </a:lnSpc>
              <a:defRPr>
                <a:solidFill>
                  <a:schemeClr val="accent2"/>
                </a:solidFill>
              </a:defRPr>
            </a:lvl1pPr>
          </a:lstStyle>
          <a:p>
            <a:pPr/>
            <a:r>
              <a:t>The vector hit is a span too, so the two intersect without a second database.</a:t>
            </a:r>
          </a:p>
        </p:txBody>
      </p:sp>
    </p:spTree>
  </p:cSld>
  <p:clrMapOvr>
    <a:masterClrMapping/>
  </p:clrMapOvr>
  <p:transition xmlns:p14="http://schemas.microsoft.com/office/powerpoint/2010/main" spd="med" advClick="1"/>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5" name="Text 0"/>
          <p:cNvSpPr txBox="1"/>
          <p:nvPr/>
        </p:nvSpPr>
        <p:spPr>
          <a:xfrm>
            <a:off x="812799" y="7112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FOOTPRINT</a:t>
            </a:r>
          </a:p>
        </p:txBody>
      </p:sp>
      <p:sp>
        <p:nvSpPr>
          <p:cNvPr id="636" name="Text 1"/>
          <p:cNvSpPr txBox="1"/>
          <p:nvPr>
            <p:ph type="title"/>
          </p:nvPr>
        </p:nvSpPr>
        <p:spPr>
          <a:xfrm>
            <a:off x="812799" y="1214090"/>
            <a:ext cx="10203182" cy="1412181"/>
          </a:xfrm>
          <a:prstGeom prst="rect">
            <a:avLst/>
          </a:prstGeom>
        </p:spPr>
        <p:txBody>
          <a:bodyPr/>
          <a:lstStyle>
            <a:lvl1pPr>
              <a:lnSpc>
                <a:spcPts val="5400"/>
              </a:lnSpc>
            </a:lvl1pPr>
          </a:lstStyle>
          <a:p>
            <a:pPr/>
            <a:r>
              <a:t>A 198 MB table in front of two billion words.</a:t>
            </a:r>
          </a:p>
        </p:txBody>
      </p:sp>
      <p:sp>
        <p:nvSpPr>
          <p:cNvPr id="637" name="Text 2"/>
          <p:cNvSpPr txBox="1"/>
          <p:nvPr/>
        </p:nvSpPr>
        <p:spPr>
          <a:xfrm>
            <a:off x="812800" y="2854871"/>
            <a:ext cx="5508993"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3"/>
                </a:solidFill>
              </a:defRPr>
            </a:lvl1pPr>
          </a:lstStyle>
          <a:p>
            <a:pPr/>
            <a:r>
              <a:t>ONE ENTRY, 29 BYTES</a:t>
            </a:r>
          </a:p>
        </p:txBody>
      </p:sp>
      <p:grpSp>
        <p:nvGrpSpPr>
          <p:cNvPr id="640" name="Text 3"/>
          <p:cNvGrpSpPr/>
          <p:nvPr/>
        </p:nvGrpSpPr>
        <p:grpSpPr>
          <a:xfrm>
            <a:off x="812800" y="3230760"/>
            <a:ext cx="571500" cy="812801"/>
            <a:chOff x="0" y="0"/>
            <a:chExt cx="571500" cy="812800"/>
          </a:xfrm>
        </p:grpSpPr>
        <p:sp>
          <p:nvSpPr>
            <p:cNvPr id="638" name="Shape"/>
            <p:cNvSpPr/>
            <p:nvPr/>
          </p:nvSpPr>
          <p:spPr>
            <a:xfrm>
              <a:off x="0" y="0"/>
              <a:ext cx="571500" cy="8128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20" y="0"/>
                  </a:moveTo>
                  <a:lnTo>
                    <a:pt x="21600" y="0"/>
                  </a:lnTo>
                  <a:lnTo>
                    <a:pt x="21600" y="21600"/>
                  </a:lnTo>
                  <a:lnTo>
                    <a:pt x="1920" y="21600"/>
                  </a:lnTo>
                  <a:cubicBezTo>
                    <a:pt x="860" y="21600"/>
                    <a:pt x="0" y="20996"/>
                    <a:pt x="0" y="20250"/>
                  </a:cubicBezTo>
                  <a:lnTo>
                    <a:pt x="0" y="1350"/>
                  </a:lnTo>
                  <a:cubicBezTo>
                    <a:pt x="0" y="604"/>
                    <a:pt x="860" y="0"/>
                    <a:pt x="1920" y="0"/>
                  </a:cubicBezTo>
                  <a:close/>
                </a:path>
              </a:pathLst>
            </a:custGeom>
            <a:solidFill>
              <a:schemeClr val="accent4"/>
            </a:solidFill>
            <a:ln w="12700" cap="flat">
              <a:noFill/>
              <a:miter lim="400000"/>
            </a:ln>
            <a:effectLst/>
          </p:spPr>
          <p:txBody>
            <a:bodyPr wrap="square" lIns="45719" tIns="45719" rIns="45719" bIns="45719" numCol="1" anchor="t">
              <a:noAutofit/>
            </a:bodyPr>
            <a:lstStyle/>
            <a:p>
              <a:pPr algn="ctr">
                <a:lnSpc>
                  <a:spcPts val="2100"/>
                </a:lnSpc>
                <a:defRPr sz="1500">
                  <a:solidFill>
                    <a:srgbClr val="ECE8DD"/>
                  </a:solidFill>
                </a:defRPr>
              </a:pPr>
            </a:p>
          </p:txBody>
        </p:sp>
        <p:sp>
          <p:nvSpPr>
            <p:cNvPr id="639" name="1"/>
            <p:cNvSpPr txBox="1"/>
            <p:nvPr/>
          </p:nvSpPr>
          <p:spPr>
            <a:xfrm>
              <a:off x="0" y="139700"/>
              <a:ext cx="571500" cy="5334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rmAutofit fontScale="100000" lnSpcReduction="0"/>
            </a:bodyPr>
            <a:lstStyle>
              <a:lvl1pPr algn="ctr">
                <a:lnSpc>
                  <a:spcPts val="2100"/>
                </a:lnSpc>
                <a:defRPr sz="1500">
                  <a:solidFill>
                    <a:srgbClr val="ECE8DD"/>
                  </a:solidFill>
                  <a:latin typeface="JetBrains Mono"/>
                  <a:ea typeface="JetBrains Mono"/>
                  <a:cs typeface="JetBrains Mono"/>
                  <a:sym typeface="JetBrains Mono"/>
                </a:defRPr>
              </a:lvl1pPr>
            </a:lstStyle>
            <a:p>
              <a:pPr/>
              <a:r>
                <a:t>1</a:t>
              </a:r>
            </a:p>
          </p:txBody>
        </p:sp>
      </p:grpSp>
      <p:grpSp>
        <p:nvGrpSpPr>
          <p:cNvPr id="643" name="Text 4"/>
          <p:cNvGrpSpPr/>
          <p:nvPr/>
        </p:nvGrpSpPr>
        <p:grpSpPr>
          <a:xfrm>
            <a:off x="1384299" y="3230760"/>
            <a:ext cx="3126038" cy="812801"/>
            <a:chOff x="0" y="0"/>
            <a:chExt cx="3126036" cy="812800"/>
          </a:xfrm>
        </p:grpSpPr>
        <p:sp>
          <p:nvSpPr>
            <p:cNvPr id="641" name="Rectangle"/>
            <p:cNvSpPr/>
            <p:nvPr/>
          </p:nvSpPr>
          <p:spPr>
            <a:xfrm>
              <a:off x="-1" y="0"/>
              <a:ext cx="3126038" cy="812800"/>
            </a:xfrm>
            <a:prstGeom prst="rect">
              <a:avLst/>
            </a:prstGeom>
            <a:solidFill>
              <a:schemeClr val="accent5"/>
            </a:solidFill>
            <a:ln w="12700" cap="flat">
              <a:noFill/>
              <a:miter lim="400000"/>
            </a:ln>
            <a:effectLst/>
          </p:spPr>
          <p:txBody>
            <a:bodyPr wrap="square" lIns="45719" tIns="45719" rIns="45719" bIns="45719" numCol="1" anchor="t">
              <a:noAutofit/>
            </a:bodyPr>
            <a:lstStyle/>
            <a:p>
              <a:pPr algn="ctr">
                <a:lnSpc>
                  <a:spcPts val="2100"/>
                </a:lnSpc>
                <a:defRPr sz="1500">
                  <a:solidFill>
                    <a:srgbClr val="ECE8DD"/>
                  </a:solidFill>
                </a:defRPr>
              </a:pPr>
            </a:p>
          </p:txBody>
        </p:sp>
        <p:sp>
          <p:nvSpPr>
            <p:cNvPr id="642" name="20 bytes of word"/>
            <p:cNvSpPr txBox="1"/>
            <p:nvPr/>
          </p:nvSpPr>
          <p:spPr>
            <a:xfrm>
              <a:off x="-1" y="139700"/>
              <a:ext cx="3126038" cy="5334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rmAutofit fontScale="100000" lnSpcReduction="0"/>
            </a:bodyPr>
            <a:lstStyle>
              <a:lvl1pPr algn="ctr">
                <a:lnSpc>
                  <a:spcPts val="2100"/>
                </a:lnSpc>
                <a:defRPr sz="1500">
                  <a:solidFill>
                    <a:schemeClr val="accent1"/>
                  </a:solidFill>
                  <a:latin typeface="JetBrains Mono"/>
                  <a:ea typeface="JetBrains Mono"/>
                  <a:cs typeface="JetBrains Mono"/>
                  <a:sym typeface="JetBrains Mono"/>
                </a:defRPr>
              </a:lvl1pPr>
            </a:lstStyle>
            <a:p>
              <a:pPr/>
              <a:r>
                <a:t>20 bytes of word</a:t>
              </a:r>
            </a:p>
          </p:txBody>
        </p:sp>
      </p:grpSp>
      <p:grpSp>
        <p:nvGrpSpPr>
          <p:cNvPr id="646" name="Text 5"/>
          <p:cNvGrpSpPr/>
          <p:nvPr/>
        </p:nvGrpSpPr>
        <p:grpSpPr>
          <a:xfrm>
            <a:off x="4510335" y="3230760"/>
            <a:ext cx="1651001" cy="812801"/>
            <a:chOff x="0" y="0"/>
            <a:chExt cx="1651000" cy="812800"/>
          </a:xfrm>
        </p:grpSpPr>
        <p:sp>
          <p:nvSpPr>
            <p:cNvPr id="644" name="Shape"/>
            <p:cNvSpPr/>
            <p:nvPr/>
          </p:nvSpPr>
          <p:spPr>
            <a:xfrm>
              <a:off x="0" y="0"/>
              <a:ext cx="1651000" cy="8128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0935" y="0"/>
                  </a:lnTo>
                  <a:cubicBezTo>
                    <a:pt x="21302" y="0"/>
                    <a:pt x="21600" y="604"/>
                    <a:pt x="21600" y="1350"/>
                  </a:cubicBezTo>
                  <a:lnTo>
                    <a:pt x="21600" y="20250"/>
                  </a:lnTo>
                  <a:cubicBezTo>
                    <a:pt x="21600" y="20996"/>
                    <a:pt x="21302" y="21600"/>
                    <a:pt x="20935" y="21600"/>
                  </a:cubicBezTo>
                  <a:lnTo>
                    <a:pt x="0" y="21600"/>
                  </a:lnTo>
                  <a:lnTo>
                    <a:pt x="0" y="0"/>
                  </a:lnTo>
                  <a:close/>
                </a:path>
              </a:pathLst>
            </a:custGeom>
            <a:solidFill>
              <a:srgbClr val="232A36"/>
            </a:solidFill>
            <a:ln w="12700" cap="flat">
              <a:noFill/>
              <a:miter lim="400000"/>
            </a:ln>
            <a:effectLst/>
          </p:spPr>
          <p:txBody>
            <a:bodyPr wrap="square" lIns="45719" tIns="45719" rIns="45719" bIns="45719" numCol="1" anchor="t">
              <a:noAutofit/>
            </a:bodyPr>
            <a:lstStyle/>
            <a:p>
              <a:pPr algn="ctr">
                <a:lnSpc>
                  <a:spcPts val="2100"/>
                </a:lnSpc>
                <a:defRPr sz="1500">
                  <a:solidFill>
                    <a:srgbClr val="ECE8DD"/>
                  </a:solidFill>
                </a:defRPr>
              </a:pPr>
            </a:p>
          </p:txBody>
        </p:sp>
        <p:sp>
          <p:nvSpPr>
            <p:cNvPr id="645" name="8 bytes: position"/>
            <p:cNvSpPr txBox="1"/>
            <p:nvPr/>
          </p:nvSpPr>
          <p:spPr>
            <a:xfrm>
              <a:off x="0" y="139700"/>
              <a:ext cx="1651000" cy="5588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rmAutofit fontScale="100000" lnSpcReduction="0"/>
            </a:bodyPr>
            <a:lstStyle>
              <a:lvl1pPr algn="ctr">
                <a:lnSpc>
                  <a:spcPts val="2100"/>
                </a:lnSpc>
                <a:defRPr sz="1500">
                  <a:solidFill>
                    <a:srgbClr val="ECE8DD"/>
                  </a:solidFill>
                  <a:latin typeface="JetBrains Mono"/>
                  <a:ea typeface="JetBrains Mono"/>
                  <a:cs typeface="JetBrains Mono"/>
                  <a:sym typeface="JetBrains Mono"/>
                </a:defRPr>
              </a:lvl1pPr>
            </a:lstStyle>
            <a:p>
              <a:pPr/>
              <a:r>
                <a:t>8 bytes: position</a:t>
              </a:r>
            </a:p>
          </p:txBody>
        </p:sp>
      </p:grpSp>
      <p:sp>
        <p:nvSpPr>
          <p:cNvPr id="647" name="Text 6"/>
          <p:cNvSpPr txBox="1"/>
          <p:nvPr/>
        </p:nvSpPr>
        <p:spPr>
          <a:xfrm>
            <a:off x="812800" y="4170560"/>
            <a:ext cx="5508993" cy="8255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chemeClr val="accent2"/>
                </a:solidFill>
              </a:defRPr>
            </a:lvl1pPr>
          </a:lstStyle>
          <a:p>
            <a:pPr/>
            <a:r>
              <a:t>Fixed stride, sorted by unsigned byte comparison. A word longer than 20 bytes is marked with * and only its posting range goes back to the text.</a:t>
            </a:r>
          </a:p>
        </p:txBody>
      </p:sp>
      <p:sp>
        <p:nvSpPr>
          <p:cNvPr id="648" name="Shape 7"/>
          <p:cNvSpPr/>
          <p:nvPr/>
        </p:nvSpPr>
        <p:spPr>
          <a:xfrm>
            <a:off x="6516936" y="2867571"/>
            <a:ext cx="4862265" cy="1"/>
          </a:xfrm>
          <a:prstGeom prst="line">
            <a:avLst/>
          </a:prstGeom>
          <a:ln w="25400">
            <a:solidFill>
              <a:schemeClr val="accent1"/>
            </a:solidFill>
          </a:ln>
        </p:spPr>
        <p:txBody>
          <a:bodyPr lIns="45719" rIns="45719"/>
          <a:lstStyle/>
          <a:p>
            <a:pPr>
              <a:defRPr>
                <a:solidFill>
                  <a:srgbClr val="ECE8DD"/>
                </a:solidFill>
              </a:defRPr>
            </a:pPr>
          </a:p>
        </p:txBody>
      </p:sp>
      <p:sp>
        <p:nvSpPr>
          <p:cNvPr id="649" name="Text 8"/>
          <p:cNvSpPr txBox="1"/>
          <p:nvPr/>
        </p:nvSpPr>
        <p:spPr>
          <a:xfrm>
            <a:off x="6516936" y="2994571"/>
            <a:ext cx="5008133"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4200"/>
              </a:lnSpc>
              <a:defRPr sz="3000">
                <a:solidFill>
                  <a:srgbClr val="ECE8DD"/>
                </a:solidFill>
                <a:latin typeface="JetBrains Mono"/>
                <a:ea typeface="JetBrains Mono"/>
                <a:cs typeface="JetBrains Mono"/>
                <a:sym typeface="JetBrains Mono"/>
              </a:defRPr>
            </a:lvl1pPr>
          </a:lstStyle>
          <a:p>
            <a:pPr/>
            <a:r>
              <a:t>6,817,829</a:t>
            </a:r>
          </a:p>
        </p:txBody>
      </p:sp>
      <p:sp>
        <p:nvSpPr>
          <p:cNvPr id="650" name="Text 9"/>
          <p:cNvSpPr txBox="1"/>
          <p:nvPr/>
        </p:nvSpPr>
        <p:spPr>
          <a:xfrm>
            <a:off x="6516936" y="3566071"/>
            <a:ext cx="5008133"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sz="1400">
                <a:solidFill>
                  <a:schemeClr val="accent2"/>
                </a:solidFill>
              </a:defRPr>
            </a:lvl1pPr>
          </a:lstStyle>
          <a:p>
            <a:pPr/>
            <a:r>
              <a:t>entries in the patents table, about 197.7 MB</a:t>
            </a:r>
          </a:p>
        </p:txBody>
      </p:sp>
      <p:sp>
        <p:nvSpPr>
          <p:cNvPr id="651" name="Shape 10"/>
          <p:cNvSpPr/>
          <p:nvPr/>
        </p:nvSpPr>
        <p:spPr>
          <a:xfrm>
            <a:off x="6516936" y="3954660"/>
            <a:ext cx="4862265" cy="1"/>
          </a:xfrm>
          <a:prstGeom prst="line">
            <a:avLst/>
          </a:prstGeom>
          <a:ln w="25400">
            <a:solidFill>
              <a:schemeClr val="accent1"/>
            </a:solidFill>
          </a:ln>
        </p:spPr>
        <p:txBody>
          <a:bodyPr lIns="45719" rIns="45719"/>
          <a:lstStyle/>
          <a:p>
            <a:pPr>
              <a:defRPr>
                <a:solidFill>
                  <a:srgbClr val="ECE8DD"/>
                </a:solidFill>
              </a:defRPr>
            </a:pPr>
          </a:p>
        </p:txBody>
      </p:sp>
      <p:sp>
        <p:nvSpPr>
          <p:cNvPr id="652" name="Text 11"/>
          <p:cNvSpPr txBox="1"/>
          <p:nvPr/>
        </p:nvSpPr>
        <p:spPr>
          <a:xfrm>
            <a:off x="6516936" y="4081660"/>
            <a:ext cx="5008133"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4200"/>
              </a:lnSpc>
              <a:defRPr sz="3000">
                <a:solidFill>
                  <a:srgbClr val="ECE8DD"/>
                </a:solidFill>
                <a:latin typeface="JetBrains Mono"/>
                <a:ea typeface="JetBrains Mono"/>
                <a:cs typeface="JetBrains Mono"/>
                <a:sym typeface="JetBrains Mono"/>
              </a:defRPr>
            </a:lvl1pPr>
          </a:lstStyle>
          <a:p>
            <a:pPr/>
            <a:r>
              <a:t>7.9%</a:t>
            </a:r>
          </a:p>
        </p:txBody>
      </p:sp>
      <p:sp>
        <p:nvSpPr>
          <p:cNvPr id="653" name="Text 12"/>
          <p:cNvSpPr txBox="1"/>
          <p:nvPr/>
        </p:nvSpPr>
        <p:spPr>
          <a:xfrm>
            <a:off x="6516936" y="4653160"/>
            <a:ext cx="5008133"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sz="1400">
                <a:solidFill>
                  <a:schemeClr val="accent2"/>
                </a:solidFill>
              </a:defRPr>
            </a:lvl1pPr>
          </a:lstStyle>
          <a:p>
            <a:pPr/>
            <a:r>
              <a:t>of entries overflow (538,047)</a:t>
            </a:r>
          </a:p>
        </p:txBody>
      </p:sp>
    </p:spTree>
  </p:cSld>
  <p:clrMapOvr>
    <a:masterClrMapping/>
  </p:clrMapOvr>
  <p:transition xmlns:p14="http://schemas.microsoft.com/office/powerpoint/2010/main" spd="med" advClick="1"/>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657" name="At its core is Re-Isearch"/>
          <p:cNvSpPr txBox="1"/>
          <p:nvPr>
            <p:ph type="title"/>
          </p:nvPr>
        </p:nvSpPr>
        <p:spPr>
          <a:xfrm>
            <a:off x="603250" y="538679"/>
            <a:ext cx="10985500" cy="1048404"/>
          </a:xfrm>
          <a:prstGeom prst="rect">
            <a:avLst/>
          </a:prstGeom>
        </p:spPr>
        <p:txBody>
          <a:bodyPr/>
          <a:lstStyle>
            <a:lvl1pPr>
              <a:defRPr b="0" spc="-148" sz="4800">
                <a:latin typeface="Marker Felt"/>
                <a:ea typeface="Marker Felt"/>
                <a:cs typeface="Marker Felt"/>
                <a:sym typeface="Marker Felt"/>
              </a:defRPr>
            </a:lvl1pPr>
          </a:lstStyle>
          <a:p>
            <a:pPr/>
            <a:r>
              <a:t>Tiered Index Cache (Why it works):</a:t>
            </a:r>
          </a:p>
        </p:txBody>
      </p:sp>
      <p:pic>
        <p:nvPicPr>
          <p:cNvPr id="658" name="Image" descr="Image"/>
          <p:cNvPicPr>
            <a:picLocks noChangeAspect="1"/>
          </p:cNvPicPr>
          <p:nvPr/>
        </p:nvPicPr>
        <p:blipFill>
          <a:blip r:embed="rId2">
            <a:extLst/>
          </a:blip>
          <a:stretch>
            <a:fillRect/>
          </a:stretch>
        </p:blipFill>
        <p:spPr>
          <a:xfrm>
            <a:off x="710736" y="1332560"/>
            <a:ext cx="9922572" cy="5356486"/>
          </a:xfrm>
          <a:prstGeom prst="rect">
            <a:avLst/>
          </a:prstGeom>
          <a:ln w="12700">
            <a:miter lim="400000"/>
          </a:ln>
        </p:spPr>
      </p:pic>
    </p:spTree>
  </p:cSld>
  <p:clrMapOvr>
    <a:masterClrMapping/>
  </p:clrMapOvr>
  <p:transition xmlns:p14="http://schemas.microsoft.com/office/powerpoint/2010/main" spd="med" advClick="1"/>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660" name="corequarry-shared-mmap-pages.png" descr="corequarry-shared-mmap-pages.png"/>
          <p:cNvPicPr>
            <a:picLocks noChangeAspect="1"/>
          </p:cNvPicPr>
          <p:nvPr/>
        </p:nvPicPr>
        <p:blipFill>
          <a:blip r:embed="rId2">
            <a:extLst/>
          </a:blip>
          <a:stretch>
            <a:fillRect/>
          </a:stretch>
        </p:blipFill>
        <p:spPr>
          <a:xfrm>
            <a:off x="0" y="0"/>
            <a:ext cx="12192000" cy="6858000"/>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2" name="Text 0"/>
          <p:cNvSpPr txBox="1"/>
          <p:nvPr/>
        </p:nvSpPr>
        <p:spPr>
          <a:xfrm>
            <a:off x="812799" y="7112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FOOTPRINT</a:t>
            </a:r>
          </a:p>
        </p:txBody>
      </p:sp>
      <p:sp>
        <p:nvSpPr>
          <p:cNvPr id="663" name="Text 1"/>
          <p:cNvSpPr txBox="1"/>
          <p:nvPr>
            <p:ph type="title"/>
          </p:nvPr>
        </p:nvSpPr>
        <p:spPr>
          <a:xfrm>
            <a:off x="812799" y="1214090"/>
            <a:ext cx="10203182" cy="718791"/>
          </a:xfrm>
          <a:prstGeom prst="rect">
            <a:avLst/>
          </a:prstGeom>
        </p:spPr>
        <p:txBody>
          <a:bodyPr/>
          <a:lstStyle>
            <a:lvl1pPr defTabSz="886968">
              <a:lnSpc>
                <a:spcPts val="5200"/>
              </a:lnSpc>
              <a:defRPr sz="5044"/>
            </a:lvl1pPr>
          </a:lstStyle>
          <a:p>
            <a:pPr/>
            <a:r>
              <a:t>Develop on the floor, not the ceiling.</a:t>
            </a:r>
          </a:p>
        </p:txBody>
      </p:sp>
      <p:sp>
        <p:nvSpPr>
          <p:cNvPr id="664" name="Text 2"/>
          <p:cNvSpPr txBox="1"/>
          <p:nvPr/>
        </p:nvSpPr>
        <p:spPr>
          <a:xfrm>
            <a:off x="812800" y="2161480"/>
            <a:ext cx="5258562"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3"/>
                </a:solidFill>
              </a:defRPr>
            </a:lvl1pPr>
          </a:lstStyle>
          <a:p>
            <a:pPr/>
            <a:r>
              <a:t>EMBEDDING ONE QUERY, M1 PRO (METAL)</a:t>
            </a:r>
          </a:p>
        </p:txBody>
      </p:sp>
      <p:sp>
        <p:nvSpPr>
          <p:cNvPr id="665" name="Shape 3"/>
          <p:cNvSpPr/>
          <p:nvPr/>
        </p:nvSpPr>
        <p:spPr>
          <a:xfrm>
            <a:off x="812800" y="3015506"/>
            <a:ext cx="5105400" cy="1"/>
          </a:xfrm>
          <a:prstGeom prst="line">
            <a:avLst/>
          </a:prstGeom>
          <a:ln w="6350">
            <a:solidFill>
              <a:schemeClr val="accent4"/>
            </a:solidFill>
          </a:ln>
        </p:spPr>
        <p:txBody>
          <a:bodyPr lIns="45719" rIns="45719"/>
          <a:lstStyle/>
          <a:p>
            <a:pPr>
              <a:defRPr>
                <a:solidFill>
                  <a:srgbClr val="ECE8DD"/>
                </a:solidFill>
              </a:defRPr>
            </a:pPr>
          </a:p>
        </p:txBody>
      </p:sp>
      <p:sp>
        <p:nvSpPr>
          <p:cNvPr id="666" name="Text 4"/>
          <p:cNvSpPr txBox="1"/>
          <p:nvPr/>
        </p:nvSpPr>
        <p:spPr>
          <a:xfrm>
            <a:off x="812799" y="2626271"/>
            <a:ext cx="1786178" cy="3098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200"/>
              </a:lnSpc>
              <a:defRPr sz="1600">
                <a:solidFill>
                  <a:schemeClr val="accent2"/>
                </a:solidFill>
              </a:defRPr>
            </a:lvl1pPr>
          </a:lstStyle>
          <a:p>
            <a:pPr/>
            <a:r>
              <a:t>MiniLM-L12, f32</a:t>
            </a:r>
          </a:p>
        </p:txBody>
      </p:sp>
      <p:sp>
        <p:nvSpPr>
          <p:cNvPr id="667" name="Text 5"/>
          <p:cNvSpPr txBox="1"/>
          <p:nvPr/>
        </p:nvSpPr>
        <p:spPr>
          <a:xfrm>
            <a:off x="4162504" y="2626271"/>
            <a:ext cx="1755696" cy="3098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2200"/>
              </a:lnSpc>
              <a:defRPr sz="1600">
                <a:solidFill>
                  <a:srgbClr val="ECE8DD"/>
                </a:solidFill>
                <a:latin typeface="JetBrains Mono"/>
                <a:ea typeface="JetBrains Mono"/>
                <a:cs typeface="JetBrains Mono"/>
                <a:sym typeface="JetBrains Mono"/>
              </a:defRPr>
            </a:lvl1pPr>
          </a:lstStyle>
          <a:p>
            <a:pPr/>
            <a:r>
              <a:t>4 ms · 15 ms</a:t>
            </a:r>
          </a:p>
        </p:txBody>
      </p:sp>
      <p:sp>
        <p:nvSpPr>
          <p:cNvPr id="668" name="Shape 6"/>
          <p:cNvSpPr/>
          <p:nvPr/>
        </p:nvSpPr>
        <p:spPr>
          <a:xfrm>
            <a:off x="812800" y="3623816"/>
            <a:ext cx="5105400" cy="1"/>
          </a:xfrm>
          <a:prstGeom prst="line">
            <a:avLst/>
          </a:prstGeom>
          <a:ln w="6350">
            <a:solidFill>
              <a:schemeClr val="accent4"/>
            </a:solidFill>
          </a:ln>
        </p:spPr>
        <p:txBody>
          <a:bodyPr lIns="45719" rIns="45719"/>
          <a:lstStyle/>
          <a:p>
            <a:pPr>
              <a:defRPr>
                <a:solidFill>
                  <a:srgbClr val="ECE8DD"/>
                </a:solidFill>
              </a:defRPr>
            </a:pPr>
          </a:p>
        </p:txBody>
      </p:sp>
      <p:sp>
        <p:nvSpPr>
          <p:cNvPr id="669" name="Text 7"/>
          <p:cNvSpPr txBox="1"/>
          <p:nvPr/>
        </p:nvSpPr>
        <p:spPr>
          <a:xfrm>
            <a:off x="812800" y="3234581"/>
            <a:ext cx="1734681" cy="3098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200"/>
              </a:lnSpc>
              <a:defRPr sz="1600">
                <a:solidFill>
                  <a:schemeClr val="accent2"/>
                </a:solidFill>
              </a:defRPr>
            </a:lvl1pPr>
          </a:lstStyle>
          <a:p>
            <a:pPr/>
            <a:r>
              <a:t>bge-large, q8_0</a:t>
            </a:r>
          </a:p>
        </p:txBody>
      </p:sp>
      <p:sp>
        <p:nvSpPr>
          <p:cNvPr id="670" name="Text 8"/>
          <p:cNvSpPr txBox="1"/>
          <p:nvPr/>
        </p:nvSpPr>
        <p:spPr>
          <a:xfrm>
            <a:off x="4016235" y="3234581"/>
            <a:ext cx="1901965" cy="3098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2200"/>
              </a:lnSpc>
              <a:defRPr sz="1600">
                <a:solidFill>
                  <a:srgbClr val="ECE8DD"/>
                </a:solidFill>
                <a:latin typeface="JetBrains Mono"/>
                <a:ea typeface="JetBrains Mono"/>
                <a:cs typeface="JetBrains Mono"/>
                <a:sym typeface="JetBrains Mono"/>
              </a:defRPr>
            </a:lvl1pPr>
          </a:lstStyle>
          <a:p>
            <a:pPr/>
            <a:r>
              <a:t>15 ms · 35 ms</a:t>
            </a:r>
          </a:p>
        </p:txBody>
      </p:sp>
      <p:sp>
        <p:nvSpPr>
          <p:cNvPr id="671" name="Text 9"/>
          <p:cNvSpPr txBox="1"/>
          <p:nvPr/>
        </p:nvSpPr>
        <p:spPr>
          <a:xfrm>
            <a:off x="812800" y="3741291"/>
            <a:ext cx="5258562" cy="25653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chemeClr val="accent3"/>
                </a:solidFill>
              </a:defRPr>
            </a:lvl1pPr>
          </a:lstStyle>
          <a:p>
            <a:pPr/>
            <a:r>
              <a:t>First figure: 11 tokens. Second: 137 tokens.</a:t>
            </a:r>
          </a:p>
        </p:txBody>
      </p:sp>
      <p:sp>
        <p:nvSpPr>
          <p:cNvPr id="672" name="Text 10"/>
          <p:cNvSpPr txBox="1"/>
          <p:nvPr/>
        </p:nvSpPr>
        <p:spPr>
          <a:xfrm>
            <a:off x="6273800" y="2161480"/>
            <a:ext cx="5258562"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THE FLOOR</a:t>
            </a:r>
          </a:p>
        </p:txBody>
      </p:sp>
      <p:sp>
        <p:nvSpPr>
          <p:cNvPr id="673" name="Text 11"/>
          <p:cNvSpPr txBox="1"/>
          <p:nvPr/>
        </p:nvSpPr>
        <p:spPr>
          <a:xfrm>
            <a:off x="6273800" y="2524671"/>
            <a:ext cx="5258562" cy="10160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600"/>
              </a:lnSpc>
              <a:defRPr sz="2000">
                <a:solidFill>
                  <a:srgbClr val="ECE8DD"/>
                </a:solidFill>
              </a:defRPr>
            </a:lvl1pPr>
          </a:lstStyle>
          <a:p>
            <a:pPr/>
            <a:r>
              <a:t>A 2021 laptop built the patents index with no swapping. If it works there, a bigger machine is a bonus, not a requirement.</a:t>
            </a:r>
          </a:p>
        </p:txBody>
      </p:sp>
      <p:sp>
        <p:nvSpPr>
          <p:cNvPr id="674" name="Text 12"/>
          <p:cNvSpPr txBox="1"/>
          <p:nvPr/>
        </p:nvSpPr>
        <p:spPr>
          <a:xfrm>
            <a:off x="6273800" y="3629571"/>
            <a:ext cx="5258562"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chemeClr val="accent2"/>
                </a:solidFill>
              </a:defRPr>
            </a:lvl1pPr>
          </a:lstStyle>
          <a:p>
            <a:pPr/>
            <a:r>
              <a:t>[Other machines we benchmark: M3 Pro, M4 Pro, AGX Orin, RTX 50 laptop, 2× GTX 1080]</a:t>
            </a:r>
          </a:p>
        </p:txBody>
      </p:sp>
    </p:spTree>
  </p:cSld>
  <p:clrMapOvr>
    <a:masterClrMapping/>
  </p:clrMapOvr>
  <p:transition xmlns:p14="http://schemas.microsoft.com/office/powerpoint/2010/main" spd="med" advClick="1"/>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0000"/>
        </a:solidFill>
      </p:bgPr>
    </p:bg>
    <p:spTree>
      <p:nvGrpSpPr>
        <p:cNvPr id="1" name=""/>
        <p:cNvGrpSpPr/>
        <p:nvPr/>
      </p:nvGrpSpPr>
      <p:grpSpPr>
        <a:xfrm>
          <a:off x="0" y="0"/>
          <a:ext cx="0" cy="0"/>
          <a:chOff x="0" y="0"/>
          <a:chExt cx="0" cy="0"/>
        </a:xfrm>
      </p:grpSpPr>
      <p:sp>
        <p:nvSpPr>
          <p:cNvPr id="678" name="Vectorization performance"/>
          <p:cNvSpPr txBox="1"/>
          <p:nvPr>
            <p:ph type="title"/>
          </p:nvPr>
        </p:nvSpPr>
        <p:spPr>
          <a:prstGeom prst="rect">
            <a:avLst/>
          </a:prstGeom>
        </p:spPr>
        <p:txBody>
          <a:bodyPr/>
          <a:lstStyle>
            <a:lvl1pPr defTabSz="1072895">
              <a:defRPr sz="4400">
                <a:solidFill>
                  <a:srgbClr val="FFFFFF"/>
                </a:solidFill>
                <a:latin typeface="Marker Felt"/>
                <a:ea typeface="Marker Felt"/>
                <a:cs typeface="Marker Felt"/>
                <a:sym typeface="Marker Felt"/>
              </a:defRPr>
            </a:lvl1pPr>
          </a:lstStyle>
          <a:p>
            <a:pPr/>
            <a:r>
              <a:t>Vectorization performance</a:t>
            </a:r>
          </a:p>
        </p:txBody>
      </p:sp>
      <p:sp>
        <p:nvSpPr>
          <p:cNvPr id="679" name="Loading /Users/edz/Downloads/bge-large-en-v1.5-q8_0.gguf on accelerated backend (threads=6)...…"/>
          <p:cNvSpPr txBox="1"/>
          <p:nvPr>
            <p:ph type="body" idx="21"/>
          </p:nvPr>
        </p:nvSpPr>
        <p:spPr>
          <a:xfrm>
            <a:off x="287919" y="1463543"/>
            <a:ext cx="11616162" cy="5020698"/>
          </a:xfrm>
          <a:prstGeom prst="rect">
            <a:avLst/>
          </a:prstGeom>
          <a:extLst>
            <a:ext uri="{C572A759-6A51-4108-AA02-DFA0A04FC94B}">
              <ma14:wrappingTextBoxFlag xmlns:ma14="http://schemas.microsoft.com/office/mac/drawingml/2011/main" val="1"/>
            </a:ext>
          </a:extLst>
        </p:spPr>
        <p:txBody>
          <a:bodyPr/>
          <a:lstStyle/>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Loading /Users/edz/Downloads/bge-large-en-v1.5-q8_0.gguf on accelerated backend (threads=6)...</a:t>
            </a: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Model: bge-large-en-v1.5  arch=bert  n_embd=1024  load=220 ms</a:t>
            </a: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Warmup=5 iters, measure=50 iters</a:t>
            </a: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 latency by input length (batch=1) ==</a:t>
            </a: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  very-short     tok= 11  bs=  1  | mean=  14.82 ms  med=  14.82  p95=  14.94  min= 14.60  max= 15.05  |      742 tok/s     67.5 seq/s</a:t>
            </a: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  short          tok= 38  bs=  1  | mean=  20.79 ms  med=  20.71  p95=  20.98  min= 20.47  max= 22.99  |     1828 tok/s     48.1 seq/s</a:t>
            </a: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  medium         tok=137  bs=  1  | mean=  38.63 ms  med=  38.62  p95=  38.74  min= 38.54  max= 38.86  |     3546 tok/s     25.9 seq/s</a:t>
            </a: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  long           tok=263  bs=  1  | mean=  67.24 ms  med=  67.21  p95=  67.38  min= 67.12  max= 67.55  |     3911 tok/s     14.9 seq/s</a:t>
            </a: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  max            tok=512  bs=  1  | mean= 116.45 ms  med= 116.62  p95= 117.12  min=115.65  max=117.53  |     4397 tok/s      8.6 seq/s</a:t>
            </a: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latin typeface="American Typewriter"/>
                <a:ea typeface="American Typewriter"/>
                <a:cs typeface="American Typewriter"/>
                <a:sym typeface="American Typewriter"/>
              </a:defRPr>
            </a:pPr>
            <a:r>
              <a:t>==</a:t>
            </a:r>
            <a:r>
              <a:rPr>
                <a:solidFill>
                  <a:srgbClr val="FFFFFF"/>
                </a:solidFill>
              </a:rPr>
              <a:t> throughput by batch size (tok=128) ==</a:t>
            </a:r>
            <a:endParaRPr>
              <a:solidFill>
                <a:srgbClr val="FFFFFF"/>
              </a:solidFill>
              <a:latin typeface="Carlito"/>
              <a:ea typeface="Carlito"/>
              <a:cs typeface="Carlito"/>
              <a:sym typeface="Carlito"/>
            </a:endParaRP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  bs=1           tok=137  bs=  1  | mean=  38.63 ms  med=  38.61  p95=  38.80  min= 38.49  max= 39.08  |     3546 tok/s     25.9 seq/s</a:t>
            </a:r>
            <a:endParaRPr>
              <a:latin typeface="Carlito"/>
              <a:ea typeface="Carlito"/>
              <a:cs typeface="Carlito"/>
              <a:sym typeface="Carlito"/>
            </a:endParaRP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  bs=4           tok=137  bs=  4  | mean= 135.44 ms  med= 135.41  p95= 135.74  min=135.21  max=136.05  |     4046 tok/s     29.5 seq/s</a:t>
            </a:r>
            <a:endParaRPr>
              <a:latin typeface="Carlito"/>
              <a:ea typeface="Carlito"/>
              <a:cs typeface="Carlito"/>
              <a:sym typeface="Carlito"/>
            </a:endParaRP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  bs=8           tok=137  bs=  8  | mean= 266.41 ms  med= 266.36  p95= 266.81  min=266.07  max=266.91  |     4114 tok/s     30.0 seq/s</a:t>
            </a:r>
            <a:endParaRPr>
              <a:latin typeface="Carlito"/>
              <a:ea typeface="Carlito"/>
              <a:cs typeface="Carlito"/>
              <a:sym typeface="Carlito"/>
            </a:endParaRP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  bs=16          tok=137  bs= 16  | mean= 530.99 ms  med= 529.86  p95= 536.17  min=529.20  max=539.27  |     4128 tok/s     30.1 seq/s</a:t>
            </a:r>
            <a:endParaRPr>
              <a:latin typeface="Carlito"/>
              <a:ea typeface="Carlito"/>
              <a:cs typeface="Carlito"/>
              <a:sym typeface="Carlito"/>
            </a:endParaRP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  bs=32          tok=137  bs= 32  | mean=1069.06 ms  med=1067.57  p95=1074.02  min=1066.46  max=1085.44  |     4101 tok/s     29.9 seq/s</a:t>
            </a:r>
          </a:p>
        </p:txBody>
      </p:sp>
    </p:spTree>
  </p:cSld>
  <p:clrMapOvr>
    <a:masterClrMapping/>
  </p:clrMapOvr>
  <p:transition xmlns:p14="http://schemas.microsoft.com/office/powerpoint/2010/main" spd="med" advClick="1"/>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0000"/>
        </a:solidFill>
      </p:bgPr>
    </p:bg>
    <p:spTree>
      <p:nvGrpSpPr>
        <p:cNvPr id="1" name=""/>
        <p:cNvGrpSpPr/>
        <p:nvPr/>
      </p:nvGrpSpPr>
      <p:grpSpPr>
        <a:xfrm>
          <a:off x="0" y="0"/>
          <a:ext cx="0" cy="0"/>
          <a:chOff x="0" y="0"/>
          <a:chExt cx="0" cy="0"/>
        </a:xfrm>
      </p:grpSpPr>
      <p:sp>
        <p:nvSpPr>
          <p:cNvPr id="681" name="Useful performance on embedded hardware (Orin64)"/>
          <p:cNvSpPr txBox="1"/>
          <p:nvPr>
            <p:ph type="body" sz="quarter" idx="1"/>
          </p:nvPr>
        </p:nvSpPr>
        <p:spPr>
          <a:xfrm>
            <a:off x="603249" y="453212"/>
            <a:ext cx="10985501" cy="694417"/>
          </a:xfrm>
          <a:prstGeom prst="rect">
            <a:avLst/>
          </a:prstGeom>
        </p:spPr>
        <p:txBody>
          <a:bodyPr/>
          <a:lstStyle>
            <a:lvl1pPr>
              <a:defRPr sz="4400">
                <a:solidFill>
                  <a:srgbClr val="FFFFFF"/>
                </a:solidFill>
                <a:latin typeface="Marker Felt"/>
                <a:ea typeface="Marker Felt"/>
                <a:cs typeface="Marker Felt"/>
                <a:sym typeface="Marker Felt"/>
              </a:defRPr>
            </a:lvl1pPr>
          </a:lstStyle>
          <a:p>
            <a:pPr/>
            <a:r>
              <a:t>Performance on embedded hardware (Orin64)</a:t>
            </a:r>
          </a:p>
        </p:txBody>
      </p:sp>
      <p:sp>
        <p:nvSpPr>
          <p:cNvPr id="682" name="Loading /Users/edz/Downloads/bge-large-en-v1.5-q8_0.gguf on accelerated backend (threads=6)...…"/>
          <p:cNvSpPr txBox="1"/>
          <p:nvPr>
            <p:ph type="body" idx="21"/>
          </p:nvPr>
        </p:nvSpPr>
        <p:spPr>
          <a:xfrm>
            <a:off x="498959" y="1475113"/>
            <a:ext cx="11616162" cy="4712343"/>
          </a:xfrm>
          <a:prstGeom prst="rect">
            <a:avLst/>
          </a:prstGeom>
          <a:extLst>
            <a:ext uri="{C572A759-6A51-4108-AA02-DFA0A04FC94B}">
              <ma14:wrappingTextBoxFlag xmlns:ma14="http://schemas.microsoft.com/office/mac/drawingml/2011/main" val="1"/>
            </a:ext>
          </a:extLst>
        </p:spPr>
        <p:txBody>
          <a:bodyPr/>
          <a:lstStyle/>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Loading /Users/edz/Downloads/bge-large-en-v1.5-q8_0.gguf on accelerated backend (threads=6)...</a:t>
            </a: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CUDA Device 0: Orin (65.85 GB VRAM)</a:t>
            </a: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bert: using CUDA backend (full get_rows support)</a:t>
            </a: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Model: bge-large-en-v1.5  arch=bert  n_embd=1024  load=1014 ms</a:t>
            </a: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Warmup=5 iters, measure=50 iters</a:t>
            </a: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latin typeface="American Typewriter"/>
                <a:ea typeface="American Typewriter"/>
                <a:cs typeface="American Typewriter"/>
                <a:sym typeface="American Typewriter"/>
              </a:defRPr>
            </a:pP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 latency by input length (batch=1) ==</a:t>
            </a: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  very-short     tok= 11  bs=  1  | mean=   9.97 ms  med=   8.59  p95=  14.95  min=  7.27  max= 20.27  |     1103 tok/s    100.3 seq/s</a:t>
            </a: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  short          tok= 38  bs=  1  | mean=   9.72 ms  med=   9.81  p95=  10.02  min=  9.21  max= 10.31  |     3911 tok/s    102.9 seq/s</a:t>
            </a: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latin typeface="American Typewriter"/>
                <a:ea typeface="American Typewriter"/>
                <a:cs typeface="American Typewriter"/>
                <a:sym typeface="American Typewriter"/>
              </a:defRPr>
            </a:pPr>
            <a:r>
              <a:t>  </a:t>
            </a:r>
            <a:r>
              <a:rPr>
                <a:solidFill>
                  <a:srgbClr val="FFFFFF"/>
                </a:solidFill>
              </a:rPr>
              <a:t>medium         tok=137  bs=  1  | mean=  16.37 ms  med=  16.33  p95=  16.53  min= 15.66  max= 17.54  |     8368 tok/s     61.1 seq/s</a:t>
            </a:r>
            <a:endParaRPr>
              <a:solidFill>
                <a:srgbClr val="FFFFFF"/>
              </a:solidFill>
            </a:endParaRP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  long           tok=263  bs=  1  | mean=  27.97 ms  med=  28.00  p95=  28.27  min= 27.18  max= 29.45  |     9402 tok/s     35.8 seq/s</a:t>
            </a: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  max            tok=512  bs=  1  | mean=  46.53 ms  med=  46.43  p95=  47.57  min= 45.86  max= 48.14  |    11004 tok/s     21.5 seq/s</a:t>
            </a: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latin typeface="American Typewriter"/>
                <a:ea typeface="American Typewriter"/>
                <a:cs typeface="American Typewriter"/>
                <a:sym typeface="American Typewriter"/>
              </a:defRPr>
            </a:pP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latin typeface="American Typewriter"/>
                <a:ea typeface="American Typewriter"/>
                <a:cs typeface="American Typewriter"/>
                <a:sym typeface="American Typewriter"/>
              </a:defRPr>
            </a:pPr>
            <a:r>
              <a:t>=</a:t>
            </a:r>
            <a:r>
              <a:rPr>
                <a:solidFill>
                  <a:srgbClr val="FFFFFF"/>
                </a:solidFill>
              </a:rPr>
              <a:t>= throughput by batch size (tok=128) ==</a:t>
            </a:r>
            <a:endParaRPr>
              <a:solidFill>
                <a:srgbClr val="FFFFFF"/>
              </a:solidFill>
            </a:endParaRP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  bs=1           tok=137  bs=  1  | mean=  16.16 ms  med=  16.24  p95=  16.64  min= 15.59  max= 18.18  |     8477 tok/s     61.9 seq/s</a:t>
            </a: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  bs=4           tok=137  bs=  4  | mean=  55.13 ms  med=  55.10  p95=  55.39  min= 54.70  max= 56.46  |     9941 tok/s     72.6 seq/s</a:t>
            </a: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  bs=8           tok=137  bs=  8  | mean= 113.15 ms  med= 112.92  p95= 114.58  min=112.46  max=115.63  |     9686 tok/s     70.7 seq/s</a:t>
            </a: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  bs=16          tok=137  bs= 16  | mean= 215.03 ms  med= 214.71  p95= 216.90  min=214.31  max=218.90  |    10194 tok/s     74.4 seq/s</a:t>
            </a:r>
          </a:p>
          <a:p>
            <a:pPr marL="0" indent="0" defTabSz="225107">
              <a:spcBef>
                <a:spcPts val="0"/>
              </a:spcBef>
              <a:buSz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sz="1400">
                <a:solidFill>
                  <a:srgbClr val="FFFFFF"/>
                </a:solidFill>
                <a:latin typeface="American Typewriter"/>
                <a:ea typeface="American Typewriter"/>
                <a:cs typeface="American Typewriter"/>
                <a:sym typeface="American Typewriter"/>
              </a:defRPr>
            </a:pPr>
            <a:r>
              <a:t>  bs=32          tok=137  bs= 32  | mean= 427.06 ms  med= 427.35  p95= 428.06  min=425.14  max=428.74  |    10265 tok/s     74.9 seq/s</a:t>
            </a:r>
          </a:p>
        </p:txBody>
      </p:sp>
    </p:spTree>
  </p:cSld>
  <p:clrMapOvr>
    <a:masterClrMapping/>
  </p:clrMapOvr>
  <mc:AlternateContent xmlns:mc="http://schemas.openxmlformats.org/markup-compatibility/2006">
    <mc:Choice xmlns:p14="http://schemas.microsoft.com/office/powerpoint/2010/main" Requires="p14">
      <p:transition spd="fast" advClick="1" p14:dur="500">
        <p:pull dir="l"/>
      </p:transition>
    </mc:Choice>
    <mc:Fallback>
      <p:transition spd="fast">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4" name="Text 0"/>
          <p:cNvSpPr txBox="1"/>
          <p:nvPr/>
        </p:nvSpPr>
        <p:spPr>
          <a:xfrm>
            <a:off x="812799" y="7112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FOOTPRINT</a:t>
            </a:r>
          </a:p>
        </p:txBody>
      </p:sp>
      <p:sp>
        <p:nvSpPr>
          <p:cNvPr id="685" name="Text 1"/>
          <p:cNvSpPr txBox="1"/>
          <p:nvPr>
            <p:ph type="title"/>
          </p:nvPr>
        </p:nvSpPr>
        <p:spPr>
          <a:xfrm>
            <a:off x="812799" y="1239490"/>
            <a:ext cx="10203182" cy="718791"/>
          </a:xfrm>
          <a:prstGeom prst="rect">
            <a:avLst/>
          </a:prstGeom>
        </p:spPr>
        <p:txBody>
          <a:bodyPr/>
          <a:lstStyle>
            <a:lvl1pPr>
              <a:lnSpc>
                <a:spcPts val="5400"/>
              </a:lnSpc>
            </a:lvl1pPr>
          </a:lstStyle>
          <a:p>
            <a:pPr/>
            <a:r>
              <a:t>Indexing Performance (Example).</a:t>
            </a:r>
          </a:p>
        </p:txBody>
      </p:sp>
      <p:sp>
        <p:nvSpPr>
          <p:cNvPr id="686" name="Shape 2"/>
          <p:cNvSpPr/>
          <p:nvPr/>
        </p:nvSpPr>
        <p:spPr>
          <a:xfrm>
            <a:off x="812800" y="2224980"/>
            <a:ext cx="3352800" cy="1"/>
          </a:xfrm>
          <a:prstGeom prst="line">
            <a:avLst/>
          </a:prstGeom>
          <a:ln w="25400">
            <a:solidFill>
              <a:schemeClr val="accent1"/>
            </a:solidFill>
          </a:ln>
        </p:spPr>
        <p:txBody>
          <a:bodyPr lIns="45719" rIns="45719"/>
          <a:lstStyle/>
          <a:p>
            <a:pPr>
              <a:defRPr>
                <a:solidFill>
                  <a:srgbClr val="ECE8DD"/>
                </a:solidFill>
              </a:defRPr>
            </a:pPr>
          </a:p>
        </p:txBody>
      </p:sp>
      <p:sp>
        <p:nvSpPr>
          <p:cNvPr id="687" name="Text 3"/>
          <p:cNvSpPr txBox="1"/>
          <p:nvPr/>
        </p:nvSpPr>
        <p:spPr>
          <a:xfrm>
            <a:off x="812799" y="2390080"/>
            <a:ext cx="3453386" cy="6654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5000"/>
              </a:lnSpc>
              <a:defRPr sz="3600">
                <a:solidFill>
                  <a:srgbClr val="ECE8DD"/>
                </a:solidFill>
                <a:latin typeface="JetBrains Mono"/>
                <a:ea typeface="JetBrains Mono"/>
                <a:cs typeface="JetBrains Mono"/>
                <a:sym typeface="JetBrains Mono"/>
              </a:defRPr>
            </a:lvl1pPr>
          </a:lstStyle>
          <a:p>
            <a:pPr/>
            <a:r>
              <a:t>~700,000</a:t>
            </a:r>
          </a:p>
        </p:txBody>
      </p:sp>
      <p:sp>
        <p:nvSpPr>
          <p:cNvPr id="688" name="Text 4"/>
          <p:cNvSpPr txBox="1"/>
          <p:nvPr/>
        </p:nvSpPr>
        <p:spPr>
          <a:xfrm>
            <a:off x="812799" y="3080941"/>
            <a:ext cx="3453386" cy="5207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sz="1500">
                <a:solidFill>
                  <a:schemeClr val="accent2"/>
                </a:solidFill>
              </a:defRPr>
            </a:lvl1pPr>
          </a:lstStyle>
          <a:p>
            <a:pPr/>
            <a:r>
              <a:t>words per second, 2 million words.  656519 Patents</a:t>
            </a:r>
          </a:p>
        </p:txBody>
      </p:sp>
      <p:sp>
        <p:nvSpPr>
          <p:cNvPr id="689" name="Shape 5"/>
          <p:cNvSpPr/>
          <p:nvPr/>
        </p:nvSpPr>
        <p:spPr>
          <a:xfrm>
            <a:off x="4419600" y="2224980"/>
            <a:ext cx="3352800" cy="1"/>
          </a:xfrm>
          <a:prstGeom prst="line">
            <a:avLst/>
          </a:prstGeom>
          <a:ln w="25400">
            <a:solidFill>
              <a:schemeClr val="accent4"/>
            </a:solidFill>
          </a:ln>
        </p:spPr>
        <p:txBody>
          <a:bodyPr lIns="45719" rIns="45719"/>
          <a:lstStyle/>
          <a:p>
            <a:pPr>
              <a:defRPr>
                <a:solidFill>
                  <a:srgbClr val="ECE8DD"/>
                </a:solidFill>
              </a:defRPr>
            </a:pPr>
          </a:p>
        </p:txBody>
      </p:sp>
      <p:sp>
        <p:nvSpPr>
          <p:cNvPr id="690" name="Text 6"/>
          <p:cNvSpPr txBox="1"/>
          <p:nvPr/>
        </p:nvSpPr>
        <p:spPr>
          <a:xfrm>
            <a:off x="4419600" y="2390080"/>
            <a:ext cx="3453385" cy="6654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5000"/>
              </a:lnSpc>
              <a:defRPr sz="3600">
                <a:solidFill>
                  <a:srgbClr val="ECE8DD"/>
                </a:solidFill>
                <a:latin typeface="JetBrains Mono"/>
                <a:ea typeface="JetBrains Mono"/>
                <a:cs typeface="JetBrains Mono"/>
                <a:sym typeface="JetBrains Mono"/>
              </a:defRPr>
            </a:lvl1pPr>
          </a:lstStyle>
          <a:p>
            <a:pPr/>
            <a:r>
              <a:t>1,459 s</a:t>
            </a:r>
          </a:p>
        </p:txBody>
      </p:sp>
      <p:sp>
        <p:nvSpPr>
          <p:cNvPr id="691" name="Text 7"/>
          <p:cNvSpPr txBox="1"/>
          <p:nvPr/>
        </p:nvSpPr>
        <p:spPr>
          <a:xfrm>
            <a:off x="4419600" y="3080941"/>
            <a:ext cx="3453385" cy="27305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822959">
              <a:lnSpc>
                <a:spcPts val="1700"/>
              </a:lnSpc>
              <a:defRPr sz="1350">
                <a:solidFill>
                  <a:schemeClr val="accent2"/>
                </a:solidFill>
              </a:defRPr>
            </a:lvl1pPr>
          </a:lstStyle>
          <a:p>
            <a:pPr/>
            <a:r>
              <a:t>Wikipedia, 753 million words. 90666 articles</a:t>
            </a:r>
          </a:p>
        </p:txBody>
      </p:sp>
      <p:sp>
        <p:nvSpPr>
          <p:cNvPr id="692" name="Shape 8"/>
          <p:cNvSpPr/>
          <p:nvPr/>
        </p:nvSpPr>
        <p:spPr>
          <a:xfrm>
            <a:off x="8026400" y="2224980"/>
            <a:ext cx="3352800" cy="1"/>
          </a:xfrm>
          <a:prstGeom prst="line">
            <a:avLst/>
          </a:prstGeom>
          <a:ln w="25400">
            <a:solidFill>
              <a:schemeClr val="accent4"/>
            </a:solidFill>
          </a:ln>
        </p:spPr>
        <p:txBody>
          <a:bodyPr lIns="45719" rIns="45719"/>
          <a:lstStyle/>
          <a:p>
            <a:pPr>
              <a:defRPr>
                <a:solidFill>
                  <a:srgbClr val="ECE8DD"/>
                </a:solidFill>
              </a:defRPr>
            </a:pPr>
          </a:p>
        </p:txBody>
      </p:sp>
      <p:sp>
        <p:nvSpPr>
          <p:cNvPr id="693" name="Text 9"/>
          <p:cNvSpPr txBox="1"/>
          <p:nvPr/>
        </p:nvSpPr>
        <p:spPr>
          <a:xfrm>
            <a:off x="8026400" y="2390080"/>
            <a:ext cx="3453385" cy="6654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5000"/>
              </a:lnSpc>
              <a:defRPr sz="3600">
                <a:solidFill>
                  <a:srgbClr val="ECE8DD"/>
                </a:solidFill>
                <a:latin typeface="JetBrains Mono"/>
                <a:ea typeface="JetBrains Mono"/>
                <a:cs typeface="JetBrains Mono"/>
                <a:sym typeface="JetBrains Mono"/>
              </a:defRPr>
            </a:lvl1pPr>
          </a:lstStyle>
          <a:p>
            <a:pPr/>
            <a:r>
              <a:t>0</a:t>
            </a:r>
          </a:p>
        </p:txBody>
      </p:sp>
      <p:sp>
        <p:nvSpPr>
          <p:cNvPr id="694" name="Text 10"/>
          <p:cNvSpPr txBox="1"/>
          <p:nvPr/>
        </p:nvSpPr>
        <p:spPr>
          <a:xfrm>
            <a:off x="8026400" y="3080941"/>
            <a:ext cx="3453385" cy="27305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sz="1500">
                <a:solidFill>
                  <a:schemeClr val="accent2"/>
                </a:solidFill>
              </a:defRPr>
            </a:lvl1pPr>
          </a:lstStyle>
          <a:p>
            <a:pPr/>
            <a:r>
              <a:t>swaps on the runs</a:t>
            </a:r>
          </a:p>
        </p:txBody>
      </p:sp>
      <p:sp>
        <p:nvSpPr>
          <p:cNvPr id="695" name="Text 11"/>
          <p:cNvSpPr txBox="1"/>
          <p:nvPr/>
        </p:nvSpPr>
        <p:spPr>
          <a:xfrm>
            <a:off x="812800" y="3855641"/>
            <a:ext cx="9810750" cy="6425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a:solidFill>
                  <a:schemeClr val="accent2"/>
                </a:solidFill>
              </a:defRPr>
            </a:lvl1pPr>
          </a:lstStyle>
          <a:p>
            <a:pPr/>
            <a:r>
              <a:t>Global counters assign every address as the text streams past, then sorted runs are merged. No cleaning, no schema, no second pass.</a:t>
            </a:r>
          </a:p>
        </p:txBody>
      </p:sp>
    </p:spTree>
  </p:cSld>
  <p:clrMapOvr>
    <a:masterClrMapping/>
  </p:clrMapOvr>
  <mc:AlternateContent xmlns:mc="http://schemas.openxmlformats.org/markup-compatibility/2006">
    <mc:Choice xmlns:p14="http://schemas.microsoft.com/office/powerpoint/2010/main" Requires="p14">
      <p:transition spd="fast" advClick="1" p14:dur="500">
        <p:pull dir="l"/>
      </p:transition>
    </mc:Choice>
    <mc:Fallback>
      <p:transition spd="fast">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9" name="Text 0"/>
          <p:cNvSpPr txBox="1"/>
          <p:nvPr/>
        </p:nvSpPr>
        <p:spPr>
          <a:xfrm>
            <a:off x="812799" y="7112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HONEST LIMITS</a:t>
            </a:r>
          </a:p>
        </p:txBody>
      </p:sp>
      <p:sp>
        <p:nvSpPr>
          <p:cNvPr id="700" name="Text 1"/>
          <p:cNvSpPr txBox="1"/>
          <p:nvPr>
            <p:ph type="title"/>
          </p:nvPr>
        </p:nvSpPr>
        <p:spPr>
          <a:xfrm>
            <a:off x="812799" y="1239490"/>
            <a:ext cx="10203182" cy="1412181"/>
          </a:xfrm>
          <a:prstGeom prst="rect">
            <a:avLst/>
          </a:prstGeom>
        </p:spPr>
        <p:txBody>
          <a:bodyPr/>
          <a:lstStyle>
            <a:lvl1pPr>
              <a:lnSpc>
                <a:spcPts val="5400"/>
              </a:lnSpc>
            </a:lvl1pPr>
          </a:lstStyle>
          <a:p>
            <a:pPr/>
            <a:r>
              <a:t>What it will not do, and where it stops.</a:t>
            </a:r>
          </a:p>
        </p:txBody>
      </p:sp>
      <p:sp>
        <p:nvSpPr>
          <p:cNvPr id="701" name="Text 2"/>
          <p:cNvSpPr txBox="1"/>
          <p:nvPr/>
        </p:nvSpPr>
        <p:spPr>
          <a:xfrm>
            <a:off x="812800" y="2905671"/>
            <a:ext cx="5068888"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3"/>
                </a:solidFill>
              </a:defRPr>
            </a:lvl1pPr>
          </a:lstStyle>
          <a:p>
            <a:pPr/>
            <a:r>
              <a:t>HARD CEILINGS</a:t>
            </a:r>
          </a:p>
        </p:txBody>
      </p:sp>
      <p:sp>
        <p:nvSpPr>
          <p:cNvPr id="702" name="Text 3"/>
          <p:cNvSpPr txBox="1"/>
          <p:nvPr/>
        </p:nvSpPr>
        <p:spPr>
          <a:xfrm>
            <a:off x="812800" y="3281560"/>
            <a:ext cx="5068888" cy="60831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200"/>
              </a:lnSpc>
              <a:defRPr sz="1700">
                <a:solidFill>
                  <a:srgbClr val="ECE8DD"/>
                </a:solidFill>
              </a:defRPr>
            </a:lvl1pPr>
          </a:lstStyle>
          <a:p>
            <a:pPr/>
            <a:r>
              <a:t>16 million records per physical index (24-bit record id). [Max 160 HNSW shards if 100k 1:record]</a:t>
            </a:r>
          </a:p>
        </p:txBody>
      </p:sp>
      <p:sp>
        <p:nvSpPr>
          <p:cNvPr id="703" name="Text 4"/>
          <p:cNvSpPr txBox="1"/>
          <p:nvPr/>
        </p:nvSpPr>
        <p:spPr>
          <a:xfrm>
            <a:off x="812800" y="3991471"/>
            <a:ext cx="5068888" cy="31685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200"/>
              </a:lnSpc>
              <a:defRPr sz="1700">
                <a:solidFill>
                  <a:srgbClr val="ECE8DD"/>
                </a:solidFill>
              </a:defRPr>
            </a:lvl1pPr>
          </a:lstStyle>
          <a:p>
            <a:pPr/>
            <a:r>
              <a:t>255 indexes per virtual database (8-bit slot).</a:t>
            </a:r>
          </a:p>
        </p:txBody>
      </p:sp>
      <p:sp>
        <p:nvSpPr>
          <p:cNvPr id="704" name="Text 5"/>
          <p:cNvSpPr txBox="1"/>
          <p:nvPr/>
        </p:nvSpPr>
        <p:spPr>
          <a:xfrm>
            <a:off x="812800" y="4409926"/>
            <a:ext cx="5068888" cy="31685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200"/>
              </a:lnSpc>
              <a:defRPr sz="1700">
                <a:solidFill>
                  <a:srgbClr val="ECE8DD"/>
                </a:solidFill>
              </a:defRPr>
            </a:lvl1pPr>
          </a:lstStyle>
          <a:p>
            <a:pPr/>
            <a:r>
              <a:t>Addresses are 64-bit across all of it.</a:t>
            </a:r>
          </a:p>
        </p:txBody>
      </p:sp>
      <p:sp>
        <p:nvSpPr>
          <p:cNvPr id="705" name="Shape 6"/>
          <p:cNvSpPr/>
          <p:nvPr/>
        </p:nvSpPr>
        <p:spPr>
          <a:xfrm>
            <a:off x="6089650" y="2905671"/>
            <a:ext cx="12700" cy="2087167"/>
          </a:xfrm>
          <a:prstGeom prst="rect">
            <a:avLst/>
          </a:prstGeom>
          <a:solidFill>
            <a:schemeClr val="accent4"/>
          </a:solidFill>
          <a:ln w="12700">
            <a:miter lim="400000"/>
          </a:ln>
        </p:spPr>
        <p:txBody>
          <a:bodyPr lIns="45719" rIns="45719"/>
          <a:lstStyle/>
          <a:p>
            <a:pPr>
              <a:defRPr>
                <a:solidFill>
                  <a:srgbClr val="ECE8DD"/>
                </a:solidFill>
              </a:defRPr>
            </a:pPr>
          </a:p>
        </p:txBody>
      </p:sp>
      <p:sp>
        <p:nvSpPr>
          <p:cNvPr id="706" name="Text 7"/>
          <p:cNvSpPr txBox="1"/>
          <p:nvPr/>
        </p:nvSpPr>
        <p:spPr>
          <a:xfrm>
            <a:off x="6457950" y="2905671"/>
            <a:ext cx="5068888"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NOT CLAIMED</a:t>
            </a:r>
          </a:p>
        </p:txBody>
      </p:sp>
      <p:sp>
        <p:nvSpPr>
          <p:cNvPr id="707" name="Text 8"/>
          <p:cNvSpPr txBox="1"/>
          <p:nvPr/>
        </p:nvSpPr>
        <p:spPr>
          <a:xfrm>
            <a:off x="6457950" y="3281560"/>
            <a:ext cx="5068888" cy="31685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200"/>
              </a:lnSpc>
              <a:defRPr sz="1700">
                <a:solidFill>
                  <a:srgbClr val="ECE8DD"/>
                </a:solidFill>
              </a:defRPr>
            </a:lvl1pPr>
          </a:lstStyle>
          <a:p>
            <a:pPr/>
            <a:r>
              <a:t>A relevance score on a public benchmark.</a:t>
            </a:r>
          </a:p>
        </p:txBody>
      </p:sp>
      <p:sp>
        <p:nvSpPr>
          <p:cNvPr id="708" name="Text 9"/>
          <p:cNvSpPr txBox="1"/>
          <p:nvPr/>
        </p:nvSpPr>
        <p:spPr>
          <a:xfrm>
            <a:off x="6457950" y="3700016"/>
            <a:ext cx="5068888" cy="60831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200"/>
              </a:lnSpc>
              <a:defRPr sz="1700">
                <a:solidFill>
                  <a:srgbClr val="ECE8DD"/>
                </a:solidFill>
              </a:defRPr>
            </a:lvl1pPr>
          </a:lstStyle>
          <a:p>
            <a:pPr/>
            <a:r>
              <a:t>Evidence ranking is a heuristic, separate from structure.</a:t>
            </a:r>
          </a:p>
        </p:txBody>
      </p:sp>
      <p:sp>
        <p:nvSpPr>
          <p:cNvPr id="709" name="Text 10"/>
          <p:cNvSpPr txBox="1"/>
          <p:nvPr/>
        </p:nvSpPr>
        <p:spPr>
          <a:xfrm>
            <a:off x="6457950" y="4409926"/>
            <a:ext cx="5068888" cy="60831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200"/>
              </a:lnSpc>
              <a:defRPr sz="1700">
                <a:solidFill>
                  <a:srgbClr val="ECE8DD"/>
                </a:solidFill>
              </a:defRPr>
            </a:lvl1pPr>
          </a:lstStyle>
          <a:p>
            <a:pPr/>
            <a:r>
              <a:t>Case folding is complete for common scripts, not all of Unicode, </a:t>
            </a:r>
          </a:p>
        </p:txBody>
      </p:sp>
      <p:sp>
        <p:nvSpPr>
          <p:cNvPr id="710" name="(*) To keep some perspective: the SEC has only 1.2-1.7 million fillings per year (~4500/day)…"/>
          <p:cNvSpPr txBox="1"/>
          <p:nvPr/>
        </p:nvSpPr>
        <p:spPr>
          <a:xfrm>
            <a:off x="796792" y="5463674"/>
            <a:ext cx="9680350" cy="967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FFFFFF"/>
                </a:solidFill>
              </a:defRPr>
            </a:pPr>
            <a:r>
              <a:t>(*) To keep some perspective: the SEC has only 1.2-1.7 million fillings per year (~4500/day)</a:t>
            </a:r>
          </a:p>
          <a:p>
            <a:pPr>
              <a:defRPr>
                <a:solidFill>
                  <a:srgbClr val="FFFFFF"/>
                </a:solidFill>
              </a:defRPr>
            </a:pPr>
            <a:r>
              <a:t>The USPTO gets around 600,000 formal patent applications each year. The NYT publishes about 50-70k pieces of journalism each year.</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lt" backwards="0">
                                    <p:tmAbs val="0"/>
                                  </p:iterate>
                                  <p:childTnLst>
                                    <p:set>
                                      <p:cBhvr>
                                        <p:cTn id="6" fill="hold"/>
                                        <p:tgtEl>
                                          <p:spTgt spid="710"/>
                                        </p:tgtEl>
                                        <p:attrNameLst>
                                          <p:attrName>style.visibility</p:attrName>
                                        </p:attrNameLst>
                                      </p:cBhvr>
                                      <p:to>
                                        <p:strVal val="visible"/>
                                      </p:to>
                                    </p:set>
                                    <p:anim calcmode="lin" valueType="num">
                                      <p:cBhvr>
                                        <p:cTn id="7" dur="1000" fill="hold"/>
                                        <p:tgtEl>
                                          <p:spTgt spid="710"/>
                                        </p:tgtEl>
                                        <p:attrNameLst>
                                          <p:attrName>ppt_x</p:attrName>
                                        </p:attrNameLst>
                                      </p:cBhvr>
                                      <p:tavLst>
                                        <p:tav tm="0">
                                          <p:val>
                                            <p:strVal val="0-#ppt_w/2"/>
                                          </p:val>
                                        </p:tav>
                                        <p:tav tm="100000">
                                          <p:val>
                                            <p:strVal val="#ppt_x"/>
                                          </p:val>
                                        </p:tav>
                                      </p:tavLst>
                                    </p:anim>
                                    <p:anim calcmode="lin" valueType="num">
                                      <p:cBhvr>
                                        <p:cTn id="8" dur="1000" fill="hold"/>
                                        <p:tgtEl>
                                          <p:spTgt spid="7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10" grpId="1"/>
    </p:bldLst>
  </p:timing>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4" name="Main Character Sets not yet supported"/>
          <p:cNvSpPr txBox="1"/>
          <p:nvPr>
            <p:ph type="title"/>
          </p:nvPr>
        </p:nvSpPr>
        <p:spPr>
          <a:xfrm>
            <a:off x="670882" y="491197"/>
            <a:ext cx="9906001" cy="797330"/>
          </a:xfrm>
          <a:prstGeom prst="rect">
            <a:avLst/>
          </a:prstGeom>
        </p:spPr>
        <p:txBody>
          <a:bodyPr/>
          <a:lstStyle>
            <a:lvl1pPr defTabSz="795527">
              <a:defRPr sz="4524"/>
            </a:lvl1pPr>
          </a:lstStyle>
          <a:p>
            <a:pPr/>
            <a:r>
              <a:t>Main Character Sets not yet supported</a:t>
            </a:r>
          </a:p>
        </p:txBody>
      </p:sp>
      <p:sp>
        <p:nvSpPr>
          <p:cNvPr id="715" name="Samaritan…"/>
          <p:cNvSpPr txBox="1"/>
          <p:nvPr>
            <p:ph type="body" idx="1"/>
          </p:nvPr>
        </p:nvSpPr>
        <p:spPr>
          <a:xfrm>
            <a:off x="812799" y="1500898"/>
            <a:ext cx="10566401" cy="4531401"/>
          </a:xfrm>
          <a:prstGeom prst="rect">
            <a:avLst/>
          </a:prstGeom>
        </p:spPr>
        <p:txBody>
          <a:bodyPr numCol="2" spcCol="528320"/>
          <a:lstStyle/>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Samaritan</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Mandaic</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Syriac Supplement</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Devanagari Extended</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Devanagari</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Bengali</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Gurmukhi Gujarati</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Oriya</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Tamil</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Telugu</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Kannada</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Malayalam</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Sinhala</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Thai</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Lao</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Tibetan</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Myanmar</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Georgian (old range)</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Hangul Jamo       </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Ethiopic</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Ethiopic Supplement</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CherokeeUnified Canadian Aboriginal Syllabics</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Ogham</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Runic</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Tagalog / Hanunoo / Buhid / Tagbanwa</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Khmer</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Mongolian</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FFF"/>
                </a:solidFill>
                <a:latin typeface="Menlo Regular"/>
                <a:ea typeface="Menlo Regular"/>
                <a:cs typeface="Menlo Regular"/>
                <a:sym typeface="Menlo Regular"/>
              </a:defRPr>
            </a:pPr>
            <a:r>
              <a:t>Unified Canadian Aboriginal Syllabics Ext</a:t>
            </a:r>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000000"/>
                </a:solidFill>
                <a:latin typeface="Menlo Regular"/>
                <a:ea typeface="Menlo Regular"/>
                <a:cs typeface="Menlo Regular"/>
                <a:sym typeface="Menlo Regular"/>
              </a:defRPr>
            </a:pPr>
            <a:r>
              <a:rPr>
                <a:solidFill>
                  <a:srgbClr val="FFFFFF"/>
                </a:solidFill>
              </a:rPr>
              <a:t>Limbu</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715"/>
                                        </p:tgtEl>
                                        <p:attrNameLst>
                                          <p:attrName>style.visibility</p:attrName>
                                        </p:attrNameLst>
                                      </p:cBhvr>
                                      <p:to>
                                        <p:strVal val="visible"/>
                                      </p:to>
                                    </p:set>
                                    <p:animEffect filter="fade" transition="in">
                                      <p:cBhvr>
                                        <p:cTn id="7" dur="1000"/>
                                        <p:tgtEl>
                                          <p:spTgt spid="7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15" grpId="1"/>
    </p:bldLst>
  </p:timing>
</p:sld>
</file>

<file path=ppt/slides/slide7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7" name="AI Security/Governance (FOSDEM ’24)…"/>
          <p:cNvSpPr txBox="1"/>
          <p:nvPr>
            <p:ph type="title"/>
          </p:nvPr>
        </p:nvSpPr>
        <p:spPr>
          <a:xfrm>
            <a:off x="735472" y="491988"/>
            <a:ext cx="9906001" cy="2127822"/>
          </a:xfrm>
          <a:prstGeom prst="rect">
            <a:avLst/>
          </a:prstGeom>
        </p:spPr>
        <p:txBody>
          <a:bodyPr/>
          <a:lstStyle/>
          <a:p>
            <a:pPr defTabSz="557784">
              <a:defRPr sz="3172"/>
            </a:pPr>
            <a:r>
              <a:t>AI Security/Governance (FOSDEM ’24)</a:t>
            </a:r>
          </a:p>
          <a:p>
            <a:pPr defTabSz="557784">
              <a:defRPr sz="3172">
                <a:solidFill>
                  <a:srgbClr val="BB263A"/>
                </a:solidFill>
              </a:defRPr>
            </a:pPr>
            <a:r>
              <a:rPr u="sng">
                <a:uFill>
                  <a:solidFill>
                    <a:srgbClr val="0563C1"/>
                  </a:solidFill>
                </a:uFill>
                <a:hlinkClick r:id="rId2" invalidUrl="" action="" tgtFrame="" tooltip="" history="1" highlightClick="0" endSnd="0"/>
              </a:rPr>
              <a:t>https://archive.fosdem.org/2024/schedule/event/fosdem-2024-2079-fortify-ai-against-regulation-litigation-and-lobotomies/</a:t>
            </a:r>
          </a:p>
        </p:txBody>
      </p:sp>
      <p:sp>
        <p:nvSpPr>
          <p:cNvPr id="718" name="“Fortify AI against regulation, litigation and lobotomies”…"/>
          <p:cNvSpPr txBox="1"/>
          <p:nvPr>
            <p:ph type="body" idx="1"/>
          </p:nvPr>
        </p:nvSpPr>
        <p:spPr>
          <a:prstGeom prst="rect">
            <a:avLst/>
          </a:prstGeom>
        </p:spPr>
        <p:txBody>
          <a:bodyPr/>
          <a:lstStyle/>
          <a:p>
            <a:pPr>
              <a:defRPr sz="3100"/>
            </a:pPr>
            <a:r>
              <a:t>“Fortify AI against regulation, litigation and lobotomies”</a:t>
            </a:r>
          </a:p>
          <a:p>
            <a:pPr defTabSz="457200">
              <a:lnSpc>
                <a:spcPct val="100000"/>
              </a:lnSpc>
              <a:spcBef>
                <a:spcPts val="1000"/>
              </a:spcBef>
              <a:defRPr sz="1900">
                <a:solidFill>
                  <a:srgbClr val="FFFFFF"/>
                </a:solidFill>
                <a:latin typeface="Arial"/>
                <a:ea typeface="Arial"/>
                <a:cs typeface="Arial"/>
                <a:sym typeface="Arial"/>
              </a:defRPr>
            </a:pPr>
            <a:r>
              <a:t>AI models, particularly LLMs, readily and sometimes unwittingly may plagiarize content—what constitutes acceptable use is currently not fully resolved— opening their users to copyright tort and other forms of litigation. For society an immanent danger is also in how easily they can be poisoned or lobotomized to propagate disinformation. It is also difficult to uncover and address sources of bias. The later is of particular legislative concern—see emerging regulations such as the EU’s AI Act as a prototype for whats to come. Without traceability for data with clear license expressions and provenance, AI models are easy targets.</a:t>
            </a:r>
          </a:p>
        </p:txBody>
      </p:sp>
    </p:spTree>
  </p:cSld>
  <p:clrMapOvr>
    <a:masterClrMapping/>
  </p:clrMapOvr>
  <p:transition xmlns:p14="http://schemas.microsoft.com/office/powerpoint/2010/main" spd="med" advClick="1"/>
</p:sld>
</file>

<file path=ppt/slides/slide7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0" name="Text 0"/>
          <p:cNvSpPr txBox="1"/>
          <p:nvPr/>
        </p:nvSpPr>
        <p:spPr>
          <a:xfrm>
            <a:off x="812799" y="7112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AN OPEN ISSUE</a:t>
            </a:r>
          </a:p>
        </p:txBody>
      </p:sp>
      <p:sp>
        <p:nvSpPr>
          <p:cNvPr id="721" name="Text 1"/>
          <p:cNvSpPr txBox="1"/>
          <p:nvPr>
            <p:ph type="title"/>
          </p:nvPr>
        </p:nvSpPr>
        <p:spPr>
          <a:xfrm>
            <a:off x="812799" y="1239490"/>
            <a:ext cx="10203182" cy="1412181"/>
          </a:xfrm>
          <a:prstGeom prst="rect">
            <a:avLst/>
          </a:prstGeom>
        </p:spPr>
        <p:txBody>
          <a:bodyPr/>
          <a:lstStyle>
            <a:lvl1pPr>
              <a:lnSpc>
                <a:spcPts val="5400"/>
              </a:lnSpc>
            </a:lvl1pPr>
          </a:lstStyle>
          <a:p>
            <a:pPr/>
            <a:r>
              <a:t>Prompt injection is a retrieval problem too.</a:t>
            </a:r>
          </a:p>
        </p:txBody>
      </p:sp>
      <p:sp>
        <p:nvSpPr>
          <p:cNvPr id="722" name="Shape 2"/>
          <p:cNvSpPr/>
          <p:nvPr/>
        </p:nvSpPr>
        <p:spPr>
          <a:xfrm>
            <a:off x="819150" y="2912021"/>
            <a:ext cx="5118100" cy="1746102"/>
          </a:xfrm>
          <a:prstGeom prst="roundRect">
            <a:avLst>
              <a:gd name="adj" fmla="val 4000"/>
            </a:avLst>
          </a:prstGeom>
          <a:ln w="12700">
            <a:solidFill>
              <a:schemeClr val="accent4"/>
            </a:solidFill>
          </a:ln>
        </p:spPr>
        <p:txBody>
          <a:bodyPr lIns="45719" rIns="45719"/>
          <a:lstStyle/>
          <a:p>
            <a:pPr>
              <a:defRPr>
                <a:solidFill>
                  <a:srgbClr val="ECE8DD"/>
                </a:solidFill>
              </a:defRPr>
            </a:pPr>
          </a:p>
        </p:txBody>
      </p:sp>
      <p:sp>
        <p:nvSpPr>
          <p:cNvPr id="723" name="Text 3"/>
          <p:cNvSpPr txBox="1"/>
          <p:nvPr/>
        </p:nvSpPr>
        <p:spPr>
          <a:xfrm>
            <a:off x="1079500" y="3146971"/>
            <a:ext cx="4735322"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3"/>
                </a:solidFill>
              </a:defRPr>
            </a:lvl1pPr>
          </a:lstStyle>
          <a:p>
            <a:pPr/>
            <a:r>
              <a:t>CHUNK RAG</a:t>
            </a:r>
          </a:p>
        </p:txBody>
      </p:sp>
      <p:sp>
        <p:nvSpPr>
          <p:cNvPr id="724" name="Text 4"/>
          <p:cNvSpPr txBox="1"/>
          <p:nvPr/>
        </p:nvSpPr>
        <p:spPr>
          <a:xfrm>
            <a:off x="1079500" y="3497460"/>
            <a:ext cx="4735322" cy="95111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a:solidFill>
                  <a:srgbClr val="ECE8DD"/>
                </a:solidFill>
              </a:defRPr>
            </a:lvl1pPr>
          </a:lstStyle>
          <a:p>
            <a:pPr/>
            <a:r>
              <a:t>Any text that matches goes into the prompt, whoever wrote it, whichever part of the page it came from.</a:t>
            </a:r>
          </a:p>
        </p:txBody>
      </p:sp>
      <p:sp>
        <p:nvSpPr>
          <p:cNvPr id="725" name="Shape 5"/>
          <p:cNvSpPr/>
          <p:nvPr/>
        </p:nvSpPr>
        <p:spPr>
          <a:xfrm>
            <a:off x="6254750" y="2912021"/>
            <a:ext cx="5118100" cy="1746102"/>
          </a:xfrm>
          <a:prstGeom prst="roundRect">
            <a:avLst>
              <a:gd name="adj" fmla="val 4000"/>
            </a:avLst>
          </a:prstGeom>
          <a:ln w="12700">
            <a:solidFill>
              <a:schemeClr val="accent1"/>
            </a:solidFill>
          </a:ln>
        </p:spPr>
        <p:txBody>
          <a:bodyPr lIns="45719" rIns="45719"/>
          <a:lstStyle/>
          <a:p>
            <a:pPr>
              <a:defRPr>
                <a:solidFill>
                  <a:srgbClr val="ECE8DD"/>
                </a:solidFill>
              </a:defRPr>
            </a:pPr>
          </a:p>
        </p:txBody>
      </p:sp>
      <p:sp>
        <p:nvSpPr>
          <p:cNvPr id="726" name="Text 6"/>
          <p:cNvSpPr txBox="1"/>
          <p:nvPr/>
        </p:nvSpPr>
        <p:spPr>
          <a:xfrm>
            <a:off x="6515100" y="3146971"/>
            <a:ext cx="4735322"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SPANS</a:t>
            </a:r>
          </a:p>
        </p:txBody>
      </p:sp>
      <p:sp>
        <p:nvSpPr>
          <p:cNvPr id="727" name="Text 7"/>
          <p:cNvSpPr txBox="1"/>
          <p:nvPr/>
        </p:nvSpPr>
        <p:spPr>
          <a:xfrm>
            <a:off x="6515100" y="3497460"/>
            <a:ext cx="4735322" cy="95111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a:solidFill>
                  <a:srgbClr val="ECE8DD"/>
                </a:solidFill>
              </a:defRPr>
            </a:lvl1pPr>
          </a:lstStyle>
          <a:p>
            <a:pPr/>
            <a:r>
              <a:t>Every passage has an address and a field. Ask only for the claim text, or only for one author’s lines, and nothing else is fetched.</a:t>
            </a:r>
          </a:p>
        </p:txBody>
      </p:sp>
      <p:sp>
        <p:nvSpPr>
          <p:cNvPr id="728" name="Text 8"/>
          <p:cNvSpPr txBox="1"/>
          <p:nvPr/>
        </p:nvSpPr>
        <p:spPr>
          <a:xfrm>
            <a:off x="812800" y="4943871"/>
            <a:ext cx="9810750" cy="33908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sz="1900">
                <a:solidFill>
                  <a:schemeClr val="accent2"/>
                </a:solidFill>
              </a:defRPr>
            </a:lvl1pPr>
          </a:lstStyle>
          <a:p>
            <a:pPr/>
            <a:r>
              <a:t>It narrows what can reach the model. It does not make text safe.</a:t>
            </a:r>
          </a:p>
        </p:txBody>
      </p:sp>
    </p:spTree>
  </p:cSld>
  <p:clrMapOvr>
    <a:masterClrMapping/>
  </p:clrMapOvr>
  <p:transition xmlns:p14="http://schemas.microsoft.com/office/powerpoint/2010/main" spd="med" advClick="1"/>
</p:sld>
</file>

<file path=ppt/slides/slide7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732" name="ib-search-algebra.png" descr="ib-search-algebra.png"/>
          <p:cNvPicPr>
            <a:picLocks noChangeAspect="1"/>
          </p:cNvPicPr>
          <p:nvPr/>
        </p:nvPicPr>
        <p:blipFill>
          <a:blip r:embed="rId2">
            <a:extLst/>
          </a:blip>
          <a:stretch>
            <a:fillRect/>
          </a:stretch>
        </p:blipFill>
        <p:spPr>
          <a:xfrm>
            <a:off x="0" y="0"/>
            <a:ext cx="12192000" cy="6858000"/>
          </a:xfrm>
          <a:prstGeom prst="rect">
            <a:avLst/>
          </a:prstGeom>
          <a:ln w="12700">
            <a:miter lim="400000"/>
          </a:ln>
        </p:spPr>
      </p:pic>
    </p:spTree>
  </p:cSld>
  <p:clrMapOvr>
    <a:masterClrMapping/>
  </p:clrMapOvr>
  <p:transition xmlns:p14="http://schemas.microsoft.com/office/powerpoint/2010/main" spd="med" advClick="1"/>
</p:sld>
</file>

<file path=ppt/slides/slide7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34" name="Text 0"/>
          <p:cNvSpPr txBox="1"/>
          <p:nvPr/>
        </p:nvSpPr>
        <p:spPr>
          <a:xfrm>
            <a:off x="812799" y="812800"/>
            <a:ext cx="10883394" cy="27429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b="1" spc="100" sz="1400">
                <a:solidFill>
                  <a:schemeClr val="accent1"/>
                </a:solidFill>
              </a:defRPr>
            </a:lvl1pPr>
          </a:lstStyle>
          <a:p>
            <a:pPr/>
            <a:r>
              <a:t>DIVISION OF LABOUR</a:t>
            </a:r>
          </a:p>
        </p:txBody>
      </p:sp>
      <p:sp>
        <p:nvSpPr>
          <p:cNvPr id="735" name="Text 1"/>
          <p:cNvSpPr txBox="1"/>
          <p:nvPr>
            <p:ph type="title"/>
          </p:nvPr>
        </p:nvSpPr>
        <p:spPr>
          <a:xfrm>
            <a:off x="812799" y="1880939"/>
            <a:ext cx="10203182" cy="1838920"/>
          </a:xfrm>
          <a:prstGeom prst="rect">
            <a:avLst/>
          </a:prstGeom>
        </p:spPr>
        <p:txBody>
          <a:bodyPr/>
          <a:lstStyle>
            <a:lvl1pPr>
              <a:lnSpc>
                <a:spcPts val="7100"/>
              </a:lnSpc>
              <a:defRPr sz="6800"/>
            </a:lvl1pPr>
          </a:lstStyle>
          <a:p>
            <a:pPr/>
            <a:r>
              <a:t>The engine locates. The model understands.</a:t>
            </a:r>
          </a:p>
        </p:txBody>
      </p:sp>
      <p:sp>
        <p:nvSpPr>
          <p:cNvPr id="736" name="Text 2"/>
          <p:cNvSpPr txBox="1"/>
          <p:nvPr/>
        </p:nvSpPr>
        <p:spPr>
          <a:xfrm>
            <a:off x="812800" y="3999260"/>
            <a:ext cx="9156700" cy="75178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800"/>
              </a:lnSpc>
              <a:defRPr sz="2200">
                <a:solidFill>
                  <a:schemeClr val="accent2"/>
                </a:solidFill>
              </a:defRPr>
            </a:lvl1pPr>
          </a:lstStyle>
          <a:p>
            <a:pPr/>
            <a:r>
              <a:t>A search and retrieval engine for humans and agents, built to run on the hardware you already own.</a:t>
            </a:r>
          </a:p>
        </p:txBody>
      </p:sp>
      <p:sp>
        <p:nvSpPr>
          <p:cNvPr id="737" name="Shape 3"/>
          <p:cNvSpPr/>
          <p:nvPr/>
        </p:nvSpPr>
        <p:spPr>
          <a:xfrm>
            <a:off x="812800" y="5551189"/>
            <a:ext cx="10566400" cy="1"/>
          </a:xfrm>
          <a:prstGeom prst="line">
            <a:avLst/>
          </a:prstGeom>
          <a:ln w="12700">
            <a:solidFill>
              <a:schemeClr val="accent4"/>
            </a:solidFill>
          </a:ln>
        </p:spPr>
        <p:txBody>
          <a:bodyPr lIns="45719" rIns="45719"/>
          <a:lstStyle/>
          <a:p>
            <a:pPr>
              <a:defRPr>
                <a:solidFill>
                  <a:srgbClr val="ECE8DD"/>
                </a:solidFill>
              </a:defRPr>
            </a:pPr>
          </a:p>
        </p:txBody>
      </p:sp>
      <p:sp>
        <p:nvSpPr>
          <p:cNvPr id="738" name="Text 4"/>
          <p:cNvSpPr txBox="1"/>
          <p:nvPr/>
        </p:nvSpPr>
        <p:spPr>
          <a:xfrm>
            <a:off x="812800" y="5760739"/>
            <a:ext cx="3229987" cy="30986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200"/>
              </a:lnSpc>
              <a:defRPr sz="1600">
                <a:solidFill>
                  <a:srgbClr val="ECE8DD"/>
                </a:solidFill>
              </a:defRPr>
            </a:lvl1pPr>
          </a:lstStyle>
          <a:p>
            <a:pPr/>
            <a:r>
              <a:t>CoreQuarry · corequarry.com</a:t>
            </a:r>
          </a:p>
        </p:txBody>
      </p:sp>
      <p:sp>
        <p:nvSpPr>
          <p:cNvPr id="739" name="Text 5"/>
          <p:cNvSpPr txBox="1"/>
          <p:nvPr/>
        </p:nvSpPr>
        <p:spPr>
          <a:xfrm>
            <a:off x="10414555" y="5786139"/>
            <a:ext cx="964645" cy="2742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r">
              <a:lnSpc>
                <a:spcPts val="1900"/>
              </a:lnSpc>
              <a:defRPr sz="1400">
                <a:solidFill>
                  <a:schemeClr val="accent3"/>
                </a:solidFill>
              </a:defRPr>
            </a:lvl1pPr>
          </a:lstStyle>
          <a:p>
            <a:pPr/>
            <a:r>
              <a:t>Questions</a:t>
            </a:r>
          </a:p>
        </p:txBody>
      </p:sp>
    </p:spTree>
  </p:cSld>
  <p:clrMapOvr>
    <a:masterClrMapping/>
  </p:clrMapOvr>
  <p:transition xmlns:p14="http://schemas.microsoft.com/office/powerpoint/2010/main" spd="med" advClick="1"/>
</p:sld>
</file>

<file path=ppt/slides/slide8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chemeClr val="accent2">
            <a:satOff val="-7489"/>
            <a:lumOff val="-14509"/>
          </a:schemeClr>
        </a:solidFill>
      </p:bgPr>
    </p:bg>
    <p:spTree>
      <p:nvGrpSpPr>
        <p:cNvPr id="1" name=""/>
        <p:cNvGrpSpPr/>
        <p:nvPr/>
      </p:nvGrpSpPr>
      <p:grpSpPr>
        <a:xfrm>
          <a:off x="0" y="0"/>
          <a:ext cx="0" cy="0"/>
          <a:chOff x="0" y="0"/>
          <a:chExt cx="0" cy="0"/>
        </a:xfrm>
      </p:grpSpPr>
      <p:pic>
        <p:nvPicPr>
          <p:cNvPr id="743" name="Unknown.jpeg" descr="Unknown.jpeg"/>
          <p:cNvPicPr>
            <a:picLocks noChangeAspect="1"/>
          </p:cNvPicPr>
          <p:nvPr/>
        </p:nvPicPr>
        <p:blipFill>
          <a:blip r:embed="rId2">
            <a:extLst/>
          </a:blip>
          <a:stretch>
            <a:fillRect/>
          </a:stretch>
        </p:blipFill>
        <p:spPr>
          <a:xfrm>
            <a:off x="1013846" y="177800"/>
            <a:ext cx="6489701" cy="6502400"/>
          </a:xfrm>
          <a:prstGeom prst="rect">
            <a:avLst/>
          </a:prstGeom>
          <a:ln w="12700">
            <a:miter lim="400000"/>
          </a:ln>
        </p:spPr>
      </p:pic>
      <p:pic>
        <p:nvPicPr>
          <p:cNvPr id="744" name="Unknown.png" descr="Unknown.png"/>
          <p:cNvPicPr>
            <a:picLocks noChangeAspect="1"/>
          </p:cNvPicPr>
          <p:nvPr/>
        </p:nvPicPr>
        <p:blipFill>
          <a:blip r:embed="rId3">
            <a:alphaModFix amt="88231"/>
            <a:extLst/>
          </a:blip>
          <a:stretch>
            <a:fillRect/>
          </a:stretch>
        </p:blipFill>
        <p:spPr>
          <a:xfrm>
            <a:off x="8800707" y="302131"/>
            <a:ext cx="2950761" cy="2950761"/>
          </a:xfrm>
          <a:prstGeom prst="rect">
            <a:avLst/>
          </a:prstGeom>
          <a:ln w="12700">
            <a:miter lim="400000"/>
          </a:ln>
        </p:spPr>
      </p:pic>
      <p:pic>
        <p:nvPicPr>
          <p:cNvPr id="745" name="bandiera_stelle.png" descr="bandiera_stelle.png"/>
          <p:cNvPicPr>
            <a:picLocks noChangeAspect="1"/>
          </p:cNvPicPr>
          <p:nvPr/>
        </p:nvPicPr>
        <p:blipFill>
          <a:blip r:embed="rId4">
            <a:extLst/>
          </a:blip>
          <a:stretch>
            <a:fillRect/>
          </a:stretch>
        </p:blipFill>
        <p:spPr>
          <a:xfrm>
            <a:off x="10030684" y="4056103"/>
            <a:ext cx="1892208" cy="1263049"/>
          </a:xfrm>
          <a:prstGeom prst="rect">
            <a:avLst/>
          </a:prstGeom>
          <a:ln w="12700">
            <a:miter lim="400000"/>
          </a:ln>
        </p:spPr>
      </p:pic>
      <p:pic>
        <p:nvPicPr>
          <p:cNvPr id="746" name="images.jpeg" descr="images.jpeg"/>
          <p:cNvPicPr>
            <a:picLocks noChangeAspect="1"/>
          </p:cNvPicPr>
          <p:nvPr/>
        </p:nvPicPr>
        <p:blipFill>
          <a:blip r:embed="rId5">
            <a:extLst/>
          </a:blip>
          <a:stretch>
            <a:fillRect/>
          </a:stretch>
        </p:blipFill>
        <p:spPr>
          <a:xfrm>
            <a:off x="8546505" y="5516630"/>
            <a:ext cx="3459164" cy="983570"/>
          </a:xfrm>
          <a:prstGeom prst="rect">
            <a:avLst/>
          </a:prstGeom>
          <a:ln w="12700">
            <a:miter lim="400000"/>
          </a:ln>
        </p:spPr>
      </p:pic>
      <p:pic>
        <p:nvPicPr>
          <p:cNvPr id="747" name="Unknown.png" descr="Unknown.png"/>
          <p:cNvPicPr>
            <a:picLocks noChangeAspect="1"/>
          </p:cNvPicPr>
          <p:nvPr/>
        </p:nvPicPr>
        <p:blipFill>
          <a:blip r:embed="rId6">
            <a:extLst/>
          </a:blip>
          <a:stretch>
            <a:fillRect/>
          </a:stretch>
        </p:blipFill>
        <p:spPr>
          <a:xfrm>
            <a:off x="8453269" y="3998117"/>
            <a:ext cx="1490834" cy="1379022"/>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743"/>
                                        </p:tgtEl>
                                        <p:attrNameLst>
                                          <p:attrName>style.visibility</p:attrName>
                                        </p:attrNameLst>
                                      </p:cBhvr>
                                      <p:to>
                                        <p:strVal val="visible"/>
                                      </p:to>
                                    </p:set>
                                    <p:animEffect filter="fade" transition="in">
                                      <p:cBhvr>
                                        <p:cTn id="7" dur="500"/>
                                        <p:tgtEl>
                                          <p:spTgt spid="743"/>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 grpId="2" fill="hold">
                                  <p:stCondLst>
                                    <p:cond delay="0"/>
                                  </p:stCondLst>
                                  <p:iterate type="el" backwards="0">
                                    <p:tmAbs val="0"/>
                                  </p:iterate>
                                  <p:childTnLst>
                                    <p:set>
                                      <p:cBhvr>
                                        <p:cTn id="11" fill="hold"/>
                                        <p:tgtEl>
                                          <p:spTgt spid="744"/>
                                        </p:tgtEl>
                                        <p:attrNameLst>
                                          <p:attrName>style.visibility</p:attrName>
                                        </p:attrNameLst>
                                      </p:cBhvr>
                                      <p:to>
                                        <p:strVal val="visible"/>
                                      </p:to>
                                    </p:set>
                                    <p:anim calcmode="lin" valueType="num">
                                      <p:cBhvr>
                                        <p:cTn id="12" dur="1000" fill="hold"/>
                                        <p:tgtEl>
                                          <p:spTgt spid="744"/>
                                        </p:tgtEl>
                                        <p:attrNameLst>
                                          <p:attrName>ppt_x</p:attrName>
                                        </p:attrNameLst>
                                      </p:cBhvr>
                                      <p:tavLst>
                                        <p:tav tm="0">
                                          <p:val>
                                            <p:strVal val="0-#ppt_w/2"/>
                                          </p:val>
                                        </p:tav>
                                        <p:tav tm="100000">
                                          <p:val>
                                            <p:strVal val="#ppt_x"/>
                                          </p:val>
                                        </p:tav>
                                      </p:tavLst>
                                    </p:anim>
                                    <p:anim calcmode="lin" valueType="num">
                                      <p:cBhvr>
                                        <p:cTn id="13" dur="1000" fill="hold"/>
                                        <p:tgtEl>
                                          <p:spTgt spid="7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43" grpId="1"/>
      <p:bldP build="whole" bldLvl="1" animBg="1" rev="0" advAuto="0" spid="744" grpId="2"/>
    </p:bldLst>
  </p:timing>
</p:sld>
</file>

<file path=ppt/slides/slide8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0000"/>
        </a:solidFill>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fast" advClick="1" p14:dur="500">
        <p:fade/>
      </p:transition>
    </mc:Choice>
    <mc:Fallback>
      <p:transition spd="fast">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graphicFrame>
        <p:nvGraphicFramePr>
          <p:cNvPr id="750" name="Table 1"/>
          <p:cNvGraphicFramePr/>
          <p:nvPr/>
        </p:nvGraphicFramePr>
        <p:xfrm>
          <a:off x="425984" y="365775"/>
          <a:ext cx="11738757" cy="641896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347116"/>
                <a:gridCol w="2347116"/>
                <a:gridCol w="2347116"/>
                <a:gridCol w="2347116"/>
                <a:gridCol w="2347116"/>
              </a:tblGrid>
              <a:tr h="916541">
                <a:tc>
                  <a:txBody>
                    <a:bodyPr/>
                    <a:lstStyle/>
                    <a:p>
                      <a:pPr algn="ctr" defTabSz="225107">
                        <a:defRPr sz="1800">
                          <a:solidFill>
                            <a:srgbClr val="000000"/>
                          </a:solidFill>
                        </a:defRPr>
                      </a:pPr>
                      <a:r>
                        <a:rPr b="1" sz="1400">
                          <a:latin typeface="Times Roman"/>
                          <a:ea typeface="Times Roman"/>
                          <a:cs typeface="Times Roman"/>
                          <a:sym typeface="Times Roman"/>
                        </a:rPr>
                        <a:t>Competitor Tier / Paradigm</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ctr" defTabSz="225107">
                        <a:defRPr sz="1800">
                          <a:solidFill>
                            <a:srgbClr val="000000"/>
                          </a:solidFill>
                        </a:defRPr>
                      </a:pPr>
                      <a:r>
                        <a:rPr b="1" sz="1400">
                          <a:latin typeface="Times Roman"/>
                          <a:ea typeface="Times Roman"/>
                          <a:cs typeface="Times Roman"/>
                          <a:sym typeface="Times Roman"/>
                        </a:rPr>
                        <a:t>Representative Systems</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ctr" defTabSz="225107">
                        <a:defRPr sz="1800">
                          <a:solidFill>
                            <a:srgbClr val="000000"/>
                          </a:solidFill>
                        </a:defRPr>
                      </a:pPr>
                      <a:r>
                        <a:rPr b="1" sz="1400">
                          <a:latin typeface="Times Roman"/>
                          <a:ea typeface="Times Roman"/>
                          <a:cs typeface="Times Roman"/>
                          <a:sym typeface="Times Roman"/>
                        </a:rPr>
                        <a:t>Architectural Tax</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ctr" defTabSz="225107">
                        <a:defRPr sz="1800">
                          <a:solidFill>
                            <a:srgbClr val="000000"/>
                          </a:solidFill>
                        </a:defRPr>
                      </a:pPr>
                      <a:r>
                        <a:rPr b="1" sz="1400">
                          <a:latin typeface="Times Roman"/>
                          <a:ea typeface="Times Roman"/>
                          <a:cs typeface="Times Roman"/>
                          <a:sym typeface="Times Roman"/>
                        </a:rPr>
                        <a:t>Language / Runtime Issues</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ctr" defTabSz="225107">
                        <a:defRPr sz="1800">
                          <a:solidFill>
                            <a:srgbClr val="000000"/>
                          </a:solidFill>
                        </a:defRPr>
                      </a:pPr>
                      <a:r>
                        <a:rPr b="1" sz="1400">
                          <a:latin typeface="Times Roman"/>
                          <a:ea typeface="Times Roman"/>
                          <a:cs typeface="Times Roman"/>
                          <a:sym typeface="Times Roman"/>
                        </a:rPr>
                        <a:t>CoreQuarry's Advantage</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r>
              <a:tr h="916541">
                <a:tc>
                  <a:txBody>
                    <a:bodyPr/>
                    <a:lstStyle/>
                    <a:p>
                      <a:pPr algn="l" defTabSz="225107">
                        <a:defRPr sz="1800">
                          <a:solidFill>
                            <a:srgbClr val="000000"/>
                          </a:solidFill>
                        </a:defRPr>
                      </a:pPr>
                      <a:r>
                        <a:rPr b="1" sz="1000">
                          <a:latin typeface="Times Roman"/>
                          <a:ea typeface="Times Roman"/>
                          <a:cs typeface="Times Roman"/>
                          <a:sym typeface="Times Roman"/>
                        </a:rPr>
                        <a:t>Classical Inverted IR</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sz="1800">
                          <a:solidFill>
                            <a:srgbClr val="000000"/>
                          </a:solidFill>
                        </a:defRPr>
                      </a:pPr>
                      <a:r>
                        <a:rPr sz="1000">
                          <a:latin typeface="Times Roman"/>
                          <a:ea typeface="Times Roman"/>
                          <a:cs typeface="Times Roman"/>
                          <a:sym typeface="Times Roman"/>
                        </a:rPr>
                        <a:t>Apache Lucene, Elasticsearch, Solr, Tantivy</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sz="1800">
                          <a:solidFill>
                            <a:srgbClr val="000000"/>
                          </a:solidFill>
                        </a:defRPr>
                      </a:pPr>
                      <a:r>
                        <a:rPr sz="1000">
                          <a:latin typeface="Times Roman"/>
                          <a:ea typeface="Times Roman"/>
                          <a:cs typeface="Times Roman"/>
                          <a:sym typeface="Times Roman"/>
                        </a:rPr>
                        <a:t>Immense RAM burn for memory-resident FST term dictionaries; I/O-heavy background segment merges.</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sz="1800">
                          <a:solidFill>
                            <a:srgbClr val="000000"/>
                          </a:solidFill>
                        </a:defRPr>
                      </a:pPr>
                      <a:r>
                        <a:rPr sz="1000">
                          <a:latin typeface="Times Roman"/>
                          <a:ea typeface="Times Roman"/>
                          <a:cs typeface="Times Roman"/>
                          <a:sym typeface="Times Roman"/>
                        </a:rPr>
                        <a:t>Java JVM fragmentation and unpredictable Garbage Collection stalls (Lucene/Solr).</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b="1" sz="1000">
                          <a:solidFill>
                            <a:srgbClr val="000000"/>
                          </a:solidFill>
                          <a:latin typeface="Times Roman"/>
                          <a:ea typeface="Times Roman"/>
                          <a:cs typeface="Times Roman"/>
                          <a:sym typeface="Times Roman"/>
                        </a:defRPr>
                      </a:pPr>
                      <a:r>
                        <a:t>PatArray Architecture:</a:t>
                      </a:r>
                      <a:r>
                        <a:rPr b="0"/>
                        <a:t> Elimination of traditional inverted dictionary bloat via cache-contiguous, virtual memory-mapped pointer tracking layouts.</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r>
              <a:tr h="916541">
                <a:tc>
                  <a:txBody>
                    <a:bodyPr/>
                    <a:lstStyle/>
                    <a:p>
                      <a:pPr algn="l" defTabSz="225107">
                        <a:defRPr sz="1800">
                          <a:solidFill>
                            <a:srgbClr val="000000"/>
                          </a:solidFill>
                        </a:defRPr>
                      </a:pPr>
                      <a:r>
                        <a:rPr b="1" sz="1000">
                          <a:latin typeface="Times Roman"/>
                          <a:ea typeface="Times Roman"/>
                          <a:cs typeface="Times Roman"/>
                          <a:sym typeface="Times Roman"/>
                        </a:rPr>
                        <a:t>Hybrid &amp; Vector First DBs</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sz="1800">
                          <a:solidFill>
                            <a:srgbClr val="000000"/>
                          </a:solidFill>
                        </a:defRPr>
                      </a:pPr>
                      <a:r>
                        <a:rPr sz="1000">
                          <a:latin typeface="Times Roman"/>
                          <a:ea typeface="Times Roman"/>
                          <a:cs typeface="Times Roman"/>
                          <a:sym typeface="Times Roman"/>
                        </a:rPr>
                        <a:t>Weaviate, Qdrant, Milvus</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sz="1800">
                          <a:solidFill>
                            <a:srgbClr val="000000"/>
                          </a:solidFill>
                        </a:defRPr>
                      </a:pPr>
                      <a:r>
                        <a:rPr sz="1000">
                          <a:latin typeface="Times Roman"/>
                          <a:ea typeface="Times Roman"/>
                          <a:cs typeface="Times Roman"/>
                          <a:sym typeface="Times Roman"/>
                        </a:rPr>
                        <a:t>Vectors-first focus leaves them with weak lexical capabilities; require separate post-filtering cycles or cross-index stitching.</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sz="1800">
                          <a:solidFill>
                            <a:srgbClr val="000000"/>
                          </a:solidFill>
                        </a:defRPr>
                      </a:pPr>
                      <a:r>
                        <a:rPr sz="1000">
                          <a:latin typeface="Times Roman"/>
                          <a:ea typeface="Times Roman"/>
                          <a:cs typeface="Times Roman"/>
                          <a:sym typeface="Times Roman"/>
                        </a:rPr>
                        <a:t>Go runtime memory isolation lag; massive multi-node infrastructure dependencies (Kubernetes).</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b="1" sz="1000">
                          <a:solidFill>
                            <a:srgbClr val="000000"/>
                          </a:solidFill>
                          <a:latin typeface="Times Roman"/>
                          <a:ea typeface="Times Roman"/>
                          <a:cs typeface="Times Roman"/>
                          <a:sym typeface="Times Roman"/>
                        </a:defRPr>
                      </a:pPr>
                      <a:r>
                        <a:t>Hardware-Fused Co-Execution: </a:t>
                      </a:r>
                      <a:r>
                        <a:rPr b="0"/>
                        <a:t>Unifies hard lexical masks and soft tensor weights natively inside single-pass graph traversal runs.</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r>
              <a:tr h="916541">
                <a:tc>
                  <a:txBody>
                    <a:bodyPr/>
                    <a:lstStyle/>
                    <a:p>
                      <a:pPr algn="l" defTabSz="225107">
                        <a:defRPr sz="1800">
                          <a:solidFill>
                            <a:srgbClr val="000000"/>
                          </a:solidFill>
                        </a:defRPr>
                      </a:pPr>
                      <a:r>
                        <a:rPr b="1" sz="1000">
                          <a:latin typeface="Times Roman"/>
                          <a:ea typeface="Times Roman"/>
                          <a:cs typeface="Times Roman"/>
                          <a:sym typeface="Times Roman"/>
                        </a:rPr>
                        <a:t>Specialized Vector Backends</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sz="1800">
                          <a:solidFill>
                            <a:srgbClr val="000000"/>
                          </a:solidFill>
                        </a:defRPr>
                      </a:pPr>
                      <a:r>
                        <a:rPr sz="1000">
                          <a:latin typeface="Times Roman"/>
                          <a:ea typeface="Times Roman"/>
                          <a:cs typeface="Times Roman"/>
                          <a:sym typeface="Times Roman"/>
                        </a:rPr>
                        <a:t>FAISS, ScaNN, Baseline HNSWlib</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sz="1800">
                          <a:solidFill>
                            <a:srgbClr val="000000"/>
                          </a:solidFill>
                        </a:defRPr>
                      </a:pPr>
                      <a:r>
                        <a:rPr sz="1000">
                          <a:latin typeface="Times Roman"/>
                          <a:ea typeface="Times Roman"/>
                          <a:cs typeface="Times Roman"/>
                          <a:sym typeface="Times Roman"/>
                        </a:rPr>
                        <a:t>No native transactional CRUD (FAISS/ScaNN); Baseline HNSWlib forces unquantized float32 bloat that exhausts CPU L3 cache pipelines.</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sz="1800">
                          <a:solidFill>
                            <a:srgbClr val="000000"/>
                          </a:solidFill>
                        </a:defRPr>
                      </a:pPr>
                      <a:r>
                        <a:rPr sz="1000">
                          <a:latin typeface="Times Roman"/>
                          <a:ea typeface="Times Roman"/>
                          <a:cs typeface="Times Roman"/>
                          <a:sym typeface="Times Roman"/>
                        </a:rPr>
                        <a:t>Monolithic build matrices (ScaNN/Bazel); lack of native metadata layer capabilities.</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b="1" sz="1000">
                          <a:solidFill>
                            <a:srgbClr val="000000"/>
                          </a:solidFill>
                          <a:latin typeface="Times Roman"/>
                          <a:ea typeface="Times Roman"/>
                          <a:cs typeface="Times Roman"/>
                          <a:sym typeface="Times Roman"/>
                        </a:defRPr>
                      </a:pPr>
                      <a:r>
                        <a:t>Turbo-Quantization Primitives: </a:t>
                      </a:r>
                      <a:r>
                        <a:rPr b="0"/>
                        <a:t>Blistering, explicitly unrolled ARM Neon/SVE2 kernels driven by compact, low-bit block quantization layouts.</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r>
              <a:tr h="916541">
                <a:tc>
                  <a:txBody>
                    <a:bodyPr/>
                    <a:lstStyle/>
                    <a:p>
                      <a:pPr algn="l" defTabSz="225107">
                        <a:defRPr sz="1800">
                          <a:solidFill>
                            <a:srgbClr val="000000"/>
                          </a:solidFill>
                        </a:defRPr>
                      </a:pPr>
                      <a:r>
                        <a:rPr b="1" sz="1000">
                          <a:latin typeface="Times Roman"/>
                          <a:ea typeface="Times Roman"/>
                          <a:cs typeface="Times Roman"/>
                          <a:sym typeface="Times Roman"/>
                        </a:rPr>
                        <a:t>Embedded Databases</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sz="1800">
                          <a:solidFill>
                            <a:srgbClr val="000000"/>
                          </a:solidFill>
                        </a:defRPr>
                      </a:pPr>
                      <a:r>
                        <a:rPr sz="1000">
                          <a:latin typeface="Times Roman"/>
                          <a:ea typeface="Times Roman"/>
                          <a:cs typeface="Times Roman"/>
                          <a:sym typeface="Times Roman"/>
                        </a:rPr>
                        <a:t>SQLite (with extensions), DuckDB</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sz="1800">
                          <a:solidFill>
                            <a:srgbClr val="000000"/>
                          </a:solidFill>
                        </a:defRPr>
                      </a:pPr>
                      <a:r>
                        <a:rPr sz="1000">
                          <a:latin typeface="Times Roman"/>
                          <a:ea typeface="Times Roman"/>
                          <a:cs typeface="Times Roman"/>
                          <a:sym typeface="Times Roman"/>
                        </a:rPr>
                        <a:t>Row-store overhead/serialization penalties (SQLite); analytical column matrices entirely lack structural proximity and linguistic IR paths (DuckDB).</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sz="1800">
                          <a:solidFill>
                            <a:srgbClr val="000000"/>
                          </a:solidFill>
                        </a:defRPr>
                      </a:pPr>
                      <a:r>
                        <a:rPr sz="1000">
                          <a:latin typeface="Times Roman"/>
                          <a:ea typeface="Times Roman"/>
                          <a:cs typeface="Times Roman"/>
                          <a:sym typeface="Times Roman"/>
                        </a:rPr>
                        <a:t>C++ native but bound to isolated virtual table bridges or transient batch-ingestion models.</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b="1" sz="1000">
                          <a:solidFill>
                            <a:srgbClr val="000000"/>
                          </a:solidFill>
                          <a:latin typeface="Times Roman"/>
                          <a:ea typeface="Times Roman"/>
                          <a:cs typeface="Times Roman"/>
                          <a:sym typeface="Times Roman"/>
                        </a:defRPr>
                      </a:pPr>
                      <a:r>
                        <a:t>In-Process Fusion:</a:t>
                      </a:r>
                      <a:r>
                        <a:rPr b="0"/>
                        <a:t> Zero serialization delays. Text boundaries, sequence configurations, and tensor spaces execute concurrently inside the host app process.</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r>
              <a:tr h="916541">
                <a:tc>
                  <a:txBody>
                    <a:bodyPr/>
                    <a:lstStyle/>
                    <a:p>
                      <a:pPr algn="l" defTabSz="225107">
                        <a:defRPr sz="1800">
                          <a:solidFill>
                            <a:srgbClr val="000000"/>
                          </a:solidFill>
                        </a:defRPr>
                      </a:pPr>
                      <a:r>
                        <a:rPr b="1" sz="1000">
                          <a:latin typeface="Times Roman"/>
                          <a:ea typeface="Times Roman"/>
                          <a:cs typeface="Times Roman"/>
                          <a:sym typeface="Times Roman"/>
                        </a:rPr>
                        <a:t>RAG Orchestration</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sz="1800">
                          <a:solidFill>
                            <a:srgbClr val="000000"/>
                          </a:solidFill>
                        </a:defRPr>
                      </a:pPr>
                      <a:r>
                        <a:rPr sz="1000">
                          <a:latin typeface="Times Roman"/>
                          <a:ea typeface="Times Roman"/>
                          <a:cs typeface="Times Roman"/>
                          <a:sym typeface="Times Roman"/>
                        </a:rPr>
                        <a:t>LlamaIndex, LangChain</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sz="1800">
                          <a:solidFill>
                            <a:srgbClr val="000000"/>
                          </a:solidFill>
                        </a:defRPr>
                      </a:pPr>
                      <a:r>
                        <a:rPr sz="1000">
                          <a:latin typeface="Times Roman"/>
                          <a:ea typeface="Times Roman"/>
                          <a:cs typeface="Times Roman"/>
                          <a:sym typeface="Times Roman"/>
                        </a:rPr>
                        <a:t>The "Abstraction Tax." Massive performance degradation by shifting core document segmentation and data mapping to Python object layers.</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sz="1800">
                          <a:solidFill>
                            <a:srgbClr val="000000"/>
                          </a:solidFill>
                        </a:defRPr>
                      </a:pPr>
                      <a:r>
                        <a:rPr sz="1000">
                          <a:latin typeface="Times Roman"/>
                          <a:ea typeface="Times Roman"/>
                          <a:cs typeface="Times Roman"/>
                          <a:sym typeface="Times Roman"/>
                        </a:rPr>
                        <a:t>Python/TypeScript runtime speed ceilings; rely completely on network I/O or external cluster storage engines.</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b="1" sz="1000">
                          <a:solidFill>
                            <a:srgbClr val="000000"/>
                          </a:solidFill>
                          <a:latin typeface="Times Roman"/>
                          <a:ea typeface="Times Roman"/>
                          <a:cs typeface="Times Roman"/>
                          <a:sym typeface="Times Roman"/>
                        </a:defRPr>
                      </a:pPr>
                      <a:r>
                        <a:t>Bare-Metal Efficiency:</a:t>
                      </a:r>
                      <a:r>
                        <a:rPr b="0"/>
                        <a:t> Fuses the entire ingestion, parsing, tensor quantization, and hybrid discovery lifecycle into a single native runtime.</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r>
              <a:tr h="916541">
                <a:tc>
                  <a:txBody>
                    <a:bodyPr/>
                    <a:lstStyle/>
                    <a:p>
                      <a:pPr algn="l" defTabSz="225107">
                        <a:defRPr sz="1800">
                          <a:solidFill>
                            <a:srgbClr val="000000"/>
                          </a:solidFill>
                        </a:defRPr>
                      </a:pPr>
                      <a:r>
                        <a:rPr b="1" sz="1000">
                          <a:latin typeface="Times Roman"/>
                          <a:ea typeface="Times Roman"/>
                          <a:cs typeface="Times Roman"/>
                          <a:sym typeface="Times Roman"/>
                        </a:rPr>
                        <a:t>Structural Lexical Search</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sz="1800">
                          <a:solidFill>
                            <a:srgbClr val="000000"/>
                          </a:solidFill>
                        </a:defRPr>
                      </a:pPr>
                      <a:r>
                        <a:rPr sz="1000">
                          <a:latin typeface="Times Roman"/>
                          <a:ea typeface="Times Roman"/>
                          <a:cs typeface="Times Roman"/>
                          <a:sym typeface="Times Roman"/>
                        </a:rPr>
                        <a:t>MarkLogic</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sz="1800">
                          <a:solidFill>
                            <a:srgbClr val="000000"/>
                          </a:solidFill>
                        </a:defRPr>
                      </a:pPr>
                      <a:r>
                        <a:rPr sz="1000">
                          <a:latin typeface="Times Roman"/>
                          <a:ea typeface="Times Roman"/>
                          <a:cs typeface="Times Roman"/>
                          <a:sym typeface="Times Roman"/>
                        </a:rPr>
                        <a:t>Heavy enterprise server monolith; massive memory-resident cache footprints (List/Range Caches).</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sz="1800">
                          <a:solidFill>
                            <a:srgbClr val="000000"/>
                          </a:solidFill>
                        </a:defRPr>
                      </a:pPr>
                      <a:r>
                        <a:rPr sz="1000">
                          <a:latin typeface="Times Roman"/>
                          <a:ea typeface="Times Roman"/>
                          <a:cs typeface="Times Roman"/>
                          <a:sym typeface="Times Roman"/>
                        </a:rPr>
                        <a:t>Proprietary closed-source distribution; completely un-optimized for embedded edge execution topologies.</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c>
                  <a:txBody>
                    <a:bodyPr/>
                    <a:lstStyle/>
                    <a:p>
                      <a:pPr algn="l" defTabSz="225107">
                        <a:defRPr b="1" sz="1000">
                          <a:solidFill>
                            <a:srgbClr val="000000"/>
                          </a:solidFill>
                          <a:latin typeface="Times Roman"/>
                          <a:ea typeface="Times Roman"/>
                          <a:cs typeface="Times Roman"/>
                          <a:sym typeface="Times Roman"/>
                        </a:defRPr>
                      </a:pPr>
                      <a:r>
                        <a:t>Gonnet/Baeza-Yates Inspired Lineage: </a:t>
                      </a:r>
                      <a:r>
                        <a:rPr b="0"/>
                        <a:t>Elevates early structured text principles to modern silicon. Uses branchless SIMD and MSD Radix sorting over fixed-width 64-character compilation horizons.</a:t>
                      </a:r>
                    </a:p>
                  </a:txBody>
                  <a:tcPr marL="17780" marR="17780" marT="17780" marB="1778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solidFill>
                      <a:srgbClr val="FFFFFF"/>
                    </a:solidFill>
                  </a:tcPr>
                </a:tc>
              </a:tr>
            </a:tbl>
          </a:graphicData>
        </a:graphic>
      </p:graphicFrame>
      <p:sp>
        <p:nvSpPr>
          <p:cNvPr id="751" name="Architectural &amp; Competitive Breakdown"/>
          <p:cNvSpPr txBox="1"/>
          <p:nvPr/>
        </p:nvSpPr>
        <p:spPr>
          <a:xfrm>
            <a:off x="501973" y="162575"/>
            <a:ext cx="3101349" cy="4064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chor="ctr">
            <a:spAutoFit/>
          </a:bodyPr>
          <a:lstStyle>
            <a:lvl1pPr defTabSz="225107">
              <a:spcBef>
                <a:spcPts val="300"/>
              </a:spcBef>
              <a:defRPr b="1" sz="1200">
                <a:solidFill>
                  <a:srgbClr val="FFFFFF"/>
                </a:solidFill>
                <a:latin typeface="American Typewriter"/>
                <a:ea typeface="American Typewriter"/>
                <a:cs typeface="American Typewriter"/>
                <a:sym typeface="American Typewriter"/>
              </a:defRPr>
            </a:lvl1pPr>
          </a:lstStyle>
          <a:p>
            <a:pPr/>
            <a:r>
              <a:t>Architectural &amp; Competitive Breakdown</a:t>
            </a:r>
          </a:p>
        </p:txBody>
      </p:sp>
    </p:spTree>
  </p:cSld>
  <p:clrMapOvr>
    <a:masterClrMapping/>
  </p:clrMapOvr>
  <p:transition xmlns:p14="http://schemas.microsoft.com/office/powerpoint/2010/main" spd="med" advClick="1"/>
</p:sld>
</file>

<file path=ppt/slides/slide8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753" name="At its core is Re-Isearch"/>
          <p:cNvSpPr txBox="1"/>
          <p:nvPr>
            <p:ph type="title"/>
          </p:nvPr>
        </p:nvSpPr>
        <p:spPr>
          <a:xfrm>
            <a:off x="603250" y="538679"/>
            <a:ext cx="10985500" cy="1048404"/>
          </a:xfrm>
          <a:prstGeom prst="rect">
            <a:avLst/>
          </a:prstGeom>
        </p:spPr>
        <p:txBody>
          <a:bodyPr/>
          <a:lstStyle>
            <a:lvl1pPr>
              <a:defRPr b="0" spc="-148" sz="4800">
                <a:solidFill>
                  <a:srgbClr val="FF42A1"/>
                </a:solidFill>
                <a:latin typeface="Academy Engraved LET Plain:1.0"/>
                <a:ea typeface="Academy Engraved LET Plain:1.0"/>
                <a:cs typeface="Academy Engraved LET Plain:1.0"/>
                <a:sym typeface="Academy Engraved LET Plain:1.0"/>
              </a:defRPr>
            </a:lvl1pPr>
          </a:lstStyle>
          <a:p>
            <a:pPr/>
            <a:r>
              <a:t>CoreQuarry Lexical Index:</a:t>
            </a:r>
          </a:p>
        </p:txBody>
      </p:sp>
      <p:sp>
        <p:nvSpPr>
          <p:cNvPr id="754" name="Re-Isearch is a 100% open source (Apache 2.0) novel multimodal search and retrieval engine using mathematical models and algorithms different from the all-too-common inverted index. It is a kind of hybrid between full-text, XML, object and graph noSQL-db"/>
          <p:cNvSpPr txBox="1"/>
          <p:nvPr>
            <p:ph type="body" idx="1"/>
          </p:nvPr>
        </p:nvSpPr>
        <p:spPr>
          <a:xfrm>
            <a:off x="603249" y="1501334"/>
            <a:ext cx="10985502" cy="4979600"/>
          </a:xfrm>
          <a:prstGeom prst="rect">
            <a:avLst/>
          </a:prstGeom>
        </p:spPr>
        <p:txBody>
          <a:bodyPr/>
          <a:lstStyle/>
          <a:p>
            <a:pPr marL="45719" indent="45719" defTabSz="90043">
              <a:lnSpc>
                <a:spcPct val="120000"/>
              </a:lnSpc>
              <a:spcBef>
                <a:spcPts val="100"/>
              </a:spcBef>
              <a:defRPr b="0" sz="200">
                <a:solidFill>
                  <a:srgbClr val="535860"/>
                </a:solidFill>
                <a:latin typeface="Times Roman"/>
                <a:ea typeface="Times Roman"/>
                <a:cs typeface="Times Roman"/>
                <a:sym typeface="Times Roman"/>
              </a:defRPr>
            </a:pPr>
          </a:p>
        </p:txBody>
      </p:sp>
      <p:pic>
        <p:nvPicPr>
          <p:cNvPr id="755" name="Image" descr="Image"/>
          <p:cNvPicPr>
            <a:picLocks noChangeAspect="1"/>
          </p:cNvPicPr>
          <p:nvPr/>
        </p:nvPicPr>
        <p:blipFill>
          <a:blip r:embed="rId3">
            <a:extLst/>
          </a:blip>
          <a:stretch>
            <a:fillRect/>
          </a:stretch>
        </p:blipFill>
        <p:spPr>
          <a:xfrm>
            <a:off x="603249" y="1501334"/>
            <a:ext cx="9058415" cy="4932619"/>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500">
        <p:pull dir="l"/>
      </p:transition>
    </mc:Choice>
    <mc:Fallback>
      <p:transition spd="fast">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754"/>
                                        </p:tgtEl>
                                        <p:attrNameLst>
                                          <p:attrName>style.visibility</p:attrName>
                                        </p:attrNameLst>
                                      </p:cBhvr>
                                      <p:to>
                                        <p:strVal val="visible"/>
                                      </p:to>
                                    </p:set>
                                    <p:anim calcmode="lin" valueType="num">
                                      <p:cBhvr>
                                        <p:cTn id="7" dur="1000" fill="hold"/>
                                        <p:tgtEl>
                                          <p:spTgt spid="754"/>
                                        </p:tgtEl>
                                        <p:attrNameLst>
                                          <p:attrName>ppt_x</p:attrName>
                                        </p:attrNameLst>
                                      </p:cBhvr>
                                      <p:tavLst>
                                        <p:tav tm="0">
                                          <p:val>
                                            <p:strVal val="0-#ppt_w/2"/>
                                          </p:val>
                                        </p:tav>
                                        <p:tav tm="100000">
                                          <p:val>
                                            <p:strVal val="#ppt_x"/>
                                          </p:val>
                                        </p:tav>
                                      </p:tavLst>
                                    </p:anim>
                                    <p:anim calcmode="lin" valueType="num">
                                      <p:cBhvr>
                                        <p:cTn id="8" dur="1000" fill="hold"/>
                                        <p:tgtEl>
                                          <p:spTgt spid="754"/>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Subtype="8" presetID="2" grpId="2" fill="hold">
                                  <p:stCondLst>
                                    <p:cond delay="0"/>
                                  </p:stCondLst>
                                  <p:iterate type="el" backwards="0">
                                    <p:tmAbs val="0"/>
                                  </p:iterate>
                                  <p:childTnLst>
                                    <p:set>
                                      <p:cBhvr>
                                        <p:cTn id="11" fill="hold"/>
                                        <p:tgtEl>
                                          <p:spTgt spid="755"/>
                                        </p:tgtEl>
                                        <p:attrNameLst>
                                          <p:attrName>style.visibility</p:attrName>
                                        </p:attrNameLst>
                                      </p:cBhvr>
                                      <p:to>
                                        <p:strVal val="visible"/>
                                      </p:to>
                                    </p:set>
                                    <p:anim calcmode="lin" valueType="num">
                                      <p:cBhvr>
                                        <p:cTn id="12" dur="1000" fill="hold"/>
                                        <p:tgtEl>
                                          <p:spTgt spid="755"/>
                                        </p:tgtEl>
                                        <p:attrNameLst>
                                          <p:attrName>ppt_x</p:attrName>
                                        </p:attrNameLst>
                                      </p:cBhvr>
                                      <p:tavLst>
                                        <p:tav tm="0">
                                          <p:val>
                                            <p:strVal val="0-#ppt_w/2"/>
                                          </p:val>
                                        </p:tav>
                                        <p:tav tm="100000">
                                          <p:val>
                                            <p:strVal val="#ppt_x"/>
                                          </p:val>
                                        </p:tav>
                                      </p:tavLst>
                                    </p:anim>
                                    <p:anim calcmode="lin" valueType="num">
                                      <p:cBhvr>
                                        <p:cTn id="13" dur="1000" fill="hold"/>
                                        <p:tgtEl>
                                          <p:spTgt spid="7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54" grpId="1"/>
      <p:bldP build="whole" bldLvl="1" animBg="1" rev="0" advAuto="0" spid="755" grpId="2"/>
    </p:bldLst>
  </p:timing>
</p:sld>
</file>

<file path=ppt/slides/slide8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757" name="At its core is Re-Isearch"/>
          <p:cNvSpPr txBox="1"/>
          <p:nvPr>
            <p:ph type="title"/>
          </p:nvPr>
        </p:nvSpPr>
        <p:spPr>
          <a:xfrm>
            <a:off x="603250" y="538679"/>
            <a:ext cx="10985500" cy="1048404"/>
          </a:xfrm>
          <a:prstGeom prst="rect">
            <a:avLst/>
          </a:prstGeom>
        </p:spPr>
        <p:txBody>
          <a:bodyPr/>
          <a:lstStyle>
            <a:lvl1pPr>
              <a:defRPr b="0" spc="-148" sz="4800">
                <a:solidFill>
                  <a:srgbClr val="FF42A1"/>
                </a:solidFill>
                <a:latin typeface="Academy Engraved LET Plain:1.0"/>
                <a:ea typeface="Academy Engraved LET Plain:1.0"/>
                <a:cs typeface="Academy Engraved LET Plain:1.0"/>
                <a:sym typeface="Academy Engraved LET Plain:1.0"/>
              </a:defRPr>
            </a:lvl1pPr>
          </a:lstStyle>
          <a:p>
            <a:pPr/>
            <a:r>
              <a:t>CoreQuarry Lexical Index:</a:t>
            </a:r>
          </a:p>
        </p:txBody>
      </p:sp>
      <p:pic>
        <p:nvPicPr>
          <p:cNvPr id="758" name="Image" descr="Image"/>
          <p:cNvPicPr>
            <a:picLocks noChangeAspect="1"/>
          </p:cNvPicPr>
          <p:nvPr/>
        </p:nvPicPr>
        <p:blipFill>
          <a:blip r:embed="rId3">
            <a:extLst/>
          </a:blip>
          <a:stretch>
            <a:fillRect/>
          </a:stretch>
        </p:blipFill>
        <p:spPr>
          <a:xfrm>
            <a:off x="1390650" y="1443908"/>
            <a:ext cx="9410700" cy="5118101"/>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CoreQuarry at DataGeeks">
  <a:themeElements>
    <a:clrScheme name="CoreQuarry at DataGeeks">
      <a:dk1>
        <a:srgbClr val="14181F"/>
      </a:dk1>
      <a:lt1>
        <a:srgbClr val="14181F"/>
      </a:lt1>
      <a:dk2>
        <a:srgbClr val="A7A7A7"/>
      </a:dk2>
      <a:lt2>
        <a:srgbClr val="535353"/>
      </a:lt2>
      <a:accent1>
        <a:srgbClr val="E8B04A"/>
      </a:accent1>
      <a:accent2>
        <a:srgbClr val="AEB6C4"/>
      </a:accent2>
      <a:accent3>
        <a:srgbClr val="8F99AA"/>
      </a:accent3>
      <a:accent4>
        <a:srgbClr val="3A4352"/>
      </a:accent4>
      <a:accent5>
        <a:srgbClr val="3A2F18"/>
      </a:accent5>
      <a:accent6>
        <a:srgbClr val="9AA0A6"/>
      </a:accent6>
      <a:hlink>
        <a:srgbClr val="0000FF"/>
      </a:hlink>
      <a:folHlink>
        <a:srgbClr val="FF00FF"/>
      </a:folHlink>
    </a:clrScheme>
    <a:fontScheme name="CoreQuarry at DataGeeks">
      <a:majorFont>
        <a:latin typeface="Helvetica"/>
        <a:ea typeface="Helvetica"/>
        <a:cs typeface="Helvetica"/>
      </a:majorFont>
      <a:minorFont>
        <a:latin typeface="IBM Plex Sans"/>
        <a:ea typeface="IBM Plex Sans"/>
        <a:cs typeface="IBM Plex Sans"/>
      </a:minorFont>
    </a:fontScheme>
    <a:fmtScheme name="CoreQuarry at DataGeek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CE8DD"/>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181F"/>
            </a:solidFill>
            <a:effectLst/>
            <a:uFillTx/>
            <a:latin typeface="+mn-lt"/>
            <a:ea typeface="+mn-ea"/>
            <a:cs typeface="+mn-cs"/>
            <a:sym typeface="IBM Plex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181F"/>
            </a:solidFill>
            <a:effectLst/>
            <a:uFillTx/>
            <a:latin typeface="+mn-lt"/>
            <a:ea typeface="+mn-ea"/>
            <a:cs typeface="+mn-cs"/>
            <a:sym typeface="IBM Plex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CoreQuarry at DataGeeks">
  <a:themeElements>
    <a:clrScheme name="CoreQuarry at DataGeeks">
      <a:dk1>
        <a:srgbClr val="14181F"/>
      </a:dk1>
      <a:lt1>
        <a:srgbClr val="1F180B"/>
      </a:lt1>
      <a:dk2>
        <a:srgbClr val="A7A7A7"/>
      </a:dk2>
      <a:lt2>
        <a:srgbClr val="535353"/>
      </a:lt2>
      <a:accent1>
        <a:srgbClr val="E8B04A"/>
      </a:accent1>
      <a:accent2>
        <a:srgbClr val="AEB6C4"/>
      </a:accent2>
      <a:accent3>
        <a:srgbClr val="8F99AA"/>
      </a:accent3>
      <a:accent4>
        <a:srgbClr val="3A4352"/>
      </a:accent4>
      <a:accent5>
        <a:srgbClr val="3A2F18"/>
      </a:accent5>
      <a:accent6>
        <a:srgbClr val="9AA0A6"/>
      </a:accent6>
      <a:hlink>
        <a:srgbClr val="0000FF"/>
      </a:hlink>
      <a:folHlink>
        <a:srgbClr val="FF00FF"/>
      </a:folHlink>
    </a:clrScheme>
    <a:fontScheme name="CoreQuarry at DataGeeks">
      <a:majorFont>
        <a:latin typeface="Helvetica"/>
        <a:ea typeface="Helvetica"/>
        <a:cs typeface="Helvetica"/>
      </a:majorFont>
      <a:minorFont>
        <a:latin typeface="IBM Plex Sans"/>
        <a:ea typeface="IBM Plex Sans"/>
        <a:cs typeface="IBM Plex Sans"/>
      </a:minorFont>
    </a:fontScheme>
    <a:fmtScheme name="CoreQuarry at DataGeek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CE8DD"/>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181F"/>
            </a:solidFill>
            <a:effectLst/>
            <a:uFillTx/>
            <a:latin typeface="+mn-lt"/>
            <a:ea typeface="+mn-ea"/>
            <a:cs typeface="+mn-cs"/>
            <a:sym typeface="IBM Plex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181F"/>
            </a:solidFill>
            <a:effectLst/>
            <a:uFillTx/>
            <a:latin typeface="+mn-lt"/>
            <a:ea typeface="+mn-ea"/>
            <a:cs typeface="+mn-cs"/>
            <a:sym typeface="IBM Plex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